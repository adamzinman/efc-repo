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04fccea-f9a1-44b5-9d57-30bef48b067f}">
          <p14:sldIdLst>
            <p14:sldId id="256"/>
            <p14:sldId id="257"/>
            <p14:sldId id="258"/>
            <p14:sldId id="259"/>
          </p14:sldIdLst>
        </p14:section>
        <p14:section name="Styles" id="{b00d77d5-f8f9-6c56-91a3-f4c2ddc24e75}">
          <p14:sldIdLst>
            <p14:sldId id="260"/>
            <p14:sldId id="261"/>
            <p14:sldId id="262"/>
          </p14:sldIdLst>
        </p14:section>
        <p14:section name="Symbols and device templates" id="{7e148d32-41f3-4e0a-e56e-72476f69cae3}">
          <p14:sldIdLst>
            <p14:sldId id="263"/>
            <p14:sldId id="264"/>
            <p14:sldId id="265"/>
            <p14:sldId id="266"/>
            <p14:sldId id="267"/>
            <p14:sldId id="268"/>
          </p14:sldIdLst>
        </p14:section>
        <p14:section name="Values, indicators and loops" id="{a6093ad6-3a76-1d90-8656-13a9731dcd26}">
          <p14:sldIdLst>
            <p14:sldId id="269"/>
            <p14:sldId id="270"/>
            <p14:sldId id="271"/>
          </p14:sldIdLst>
        </p14:section>
        <p14:section name="Dynamic windows" id="{2b2094b3-61d0-0cbd-9cab-4296b927b182}">
          <p14:sldIdLst>
            <p14:sldId id="272"/>
            <p14:sldId id="273"/>
            <p14:sldId id="274"/>
            <p14:sldId id="275"/>
            <p14:sldId id="276"/>
            <p14:sldId id="277"/>
            <p14:sldId id="278"/>
          </p14:sldIdLst>
        </p14:section>
        <p14:section name="Wrap-up" id="{c5eb4395-dd2f-2acb-b133-b224d798e5bb}">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deck covers EFCLib v1: what the library contains, the rules behind the symbols and dynamic windows, and how they behave when things go wrong. Every rule on the slides traces to a design note (1-42 in docs/design-notes.md) or a review decision (1-30 in steward/DECISIONS.md). Quote the number when someone asks where a rule came from.
KEY POINTS:
- Ignition 8.1 Perspective project EFC_Library, released as v7.0 on 2026-10-19 (CHANGELOG.md).
- PLC side: the PCLib EFCLib v1 T_ data types for the Modicon M580, built in Control Expert.
- Visual rules: ISA-101 grayscale, ISA-18.2 alarm priorities, NFPA 79 P and I badges.
CHECK:
- Blinking alarm classes need the Advanced Stylesheet, which requires Ignition 8.1.22 or later. On older 8.1 builds the same classes show solid (docs/library-reference.md).
- The 28 PLC types are PCLib version 1.00 (types/README.md).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numbers matter here: one project, 28 PLC types, 10 dynamic windows and 314 style classes. The rest is supporting material.
KEY POINTS:
- One Perspective project, EFC_Library, replaces seven: EFC_Styles, PID_Symbols, EFC_PID_Library, EFC_ProcessValues, PID_Loops, EFC_IOFaceplates and EFC_StationFaceplates (CHANGELOG, v7.0).
- 64 views in total. 49 of them sit under Templates/ in the project tree.
- 314 style classes in the project. The 166 figure in older documents counts only the original EFC_Styles part, before the PV, loop and station classes were merged in.
- 28 PLC T_ types in PCLib v1.00 (types/README.md). T_Heater was the 27th and T_Station the 28th (CHANGELOG, Unreleased).
- 10 dynamic windows: nine Docks views plus dw_Station (the WINDOWS table in generator/docks/efc_ui.py).
- 214 SVG files in symbols/: 198 static v2 symbols plus 16 active symbols in symbols/Active/. Say "SVG source files" rather than "plain P&amp;ID SVGs", because 16 of them are the active sources for the Drawing components.
CHECK:
- "Every template binds a T_ type" is not quite true yet. The analog indicators bind T_KPI, which is only a proposal and is not among the 28 types (types/T_KPI/README.md). The I/O faceplates bind the native Modicon x80 DDTs (decision 23). Station_Fill takes only a tagPath, and the demo views have no type.
IF ASKED: "Why one project instead of seven?"
- One parent and one Templates tree means one import and one set of view paths. The CHANGELOG records the consolidation; it does not give a further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table is the source list. Each row is a standard that drove a specific decision. None of them is a certification, and the PCLib README says so directly.
KEY POINTS:
- ISA-101.01 (HMI design): grayscale for normal states, color only for abnormal. The standard gives no hex values; the palette is EFC's own style guide (isa101-color-palette.md).
- ISA-18.2 / IEC 62682 (alarms): the A to H alarm state model in T_Alarm, and the priority order of the alarm colors.
- ISA-5.1 (tags): the Cfg_Tag format, for example FT-101. ISA-5.5 (graphic symbols): the P&amp;ID symbol approach (design note 11).
- NFPA 79: the P and I badge colors. Design note 11 cites it for the badges.
- ANSI Z535 / OSHA 1910.144 (safety colors): purple is reserved, which is why simulated is teal (isa101-color-palette.md).
- ISA-88 / IEC 61512-1 (modes and ownership): T_Mode. ISA-88 itself defines Automatic, Semi-automatic and Manual. Out-of-Service and Maintenance are site extensions (types/README.md).
- NAMUR NE107 (device status): F, C, S and M on Sts_NE107. NAMUR NE43 (4-20 mA failure levels): T_AI bad limits at -2.5 % (3.6 mA) and 106.25 % (21 mA).
- IEC 61511 / ISA-84 (bypass management): T_Intlk covers authorisation, time limit, indication and logging. It is basic process control only, not a safety function.
- IEC 61131-3 (data types) and VDI/VDE/NAMUR 2658-4 (MTP): elementary data types only. Member names are not MTP attribute names, so an MTP export needs a mapping layer.
IF ASKED: "Are you ISA-18.2 compliant?"
- The library implements the state model. Priorities, delays and classes come from your own alarm philosophy and rationalisation (types/README.md). Compliance is a site exercise.
IF ASKED: "Where is the Maintenance mode in ISA-88?"
- It is not. Maintenance and Out-of-Service are site extensions, as above.
CHECK:
- Confirm the NFPA 79 clause before quoting it. The library cites the standard for the badge colors; the exact requirement has not been checked against the text in these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rules, and the rest of the deck follows from them. Gray is normal. Color means abnormal. Flashing means an alarm needs someone to act.
KEY POINTS:
- Rule 1: normal states are grayscale. Screen D9D9D9, running white, stopped 9E9E9E, transition C4C4C4 (design notes 11 and 32).
- Rule 2: saturated color appears only for alarms and abnormal states, and always with something else: FAULT text, P and I letters, or outline weight (docs/isa101-audit.md, passes).
- Rule 3: flashing only for active, unacknowledged alarms. Util/Blink was removed (design note 11). A cleared alarm that is still unacknowledged is steady, not flashing (audit fix 5).
WHY:
- The ISA-101 idea is that an operator should be able to scan a screen and see only the abnormal items. If normal equipment is colored, the color stops meaning anything.
- Putting the state in text and shape as well as color means the state still reads without color.
STANDARD:
- ANSI/ISA-101.01-2015 asks for a neutral low-contrast gray background, muted grays for normal states and saturated color kept for abnormal conditions. It does not specify hex values (isa101-color-palette.md).
IF ASKED: "Why is a running pump white and not green?"
- Green would be a second color meaning normal, which the rules keep out of the screen. The audit records "no red/green run states" as a pass.
- If the site wants green, that is a design-note change, not a style tweak.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swatches. The important ones are the gray set, the three equipment states and the two non-alarm colors that carry meaning: editable blue and simulated teal.
KEY POINTS:
- Background: screen D9D9D9, panel E6E6E6, card F0F0F0, header C4C4C4 (isa101-color-palette.md).
- Equipment: running FFFFFF, stopped 9E9E9E, transition C4C4C4 as a solid fill, fault 3A3A3A with a red border on symbols.
- Editable values and commands: blue 1F4E99. Simulated or forced: fill D7EEEB with text 00695C. Bad quality: magenta B000B0.
- Highlight DCE3EC (design note 11).
WHY:
- Transition was darkened from D9D9D9 to C4C4C4 because it disappeared against the screen (design note 32).
- Fault is dark gray, not red, so red stays reserved for Critical alarms. The red fault border is the one documented exception (audit deviations).
- Simulated is teal because purple is reserved in the safety color scheme. Design note 11 first recorded 00897B; the palette values above are the current ones.
CHECK:
- Blue: the audit rule is "do not introduce any other blues". The ideal band on the analog indicators (9DB4D0) is a second blue. See slide 15.
IF ASKED: "Why is the screen gray and not white?"
- A low-contrast gray background is the ISA-101 rule in the palette file. It makes colored elements stand out only when they are abnormal.
IF ASKED: "Does this meet WCAG?"
- The audit reports contrast ratios, for example 5.5:1 for out-of-service text and 4.9:1 for the permissive text form. It does not claim a WCAG conformance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Priority order is the same as the alarm standard: Critical, High, Medium, Low, then Diagnostic. The two badges are the only other colored elements on the symbols.
KEY POINTS:
- Alarm colors in ISA-18.2 order: Critical D50000, High FF7A00, Medium FFD200, Low 00A3E0, Diagnostic 6E6E6E.
- Diagnostic moved from 7A7A7A to 6E6E6E (audit fix 4) so that white text on it reaches 5.1:1.
- P badge: orange F08000 with black text. I badge: red C00000 with white text (design note 11). The permissive text form on light backgrounds is 8F4500 (audit fix 3).
- PLC priority in T_Alarm: Cfg_Priority 1 is Emergency, 2 High, 3 Medium, 4 Low, default 3 (types/README.md). The dynamic windows map 1 to Critical.
WHY:
- The order matters more than the exact hex. A yellow outline must never look more urgent than an orange or red one.
DOCUMENTED DEVIATIONS (kept by user decision):
- Manual M is yellow, the same as Medium (design note 17, option C2). It sits on a dark segment so it reads as a mode, not an alarm.
- Fault border is Critical red, always shown with FAULT text and the dark fill (design note 31).
- The I badge red is close to the Critical red. The audit lists the badge colors as a deviation, because NFPA 79 is the source for them.
CHECK:
- The templates use Ignition's own priority numbers (4 is Critical, 1 is Low). T_Alarm uses the reverse numbering (1 is Emergency). The alarm pipeline must map PLC 1 to Ignition Critical. Confirm this on the gateway before presenting the outline colors as tied to PLC priority.
IF ASKED: "Why not use the same yellow for Medium and the manual M?"
- That is the documented deviation. Options C1 (white M) and C3 (orange M) are in design note 17, and the color is one value in Mode/ManualSplit, so it can be changed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color, size and border on a symbol comes from a named class in EFC_Styles. Nothing is typed into a component. That is what makes the library re-skinnable from one place.
KEY POINTS:
- Classes are applied through props.style.classes. Where state changes the look, a binding picks the class (docs/style-library.md).
- All sizes are in vh. At 1080p, 1 vh is 10.8 px, so 1440p is 1.33 times and 2160p is 2 times.
- Type scale at 1080p: XXS 10 px, XS 11, S 12, M 14, L 16, XL 20, XXL 24, XXXL 32.
- Folders: Text, Container, Button, State, Mode, Indicator, Alarm, Util, plus Input, Value, Bar, Table and the PV, Loop and Station sets.
- Design note 28: the generators move static inline styles into generated classes per view. Bound style properties stay as bindings.
CHECK:
- The no-inline-styles rule holds for the production templates and windows. Demo and catalog views still carry inline styles: Styles/_Catalog has 146, Loops/_Demo 17 and ProcessValues/_Demo 16 (steward/CATALOG.md). Say so if someone opens a demo view and finds them.
WHY:
- One value per color means the M color, the fault red border and the badge orange are each changed once.
- vh units keep the same template usable from 1920x1080 to 3840x2160 (docs/screen-layout-standard.md).
IF ASKED: "What happens on Ignition 8.1.21?"
- Blinking alarm classes show solid, because they need the Advanced Stylesheet (8.1.22 or later). Everything else works (docs/library-reference.md).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one device template, the on/off valve. Every template has the same frame: tag above, status below, P left, I right, and the command button bottom left when the device is in Manual.
KEY POINTS:
- Tag name above, centered on the symbol centerline. The description is the tooltip (design note 15).
- Status chip below the symbol, centered on the same line. Values and units go under it.
- P badge left and I badge right, beside the actuator, never on the process line (design notes 9, 15, 34).
- Command button bottom left, on the status row, visible only in Manual (design note 36; the template shows it when useButton is true and the device is in Manual).
- Alarm outline in the highest active alarm priority on any member of the instance. A fault adds a red border that overrides the outline (design note 31).
- Parameters: tagPath (required); useButton (default true); tType (picks the dynamic window); dockId and dwTagPath (override the window and its tag); dblCmd (default true, effective only in touch mode and only for T_DValve and T_Motor).
- Clicking the symbol opens its dynamic window. The symbol's hit box is about 44 by 44 px in the 120 by 100 valve template, which meets the 44 px minimum in decision 1.
WHY:
- One template per symbol means an engineer drags the right symbol onto the screen and sets one tag. Design note 20 made tagPath the only parameter; later notes added the others.
CHECK:
- Besides the parameters on the slide, dwTagPath is also a parameter (the tag path handed to the window when it differs from tagPath).
- Design note 20 says tagPath is the only parameter. That was amended by note 37 and the later changes, so do not quote note 20 as current.
IF ASKED: "Can a symbol show two devices?"
- No. One template per symbol, with no nested symbol views (design note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symbol shows a small set of states. The PLC status bits decide them, and the HMI only maps them to fills and words.
KEY POINTS:
- Discrete valve, from T_DValve status bits: open (Sts_Opened) is white; closed (Sts_Closed) is 9E9E9E; neither, so travelling, is C4C4C4 and says OPENING or CLOSING from the commanded direction; a fault (Sts_Fault) is 3A3A3A with a red border.
- Motor and running equipment: fault or trip shows as fault; running is white; stopped is gray; when run feedback and command disagree the symbol shows the transition state (docs/library-reference.md).
- Transitions are a solid light gray with no dashed outline (design note 32). The dashed travel outline was tried and removed in v4.1.
- Words: CLOSED, OPEN, OPENING, CLOSING, FAULT for valves; STOPPED, RUNNING, STARTING, STOPPING, FAULT for motors.
BEHAVIOUR:
- Both limit switches made. T_DValve has no separate fault bit for this. Alm_PosConflict reports "both limit switches made", and Sts_Fault means any fault is present. Whether the PLC sets Sts_Fault on a position conflict is PLC logic. Design note 18 treated both-made as the fault itself, from the earlier plant UDT.
- Feedback disabled. Design note 18 and the library reference say the symbol then follows the command. The current valve template reads Sts_Opened and Sts_Closed, so the PLC has to drive those bits when there are no limit switches.
CHECK:
- Confirm both behaviours in the PLC logic before saying the symbol handles them.
IF ASKED: "Why doesn't a moving valve blink?"
- Flashing is only for unacknowledged alarms (design note 11). Motion is shown by the transition color and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valve types on the screen. On-off valves show two positions. Control valves show a number, and the symbol shows the number as a bar.
KEY POINTS:
- Discrete valves (pneumatic on-off, solenoid, motor-operated) use T_DValve. The actuator head shows the command and the body shows limit-switch state (docs/screen-layout-standard.md; docs/library-reference.md).
- Control valve (Valve_Control) uses T_CValve. The body shows actual position, with anything above 1 % counted as open. The head shows the commanded output, with anything above 1 % counted as on.
- The position bar sits left of the valve, outside the P badge (design note 35). The fill height is the actual Pos. The blue pointer is the commanded Out. The pointer overhangs the bar, so it stays visible at 0 % and 100 %.
- Status text is NN % with the position, or FAULT. The position and output are in the hover tooltip (v4.1).
- No button on control valves (design note 22). Operators set the output in dw_ValveAnalog, in Manual only, with presets 0, 25, 50, 75 and 100 % (decision 12).
WHY:
- The head shows what was asked and the body shows what happened. A valve that does not follow its command is visible as a head and body that disagree (the split is in docs/screen-layout-standard.md; the mismatch reading is my interpretation).
BEHAVIOUR:
- With no feedback, the status uses the commanded output (docs/library-reference.md).
IF ASKED: "Why does the control valve have no button?"
- Its position is a number, not an open or close command. Manual entry and presets live in the dynamic window.
IF ASKED: "What is the fail position?"
- T_DValve has Cfg_FailOpen and Cfg_IntlkOpen, which set the fail and interlock positions. The symbol does not show those; they are configuration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Running equipment, heat transfer and electric heaters share one button pattern. The drive type changes what the window shows; the symbol stays the same.
KEY POINTS:
- Ten rotating templates (pumps, compressors, blower, agitator, motor), the VFD template, HX_AirCooled and Heater_Electric (steward/CATALOG.md).
- Motor-type templates bind T_Motor. The VFD binds T_VFD. The agitator and compressor take a tType parameter, so one symbol can be wired either way (decision 11). T_Agitator and T_Compressor are not used until a use case appears.
- Heater_Electric binds T_Heater (decision 17). Cfg_CtrlType 0 is an on/off contactor. 1 is a time-proportioned SSR on a PLC output, with duty, Cfg_CycleTime and Cfg_MinPulse. 2 is an SCR power controller on an analog reference. A series isolating contactor is always present.
- The excess-temperature limit is hardwired and independent of the PLC. The PLC monitors it through Inp_HiLimitOK and does not drive it.
- Running-equipment button: one toggle that writes Cmd_Start or Cmd_Stop as a one-shot, with the same enable rules as the valve button (design note 16).
WHY:
- A fixed-speed motor and a drive-fed compressor look the same on a P&amp;ID. A tType parameter keeps one symbol and one template instead of two.
STANDARD:
- types/README.md cites NFPA 86 for the excess-temperature limit on T_Heater, and IEC 60947-4-3 for semiconductor controllers on non-motor loads. Check the clauses before quoting them.
IF ASKED: "Can the HMI reset a tripped heater limit?"
- The design monitors the limit only (decision 17). The files do not describe any reset path from the HMI, so do not offer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There are two ways to command a device from its symbol, and both obey the same rules: Manual only, device available, and no blocking condition. The difference is the screen, not the rules.
KEY POINTS:
- useButton true (default): a blank Button/Command square sits bottom left and appears only in Manual (design note 36).
- useButton false (touch mode): no button. In Manual a yellow M joins the status as a split chip (design note 38). A single click opens the dynamic window. A double-tap sends the command (decision 1).
- The button writes one-shot Cmd_Open or Cmd_Close (valves), or Cmd_Start or Cmd_Stop (running equipment).
- Button enable rule in the template: Manual, available, not local, not out of service, and either closing or stopping is allowed when the device is commanded open or running, or opening or starting is allowed only when neither P nor I is showing.
- Double-tap rule (efc.ui.dblCmd): Operator or higher; touch mode only; T_DValve and T_Motor only; Manual and available; not interlocked, not permissive-blocked, not local, not faulted.
BEHAVIOUR:
- Design note 37 said a click commands the device in touch mode. Decision 1 replaced that: click opens the window, double-tap commands.
- On the symbol button, closing is allowed even when interlocked, provided the device is in Manual, available, not local and not out of service. The double-tap path and the window CLOSE button do not allow it. See CHECK.
CHECK:
- Decide whether closing and stopping should be allowed when interlocked. The symbol button allows it; the double-tap and the window's CLOSE button do not, and window STOP is ungated. This is an inconsistency in the current build.
WHY:
- A single click is already used for the window, so the command needs a second gesture. The files give double-tap as the choice (decision 1) and no further reason.
IF ASKED: "Can an operator run a valve in Auto from the symbol?"
- No. Symbol commands exist only in Manual. Auto is a mode change in the window.
IF ASKED: "What about a Guest user?"
- No commands. The double-tap and the window commands both require Operator or higher. The PLC still enforces every permissive and interlock.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outline and the fill tell the operator what is wrong, and a missing or bad tag must never break the symbol. Those two goals drive most of the binding design.
KEY POINTS:
- Outline color: the highest active alarm priority on any member of the instance. The template checks priorities 4 to 1 with isAlarmActiveFiltered on the tag path (design note 22; docs/library-reference.md).
- Outline weight: heavier for alarm or fault. Design intent is 3 px; the template stroke is 8.333 in alarm or fault and 4.167 otherwise, in Drawing units. Check the on-screen weight on a gateway. Open item: 2 px on 36 px valves is suggested.
- Fault: dark fill 3A3A3A with a red 3 px border, which overrides the alarm outline (design note 31).
- Every tag read is wrapped in coalesce(). The alarm lookup is wrapped in try() and forceQuality() (design notes 39 and 42; changelog v4.5 and v5.1).
BEHAVIOUR:
- With no alarms configured on the instance, the lookup returns Bad_NotFound. The wrapper turns that into "no alarm", so the bad quality does not spread to the outline bindings (design note 42).
- With bad or missing tags, the defaults apply: closed, no permissive missing, no interlock, not manual, feedback enabled. The changelog calls these safe. Read that as "no false P, I or command", not as a signal to the operator that the data is stale.
CHECK:
- The symbol itself does not turn teal or magenta: no such binding exists in the valve templates, and the coalesce defaults hide bad quality. The SIM chip and the bad-quality state appear in the dynamic window, which is what the slide says.
- "Shelved alarms ignored" comes from docs/library-reference.md. Confirm against the isAlarmActiveFiltered arguments on a gateway.
IF ASKED: "Why does a fault override the alarm outline?"
- The files do not say why the fault wins. The likely reason is that a faulted state is not trustworthy, so the fault marker overrides. The FAULT text and dark fill carry it too (design note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process value card carries a value, its range and up to two alarm letters. Four letters per card would not fit at 100 by 50, so the card shows the most important two and a plus-count for the rest.
KEY POINTS:
- Two templates: PV_StatusStrip (primary) and PV_RangeBar, both 100 by 50 cards. Both bind T_AI (steward/CATALOG.md). docs/pv-display.md still says DDT_Process_Value; use T_AI.
- Letters appear in a fixed order: FLT, HH, H, L, LL, OVR, UNR, INH. At most two show. The rest collapse into +N with an "Also" tooltip, and +N blinks if a hidden alarm is unacknowledged.
- A letter blinks while unacknowledged and goes solid when acknowledged. A cleared alarm that is still unacknowledged shows faded.
- HW_Fault is a new High alarm and shows dark gray.
- Alarm state is read with system.alarm.queryStatus (v1.1). isAlarmActiveFiltered was replaced because Perspective did not re-run it when alarms changed.
- Versions 1.1 to 1.3 have not been retested on the gateway.
WHY:
- A fixed order means the same letter is in the same place on every card.
STANDARD:
- ISA-18.2 defines the RTN-Unacknowledged state (D). A cleared alarm that is still unacknowledged is in that state, which is why it stays visible (types/README.md, alarm state model).
- ISA-101: flashing only for unacknowledged alarms.
IF ASKED: "Why not show every alarm?"
- Space. The +N tooltip lists the rest.
CHECK:
- The A1 tag truncates with three or more letters. Four-letter units only just fit. Text is 9 to 11 px at 1080p.
- The faded level is 0.25 in the PV design but 0.45 in the Alarm/Status/ClearedUnacked class. Open item: raise the PV level to about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analog indicators, A to D, show the same value in four layouts. Pick one per screen by space. The zones and ideal band are the same on all four.
KEY POINTS:
- A Range Bar, B Pointer Scale, C Compact Row, D Mini Column (mockups/analog-indicator-options.md).
- Zones: LL and HH dark gray, L and H light gray, off-ideal white, ideal band muted blue 9DB4D0.
- In alarm the pointer takes the alarm priority color.
- Built into EFC_Library as Templates/AnalogIndicator (CHANGELOG, Unreleased).
- Opens dw_ProcessValue, through the T_KPI mapping in efc_ui.py.
CHECK:
- The templates bind T_KPI, which is a proposal (types/T_KPI/README.md). It is not in the 28 PCLib types, and its function block FB_KPI is still needed. Say this plainly if asked whether the PLC side is ready.
- The ideal band uses a second blue. The audit says not to introduce other blues (docs/isa101-audit.md, deviations). Decide whether the band should move to a gray.
- The files do not record which of the four options was chosen. All four templates ship.
IF ASKED: "Why is the ideal band blue?"
- So that the normal range is visible without using an alarm color. Because it is blue, it can be confused with the editable blue. That is the open question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loop cards, B1 to B4, show the same PID loop in four shapes. Clicking any card opens the same loop window, so tuning is no longer in a popup.
KEY POINTS:
- B1: vertical bar with an SP pointer and alarm ticks. B2: horizontal bar with a normal band between the low and high alarm limits. B3: sparkline with a one-minute PV and SP trace and a deviation chip that turns orange past the deviation alarm. B4: twin columns for PV and OUT.
- Setpoint is blue because it is editable (palette).
- Mode chip: a pill at the right end of the header (B4: its own row under the tag). AUTO is light gray with gray text, MAN is dark with white text because Manual is the abnormal mode, CAS is light blue with blue text. This matches the option B mockup.
- The orange diamond beside the tag and the orange card outline mean a deviation alarm is active (high or low). They do not show the mode.
- The whole card calls efc.ui.openDynamic, which opens dw_Loop.
- The LoopConfig popup is retired (decision 15). Tuning and limits are in dw_Loop, with tuning collapsed and editable at Engineer or higher.
- In dw_Loop, MAN, AUTO and CAS buttons are at Operator; the setpoint is locked in CAS; the output is editable only in MAN.
BEHAVIOUR:
- The B3 trend needs history on PV, SP and output (docs/pid-loop-templates.md). Without it the sparkline is empty.
CHECK:
- docs/pid-loop-templates.md (2026-10-05) still describes the popup, the old PID_Loop UDT and inline styles. Those are superseded. Quote the decision and the changelog, not that file.
- The old document drives card alarm state from PV against the AlmHi and AlmLo limits. Confirm what the current T_PID alarms drive.
IF ASKED: "Can an operator change tuning?"
- No. Tuning and limits need Engineer or higher, and writes are audit-logged with the old and new values (decision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screen the operator actually sees. The process area is the left part, the dynamic window is the right strip, and the header and alarm bar frame the whole thing.
KEY POINTS:
- Design size 1920 by 1080, with 3840 by 2160 as the double. Header 1920 by 80. Left menu 120 by 860. Main process area 1400 by 860. Dynamic window 400 by 860, which is 37.04 vh by 79.63 vh. Alarm bar 1920 by 140.
- The widths add up: 120 + 1400 + 400 = 1920. The heights add up: 80 + 860 + 140 = 1080.
- Dynamic windows are 800 wide at 4K (decision 3).
- Decision 25 corrected the earlier mockups, which had a 60 px header, a 70 px alarm bar, a 60 px menu and a 940 px window.
- The Station dock moved to Docks/Station and was resized to 400 wide (decision 4). The CHANGELOG has the upgrade note for the id and path.
WHY:
- The window fills the full height between header and alarm bar, so it has no dead space at the bottom.
STANDARD:
- The sizes follow the Controls Standard rev I screen design appendix (decision 25; docs/screen-layout-standard.md).
IF ASKED: "What about a screen narrower than 1920?"
- Everything is in vh and scales at 16:9. Smaller displays scale all regions down proportionally.
CHECK:
- docs/screen-layout-standard.md still says the window expands to about 50 % of the screen. That is superseded by decision 26. The window stays 400 by 860, and an expanded graph fills the window below the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click on a symbol shows its window in the right region. Close puts the screen's default view back. The mechanism is a single session value per page, which the region watches.
KEY POINTS:
- Click: efc.ui.openDynamic picks the window from dockId, or from tType through the BY_TYPE table. It reads the tag path and writes {path, params} into session.custom.efcDw under this page's id.
- Docks/Region is an Embedded View. Its path and params are bound to that session value, so changing the value swaps the window.
- Close: efc.ui.closeDynamic writes the screen's default view back. Each screen sets its default with defaultDock on Docks/Region (decision 2).
- Mapping: T_DValve to dw_ValveDiscrete; T_CValve to dw_ValveAnalog; T_Motor to dw_Rotating; T_VFD to dw_VFD; T_Heater to dw_Heater; T_HeatEx to dw_HeatTransfer; T_AI and T_KPI to dw_ProcessValue; T_PID to dw_Loop; T_Station to dw_Station; native x80 DDT to dw_IOCard.
- Keys are per page, so a window open on one screen does not change another screen.
WHY embedded view, not Perspective docks:
- Decision 24 records the choice: an embedded view bound to one session value, sized in vh, matching the Controls Standard screen design appendix. The files give no further reason. My reading is that one fixed region driven by one value is simpler to control, but that is not recorded.
BEHAVIOUR:
- If tType is missing or unknown, openDynamic logs a warning and does nothing.
- The code does not check that the tag path is set. A window opened with an empty path shows empty values, not an error. I read this in the code; I did not run it.
IF ASKED: "Why does the window not reload when the tag changes?"
- The window's own values are tag bindings, so they update live. Only the choice of window is a session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discrete valve window, the most complete of the set. Read it top to bottom: state, mode, commands, feedback, permissives and interlocks, alarms, history, then maintenance and configuration.
KEY POINTS:
- Header: tag name, description, close button.
- Banner: the state word, with the first match winning in the order FAULT, OPENING, CLOSING, OPEN, CLOSED. Chips: SIM, LOCAL, INTLK and NOT PERM.
- Mode: current mode, with AUTO and MAN at Operator and MAINT and OOS at Maintenance. Maintenance-level mode changes are audit-logged.
- Commands: OPEN and CLOSE (Operator, gated by readiness), RESET.
- Feedback: open limit and closed limit if fitted, and the NE107 diagnostic.
- Permissives and interlocks: the same embedded list view, once for each group.
- Alarms: fail to open, fail to close, position conflict, uncommanded move, interlock trip. ACK at Operator.
- History: 30 minute trend of the commanded output and open state.
- Maintenance section at Maintenance. Configuration section at Engineer, collapsed by default.
CHECK:
- The picture is the approved rev 2 mockup. In the build, NE107 is a row in the Feedback section; the chips are SIM, LOCAL, INTLK and NOT PERM (the slide text follows the build).
- The mockup shows a state strip with last events. The build has a 30 minute trend with range buttons, and no last-events list yet.
- The mockup shows Maintenance and Configuration collapsed. In the build only Configuration is collapsible.
- The CLOSE button is gated by the same readiness as OPEN. See slide 12.
IF ASKED: "Why is the window not greyed out when I lack the role?"
- Controls below the user's level are hidden, not greyed (decision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levels, from Guest to Admin. Each control is shown only to the levels that may use it, and each write is checked again in the script before it reaches the tag.
KEY POINTS:
- Levels: Guest 0, Operator 1, Maintenance 2, Supervisor 3, Engineer 4, Admin 5 (decision 5; efc_ui.py ROLES).
- Operator: commands, setpoints, mode buttons, ACK, station setpoints (decision 20).
- Maintenance: MAINT and OOS modes, JOG (decision 12), simulate, maintenance reset, latched reset.
- Supervisor: bypass (reason required) and unbypass, both audit-logged.
- Engineer: alarm limits, configuration and tuning (decision 14). Edits are audit-logged with old value, new value, user and time.
- Hidden, not greyed (decision 27).
- The user's level is the highest recognised role on the session. Role matching is exact text.
BEHAVIOUR:
- efc.ui.cmd checks the level inside the script before writing the tag, and the decision says this re-check is server-side. A user who sees no button cannot write through the script.
- A role name that is not in the list counts as Guest (level 0).
- Shelving is at Supervisor (decision 14). The build has no shelve control in any window, so do not demonstrate one.
WHY:
- Hidden controls stop the screen suggesting that an operation is available to someone who cannot perform it.
IF ASKED: "Where are the audit records kept?"
- In the Ignition audit profile, through system.util.audit. If there is no audit profile, the code logs the record to the efc.ui logger only. A site must set up the audit profile for this to count as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Permissives stop a device starting. Interlocks stop it running. Bypass is allowed for process conditions only, under one supervisor's authority with a reason, and it times out. Safety signals can never be bypassed in software.
KEY POINTS:
- T_Intlk groups hold up to 16 named conditions each, with first-out, optional latch, per-condition bypass and time left (Sts_BypLeft). Device types embed Perm for permissives and Intlk for interlocks; equipment modules embed Prot (decision 7).
- The existing Inp_PermOK and Inp_IntlkOK inputs are kept and ANDed with the groups.
- A permissive only blocks a start. An interlock stops running equipment (types/README.md, conventions).
- BypassConfirm asks for a reason. Only Supervisor or higher can bypass; efc.ui.bypass refuses an empty reason and writes the audit record. The bypass times out at the block's Cfg_BypassMax, which defaults to 8 hours.
- Safety signals (safety PLC, E-stops, safety interlocks) can never be bypassed or forced in software. Cfg_Bypassable is set only for process conditions, under MOC at design (decision 29).
- Decision 19: the Controls Standard two-person or MOC rule for online changes is amended to exempt HMI bypasses made this way. Forces and logic changes keep MOC. The change is queued in steward/DOC-QUEUE.md (row 2 covers the HMI bypass rules).
STANDARD:
- IEC 61511 bypass management, as cited in types/README.md: authorisation, time limit, indication and logging. T_Intlk is basic process control only, not a safety instrumented function.
CHECK:
- Decision 10 wanted duration presets. The built BypassConfirm has none. It runs to Cfg_BypassMax.
- Decision 10 also says BYPASS needs Inp_BypassPerm. The HMI code does not check it, so confirm the PLC side enforces it.
- Decision 10 asks for an audit line per condition (user, role, time, reason). The interlock list shows the minutes left, not an audit line. First-out and latched status are not in the list either.
IF ASKED: "Can someone bypass a safety interlock from the HMI?"
- No. Decision 29 forbids it. The HMI bypass is for basic process control conditions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windows share one shape: header, state banner, mode, commands, values, interlocks, alarms, history, then maintenance and configuration. The differences are the values and the commands.
KEY POINTS:
- dw_ValveAnalog: manual position entry and presets at 0, 25, 50, 75 and 100 % (decision 12), in Manual and not interlocked. Values: demand, position, deviation, travel, reversals. Configuration collapsed.
- dw_VFD: speed entry at Operator in Manual, and FWD and REV when the drive is reversible. Values: speed reference, speed, torque, power and drive fault code.
- dw_Loop: MAN, AUTO and CAS at Operator; setpoint entry disabled in CAS; output entry enabled in MAN; tuning and limits at Engineer.
- dw_ProcessValue: value, rate of change, range and the alarm limits. Simulation at Maintenance.
- dw_IOCard: I/O channel faceplates bound to the native Modicon x80 DDTs (decision 23).
- Buttons: command tier is one size, Button/Default, with the current state in Button/Toggle/On. Secondary tier is Button/Small. Button/Danger appears only on the bypass confirm (decision 13).
CHECK:
- Decision 13 puts JOG in the command tier as Button/Default. The build uses Button/Momentary for JOG.
- Decision 13 says 72 by 30 px. The build sets the command buttons to a 32 px row height, with width flexible.
- dw_ProcessValue has no shelve control in the build yet (decision 14 puts shelving at Supervisor+). The mockup image shows a SHELVE button.
IF ASKED: "Why one button size?"
- The files give the rule, not the reason. A single size for all command buttons is the stated rule in decision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window has a short history strip. Expanding the strip makes the graph taller inside the window. It never widens the screen.
KEY POINTS:
- Default range 30 minutes. Each window plots its own pens, for example output and open state for discrete valves, demand and position for analog valves, PV, SP and output for loops.
- Expand makes the graph about 400 by 760 inside the window (decision 26). Range buttons appear only when expanded: 5 minutes, 30 minutes, 1 hour, 8 hours, 24 hours.
- Expanded state is an in-out parameter of the trend view, local to that window. It is not a session value.
- Decision 26 replaced the earlier "about 50 % of the screen" behaviour in decisions 16 and 24. The right region never changes width.
- Data comes from system.tag.queryTagHistory, averaged to 200 points, with bad-quality samples ignored.
BEHAVIOUR:
- With no history configured on the tags, the graph is empty. The code catches the exception and returns nothing, so there is no error on screen.
- The axis labels show the range and "now".
CHECK:
- Decision 16 and decision 6 ask for pause and live, and for last events. The build has neither.
- Decision 6 asks for an 8 hour state strip. The build's 8 hour setting is a range choice inside the expanded trend, not a separate strip.
IF ASKED: "Is it live?"
- Yes, it refreshes from history. Pause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PLC types are the contract. The HMI writes commands and configuration, the PLC writes status, and every name prefix says who owns it.
KEY POINTS:
- Prefixes (types/README.md, conventions): Inp_ from I/O or upstream logic; Cfg_ written by the engineer through the HMI with access control; Cmd_ one-shot commands from the HMI; Prog_ commands from the ISA-88 owner; Prm_ recipe parameters from the batch server; Sts_ status from equipment logic; Sim_ from the engineer; Out_ to field or downstream.
- Each type has an ISA-88 role and, where one exists, the MTP data assembly it maps to (types/README.md).
- Sts_NE107 is on every field-device control module, with Inp_NE107 for HART or fieldbus status.
- Alarms are T_Alarm. Cmd_Ack is one-shot. The ACK button writes Cmd_Ack to each unacknowledged alarm listed in its window.
- I/O card and rack faceplates bind to the Modicon x80 device DDTs from Control Expert. There is no PCLib type for them (decision 23).
CHECK:
-Prm_ is written by the batch server, not the HMI (the slide shows this). The HMI does write Sim_En through the SIMULATE button at Maintenance level.
- T_Alarm priority 1 is Emergency. The HMI maps it to Critical. See slide 6.
IF ASKED: "Why can't the HMI write Sts_?"
- Status belongs to the logic that sees the field. The HMI writes requests (Cmd_) and settings (Cfg_), never results.
IF ASKED: "Why do OK booleans read TRUE when healthy?"
- So that a broken wire or lost signal reads as unhealthy, not healthy (types/README.md,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Use this when someone asks what the screen does in a failure. Each answer is from the build or the notes, and where the answer is a judgement, the slide says so.
KEY POINTS:
- Communication loss or bad quality: the tag reads fall back to defaults, so the symbol shows a plausible state (closed, no P or I, no button). It does not show an error. The changelog calls these defaults safe; they are safe against false commands, not a stale-data warning.
- A UDT member is missing, such as Permissive before the PLC has it: the read shows Bad_NodeIdUnknown and the template treats the permissive as not missing until the variable exists (design note 42).
- No alarms configured on the instance: the alarm lookup returns no alarm, not an error (design note 42).
- Interlock trips in Manual: the I badge shows, opening is blocked, closing is allowed on the symbol button, and Alm_IntlkTrip is raised. The PLC drives the valve to Cfg_IntlkOpen.
- Both limit switches made: Alm_PosConflict is raised, and the state shows FAULT with the red border if Sts_Fault is set (slide 9).
- Feedback disabled: the symbol needs the PLC to drive Sts_Opened and Sts_Closed (slide 9).
- User below the role: the control is hidden. A direct script call is refused before the write (slide 20).
- Station at 4K: everything is in vh and the window is 800 wide (slide 17).
- Trend with no history: the graph is empty, with no error (slide 23).
- Window type missing: nothing opens and a warning is logged (slide 18).
- No audit profile: the record goes to the efc.ui logger only (slide 20).
CHECK:
- Confirm the "closing always allowed while interlocked" answer on the window CLOSE button before a demonstration. The build gates it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open items as the files record them. Some are design questions and some are gateway tests that have not happened yet.
KEY POINTS:
- Valve alarm outline: 3 px may swamp a 36 px valve. 2 px on valves is suggested and not decided (design note open items).
- Valve status width: OPENING and CLOSING are tight next to the command button (design note open items).
- Manual M with the status: should the status stay on the centerline, with the M hanging off its left, or should the M and status center as a unit? Not decided (design note open items).
- PV cards: raise the faded level from 0.25 to about 0.4 on white (docs/pv-display.md).
- PV diagnostic classes still use 7A7A7A. Diagnostic moved to 6E6E6E in the audit (docs/pv-display.md).
- Add the HW_Fault alarm (High) to the real process value UDT (docs/pv-display.md).
- Gateway testing of PV versions 1.1 to 1.3 and of the loop cards is still to do (docs/pv-display.md; docs/pid-loop-templates.md).
- Analog indicators: T_KPI and FB_KPI are still to be written (types/T_KPI/README.md).
- Window gaps from the decisions: shelving, pause and live, last events, the first-out and latched status and audit line in the interlock list, and bypass duration presets (slides 19 to 23).
- Controls Standard edits are queued in steward/DOC-QUEUE.md (decision 18), including the HMI rules and the bypass exemption (decision 19).
CHECK:
- Before saying the PV cards are ready, confirm which type they bind. docs/pv-display.md says DDT_Process_Value; the catalog says T_AI.
IF ASKED: "What's the next step?"
- Gateway test the PV and loop versions, then close the window gaps or drop them from the requirement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FC_TITLE">
    <p:bg>
      <p:bgPr>
        <a:solidFill>
          <a:srgbClr val="3A3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FC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EFCLib v1  |  Styles, symbols and dynamic windows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3.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4400" b="1" dirty="0">
                <a:solidFill>
                  <a:schemeClr val="bg1"/>
                </a:solidFill>
              </a:rPr>
              <a:t>EFCLib v1: Styles, Symbols, Templates and Dynamic Windows</a:t>
            </a: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lIns="0" tIns="0" rIns="0" bIns="0" rtlCol="0" anchor="t"/>
          <a:lstStyle/>
          <a:p>
            <a:pPr indent="0" marL="0">
              <a:buNone/>
            </a:pPr>
            <a:r>
              <a:rPr lang="en-US" sz="2000" dirty="0">
                <a:solidFill>
                  <a:schemeClr val="bg2"/>
                </a:solidFill>
              </a:rPr>
              <a:t>What changed, why we chose it, and how it behaves on the plant floor</a:t>
            </a:r>
            <a:endParaRPr lang="en-US" sz="2000" dirty="0"/>
          </a:p>
        </p:txBody>
      </p:sp>
      <p:sp>
        <p:nvSpPr>
          <p:cNvPr id="4" name="chip RUNNING"/>
          <p:cNvSpPr txBox="1"/>
          <p:nvPr/>
        </p:nvSpPr>
        <p:spPr>
          <a:xfrm>
            <a:off x="731520" y="1417320"/>
            <a:ext cx="1042416" cy="365760"/>
          </a:xfrm>
          <a:prstGeom prst="rect">
            <a:avLst/>
          </a:prstGeom>
          <a:solidFill>
            <a:srgbClr val="FFFFFF"/>
          </a:solidFill>
          <a:ln w="12700">
            <a:solidFill>
              <a:srgbClr val="1F1F1F"/>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RUNNING</a:t>
            </a:r>
            <a:endParaRPr lang="en-US" sz="1300" dirty="0"/>
          </a:p>
        </p:txBody>
      </p:sp>
      <p:sp>
        <p:nvSpPr>
          <p:cNvPr id="5" name="chip STOPPED"/>
          <p:cNvSpPr txBox="1"/>
          <p:nvPr/>
        </p:nvSpPr>
        <p:spPr>
          <a:xfrm>
            <a:off x="1911096" y="1417320"/>
            <a:ext cx="1042416" cy="365760"/>
          </a:xfrm>
          <a:prstGeom prst="rect">
            <a:avLst/>
          </a:prstGeom>
          <a:solidFill>
            <a:srgbClr val="9E9E9E"/>
          </a:solidFill>
          <a:ln w="12700">
            <a:solidFill>
              <a:srgbClr val="9E9E9E"/>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STOPPED</a:t>
            </a:r>
            <a:endParaRPr lang="en-US" sz="1300" dirty="0"/>
          </a:p>
        </p:txBody>
      </p:sp>
      <p:sp>
        <p:nvSpPr>
          <p:cNvPr id="6" name="chip STARTING"/>
          <p:cNvSpPr txBox="1"/>
          <p:nvPr/>
        </p:nvSpPr>
        <p:spPr>
          <a:xfrm>
            <a:off x="3090672" y="1417320"/>
            <a:ext cx="1152144" cy="365760"/>
          </a:xfrm>
          <a:prstGeom prst="rect">
            <a:avLst/>
          </a:prstGeom>
          <a:solidFill>
            <a:srgbClr val="C4C4C4"/>
          </a:solidFill>
          <a:ln w="12700">
            <a:solidFill>
              <a:srgbClr val="C4C4C4"/>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STARTING</a:t>
            </a:r>
            <a:endParaRPr lang="en-US" sz="1300" dirty="0"/>
          </a:p>
        </p:txBody>
      </p:sp>
      <p:sp>
        <p:nvSpPr>
          <p:cNvPr id="7" name="chip FAULT"/>
          <p:cNvSpPr txBox="1"/>
          <p:nvPr/>
        </p:nvSpPr>
        <p:spPr>
          <a:xfrm>
            <a:off x="4379976" y="1417320"/>
            <a:ext cx="822960" cy="365760"/>
          </a:xfrm>
          <a:prstGeom prst="rect">
            <a:avLst/>
          </a:prstGeom>
          <a:solidFill>
            <a:srgbClr val="3A3A3A"/>
          </a:solidFill>
          <a:ln w="25400">
            <a:solidFill>
              <a:srgbClr val="D50000"/>
            </a:solidFill>
            <a:prstDash val="solid"/>
          </a:ln>
        </p:spPr>
        <p:txBody>
          <a:bodyPr wrap="square" lIns="0" tIns="0" rIns="0" bIns="0" rtlCol="0" anchor="ctr"/>
          <a:lstStyle/>
          <a:p>
            <a:pPr algn="ctr" indent="0" marL="0">
              <a:buNone/>
            </a:pPr>
            <a:r>
              <a:rPr lang="en-US" sz="1300" b="1" spc="100" kern="0" dirty="0">
                <a:solidFill>
                  <a:srgbClr val="FFFFFF"/>
                </a:solidFill>
                <a:latin typeface="Arial" pitchFamily="34" charset="0"/>
                <a:ea typeface="Arial" pitchFamily="34" charset="-122"/>
                <a:cs typeface="Arial" pitchFamily="34" charset="-120"/>
              </a:rPr>
              <a:t>FAULT</a:t>
            </a:r>
            <a:endParaRPr lang="en-US" sz="1300" dirty="0"/>
          </a:p>
        </p:txBody>
      </p:sp>
      <p:sp>
        <p:nvSpPr>
          <p:cNvPr id="8" name="chip P"/>
          <p:cNvSpPr txBox="1"/>
          <p:nvPr/>
        </p:nvSpPr>
        <p:spPr>
          <a:xfrm>
            <a:off x="5340096" y="1417320"/>
            <a:ext cx="365760" cy="365760"/>
          </a:xfrm>
          <a:prstGeom prst="rect">
            <a:avLst/>
          </a:prstGeom>
          <a:solidFill>
            <a:srgbClr val="F08000"/>
          </a:solidFill>
          <a:ln w="12700">
            <a:solidFill>
              <a:srgbClr val="F08000"/>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P</a:t>
            </a:r>
            <a:endParaRPr lang="en-US" sz="1300" dirty="0"/>
          </a:p>
        </p:txBody>
      </p:sp>
      <p:sp>
        <p:nvSpPr>
          <p:cNvPr id="9" name="chip I"/>
          <p:cNvSpPr txBox="1"/>
          <p:nvPr/>
        </p:nvSpPr>
        <p:spPr>
          <a:xfrm>
            <a:off x="5843016" y="1417320"/>
            <a:ext cx="365760" cy="365760"/>
          </a:xfrm>
          <a:prstGeom prst="rect">
            <a:avLst/>
          </a:prstGeom>
          <a:solidFill>
            <a:srgbClr val="C00000"/>
          </a:solidFill>
          <a:ln w="12700">
            <a:solidFill>
              <a:srgbClr val="C00000"/>
            </a:solidFill>
            <a:prstDash val="solid"/>
          </a:ln>
        </p:spPr>
        <p:txBody>
          <a:bodyPr wrap="square" lIns="0" tIns="0" rIns="0" bIns="0" rtlCol="0" anchor="ctr"/>
          <a:lstStyle/>
          <a:p>
            <a:pPr algn="ctr" indent="0" marL="0">
              <a:buNone/>
            </a:pPr>
            <a:r>
              <a:rPr lang="en-US" sz="1300" b="1" spc="100" kern="0" dirty="0">
                <a:solidFill>
                  <a:srgbClr val="FFFFFF"/>
                </a:solidFill>
                <a:latin typeface="Arial" pitchFamily="34" charset="0"/>
                <a:ea typeface="Arial" pitchFamily="34" charset="-122"/>
                <a:cs typeface="Arial" pitchFamily="34" charset="-120"/>
              </a:rPr>
              <a:t>I</a:t>
            </a:r>
            <a:endParaRPr lang="en-US" sz="1300" dirty="0"/>
          </a:p>
        </p:txBody>
      </p:sp>
      <p:sp>
        <p:nvSpPr>
          <p:cNvPr id="10" name="Text 8"/>
          <p:cNvSpPr txBox="1"/>
          <p:nvPr/>
        </p:nvSpPr>
        <p:spPr>
          <a:xfrm>
            <a:off x="731520" y="5943600"/>
            <a:ext cx="10058400" cy="365760"/>
          </a:xfrm>
          <a:prstGeom prst="rect">
            <a:avLst/>
          </a:prstGeom>
          <a:noFill/>
          <a:ln/>
        </p:spPr>
        <p:txBody>
          <a:bodyPr wrap="square" lIns="0" tIns="0" rIns="0" bIns="0" rtlCol="0" anchor="t"/>
          <a:lstStyle/>
          <a:p>
            <a:pPr indent="0" marL="0">
              <a:buNone/>
            </a:pPr>
            <a:r>
              <a:rPr lang="en-US" sz="1400" dirty="0">
                <a:solidFill>
                  <a:srgbClr val="9E9E9E"/>
                </a:solidFill>
              </a:rPr>
              <a:t>Ignition 8.1 Perspective  |  Modicon M580  |  EFC_Library project + PCLib T_ types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EFCLib v1 at a glance</a:t>
            </a:r>
            <a:endParaRPr lang="en-US" sz="3200" dirty="0"/>
          </a:p>
        </p:txBody>
      </p:sp>
      <p:sp>
        <p:nvSpPr>
          <p:cNvPr id="3" name="section tag"/>
          <p:cNvSpPr txBox="1"/>
          <p:nvPr/>
        </p:nvSpPr>
        <p:spPr>
          <a:xfrm>
            <a:off x="548640" y="164592"/>
            <a:ext cx="1152144"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OVERVIEW</a:t>
            </a:r>
            <a:endParaRPr lang="en-US" sz="1000" dirty="0"/>
          </a:p>
        </p:txBody>
      </p:sp>
      <p:sp>
        <p:nvSpPr>
          <p:cNvPr id="4" name="stat Perspective project"/>
          <p:cNvSpPr/>
          <p:nvPr/>
        </p:nvSpPr>
        <p:spPr>
          <a:xfrm>
            <a:off x="548640" y="1508760"/>
            <a:ext cx="3474720" cy="1965960"/>
          </a:xfrm>
          <a:prstGeom prst="rect">
            <a:avLst/>
          </a:prstGeom>
          <a:solidFill>
            <a:srgbClr val="F0F0F0"/>
          </a:solidFill>
          <a:ln w="9525">
            <a:solidFill>
              <a:srgbClr val="D0D0D0"/>
            </a:solidFill>
            <a:prstDash val="solid"/>
          </a:ln>
        </p:spPr>
      </p:sp>
      <p:sp>
        <p:nvSpPr>
          <p:cNvPr id="5" name="Text 3"/>
          <p:cNvSpPr txBox="1"/>
          <p:nvPr/>
        </p:nvSpPr>
        <p:spPr>
          <a:xfrm>
            <a:off x="822960" y="169164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1</a:t>
            </a:r>
            <a:endParaRPr lang="en-US" sz="5400" dirty="0"/>
          </a:p>
        </p:txBody>
      </p:sp>
      <p:sp>
        <p:nvSpPr>
          <p:cNvPr id="6" name="Text 4"/>
          <p:cNvSpPr txBox="1"/>
          <p:nvPr/>
        </p:nvSpPr>
        <p:spPr>
          <a:xfrm>
            <a:off x="822960" y="2578608"/>
            <a:ext cx="2926080" cy="320040"/>
          </a:xfrm>
          <a:prstGeom prst="rect">
            <a:avLst/>
          </a:prstGeom>
          <a:noFill/>
          <a:ln/>
        </p:spPr>
        <p:txBody>
          <a:bodyPr wrap="square" lIns="0" tIns="0" rIns="0" bIns="0" rtlCol="0" anchor="t"/>
          <a:lstStyle/>
          <a:p>
            <a:pPr indent="0" marL="0">
              <a:buNone/>
            </a:pPr>
            <a:r>
              <a:rPr lang="en-US" sz="1800" b="1" dirty="0">
                <a:solidFill>
                  <a:schemeClr val="tx1"/>
                </a:solidFill>
              </a:rPr>
              <a:t>Perspective project</a:t>
            </a:r>
            <a:endParaRPr lang="en-US" sz="1800" dirty="0"/>
          </a:p>
        </p:txBody>
      </p:sp>
      <p:sp>
        <p:nvSpPr>
          <p:cNvPr id="7" name="Text 5"/>
          <p:cNvSpPr txBox="1"/>
          <p:nvPr/>
        </p:nvSpPr>
        <p:spPr>
          <a:xfrm>
            <a:off x="822960" y="2926080"/>
            <a:ext cx="3017520" cy="411480"/>
          </a:xfrm>
          <a:prstGeom prst="rect">
            <a:avLst/>
          </a:prstGeom>
          <a:noFill/>
          <a:ln/>
        </p:spPr>
        <p:txBody>
          <a:bodyPr wrap="square" lIns="0" tIns="0" rIns="0" bIns="0" rtlCol="0" anchor="t"/>
          <a:lstStyle/>
          <a:p>
            <a:pPr indent="0" marL="0">
              <a:buNone/>
            </a:pPr>
            <a:r>
              <a:rPr lang="en-US" sz="1300" dirty="0">
                <a:solidFill>
                  <a:srgbClr val="4D4D4D"/>
                </a:solidFill>
              </a:rPr>
              <a:t>EFC_Library replaces 7 separate projects</a:t>
            </a:r>
            <a:endParaRPr lang="en-US" sz="1300" dirty="0"/>
          </a:p>
        </p:txBody>
      </p:sp>
      <p:sp>
        <p:nvSpPr>
          <p:cNvPr id="8" name="stat views"/>
          <p:cNvSpPr/>
          <p:nvPr/>
        </p:nvSpPr>
        <p:spPr>
          <a:xfrm>
            <a:off x="4297680" y="1508760"/>
            <a:ext cx="3474720" cy="1965960"/>
          </a:xfrm>
          <a:prstGeom prst="rect">
            <a:avLst/>
          </a:prstGeom>
          <a:solidFill>
            <a:srgbClr val="F0F0F0"/>
          </a:solidFill>
          <a:ln w="9525">
            <a:solidFill>
              <a:srgbClr val="D0D0D0"/>
            </a:solidFill>
            <a:prstDash val="solid"/>
          </a:ln>
        </p:spPr>
      </p:sp>
      <p:sp>
        <p:nvSpPr>
          <p:cNvPr id="9" name="Text 7"/>
          <p:cNvSpPr txBox="1"/>
          <p:nvPr/>
        </p:nvSpPr>
        <p:spPr>
          <a:xfrm>
            <a:off x="4572000" y="169164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64</a:t>
            </a:r>
            <a:endParaRPr lang="en-US" sz="5400" dirty="0"/>
          </a:p>
        </p:txBody>
      </p:sp>
      <p:sp>
        <p:nvSpPr>
          <p:cNvPr id="10" name="Text 8"/>
          <p:cNvSpPr txBox="1"/>
          <p:nvPr/>
        </p:nvSpPr>
        <p:spPr>
          <a:xfrm>
            <a:off x="4572000" y="2578608"/>
            <a:ext cx="2926080" cy="320040"/>
          </a:xfrm>
          <a:prstGeom prst="rect">
            <a:avLst/>
          </a:prstGeom>
          <a:noFill/>
          <a:ln/>
        </p:spPr>
        <p:txBody>
          <a:bodyPr wrap="square" lIns="0" tIns="0" rIns="0" bIns="0" rtlCol="0" anchor="t"/>
          <a:lstStyle/>
          <a:p>
            <a:pPr indent="0" marL="0">
              <a:buNone/>
            </a:pPr>
            <a:r>
              <a:rPr lang="en-US" sz="1800" b="1" dirty="0">
                <a:solidFill>
                  <a:schemeClr val="tx1"/>
                </a:solidFill>
              </a:rPr>
              <a:t>views</a:t>
            </a:r>
            <a:endParaRPr lang="en-US" sz="1800" dirty="0"/>
          </a:p>
        </p:txBody>
      </p:sp>
      <p:sp>
        <p:nvSpPr>
          <p:cNvPr id="11" name="Text 9"/>
          <p:cNvSpPr txBox="1"/>
          <p:nvPr/>
        </p:nvSpPr>
        <p:spPr>
          <a:xfrm>
            <a:off x="4572000" y="2926080"/>
            <a:ext cx="3017520" cy="411480"/>
          </a:xfrm>
          <a:prstGeom prst="rect">
            <a:avLst/>
          </a:prstGeom>
          <a:noFill/>
          <a:ln/>
        </p:spPr>
        <p:txBody>
          <a:bodyPr wrap="square" lIns="0" tIns="0" rIns="0" bIns="0" rtlCol="0" anchor="t"/>
          <a:lstStyle/>
          <a:p>
            <a:pPr indent="0" marL="0">
              <a:buNone/>
            </a:pPr>
            <a:r>
              <a:rPr lang="en-US" sz="1300" dirty="0">
                <a:solidFill>
                  <a:srgbClr val="4D4D4D"/>
                </a:solidFill>
              </a:rPr>
              <a:t>templates, faceplates, windows and parts</a:t>
            </a:r>
            <a:endParaRPr lang="en-US" sz="1300" dirty="0"/>
          </a:p>
        </p:txBody>
      </p:sp>
      <p:sp>
        <p:nvSpPr>
          <p:cNvPr id="12" name="stat style classes"/>
          <p:cNvSpPr/>
          <p:nvPr/>
        </p:nvSpPr>
        <p:spPr>
          <a:xfrm>
            <a:off x="8046720" y="1508760"/>
            <a:ext cx="3474720" cy="1965960"/>
          </a:xfrm>
          <a:prstGeom prst="rect">
            <a:avLst/>
          </a:prstGeom>
          <a:solidFill>
            <a:srgbClr val="F0F0F0"/>
          </a:solidFill>
          <a:ln w="9525">
            <a:solidFill>
              <a:srgbClr val="D0D0D0"/>
            </a:solidFill>
            <a:prstDash val="solid"/>
          </a:ln>
        </p:spPr>
      </p:sp>
      <p:sp>
        <p:nvSpPr>
          <p:cNvPr id="13" name="Text 11"/>
          <p:cNvSpPr txBox="1"/>
          <p:nvPr/>
        </p:nvSpPr>
        <p:spPr>
          <a:xfrm>
            <a:off x="8321040" y="169164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314</a:t>
            </a:r>
            <a:endParaRPr lang="en-US" sz="5400" dirty="0"/>
          </a:p>
        </p:txBody>
      </p:sp>
      <p:sp>
        <p:nvSpPr>
          <p:cNvPr id="14" name="Text 12"/>
          <p:cNvSpPr txBox="1"/>
          <p:nvPr/>
        </p:nvSpPr>
        <p:spPr>
          <a:xfrm>
            <a:off x="8321040" y="2578608"/>
            <a:ext cx="2926080" cy="320040"/>
          </a:xfrm>
          <a:prstGeom prst="rect">
            <a:avLst/>
          </a:prstGeom>
          <a:noFill/>
          <a:ln/>
        </p:spPr>
        <p:txBody>
          <a:bodyPr wrap="square" lIns="0" tIns="0" rIns="0" bIns="0" rtlCol="0" anchor="t"/>
          <a:lstStyle/>
          <a:p>
            <a:pPr indent="0" marL="0">
              <a:buNone/>
            </a:pPr>
            <a:r>
              <a:rPr lang="en-US" sz="1800" b="1" dirty="0">
                <a:solidFill>
                  <a:schemeClr val="tx1"/>
                </a:solidFill>
              </a:rPr>
              <a:t>style classes</a:t>
            </a:r>
            <a:endParaRPr lang="en-US" sz="1800" dirty="0"/>
          </a:p>
        </p:txBody>
      </p:sp>
      <p:sp>
        <p:nvSpPr>
          <p:cNvPr id="15" name="Text 13"/>
          <p:cNvSpPr txBox="1"/>
          <p:nvPr/>
        </p:nvSpPr>
        <p:spPr>
          <a:xfrm>
            <a:off x="8321040" y="2926080"/>
            <a:ext cx="3017520" cy="411480"/>
          </a:xfrm>
          <a:prstGeom prst="rect">
            <a:avLst/>
          </a:prstGeom>
          <a:noFill/>
          <a:ln/>
        </p:spPr>
        <p:txBody>
          <a:bodyPr wrap="square" lIns="0" tIns="0" rIns="0" bIns="0" rtlCol="0" anchor="t"/>
          <a:lstStyle/>
          <a:p>
            <a:pPr indent="0" marL="0">
              <a:buNone/>
            </a:pPr>
            <a:r>
              <a:rPr lang="en-US" sz="1300" dirty="0">
                <a:solidFill>
                  <a:srgbClr val="4D4D4D"/>
                </a:solidFill>
              </a:rPr>
              <a:t>EFC_Styles: the only source of look</a:t>
            </a:r>
            <a:endParaRPr lang="en-US" sz="1300" dirty="0"/>
          </a:p>
        </p:txBody>
      </p:sp>
      <p:sp>
        <p:nvSpPr>
          <p:cNvPr id="16" name="stat PLC T_ types"/>
          <p:cNvSpPr/>
          <p:nvPr/>
        </p:nvSpPr>
        <p:spPr>
          <a:xfrm>
            <a:off x="548640" y="3749040"/>
            <a:ext cx="3474720" cy="1965960"/>
          </a:xfrm>
          <a:prstGeom prst="rect">
            <a:avLst/>
          </a:prstGeom>
          <a:solidFill>
            <a:srgbClr val="F0F0F0"/>
          </a:solidFill>
          <a:ln w="9525">
            <a:solidFill>
              <a:srgbClr val="D0D0D0"/>
            </a:solidFill>
            <a:prstDash val="solid"/>
          </a:ln>
        </p:spPr>
      </p:sp>
      <p:sp>
        <p:nvSpPr>
          <p:cNvPr id="17" name="Text 15"/>
          <p:cNvSpPr txBox="1"/>
          <p:nvPr/>
        </p:nvSpPr>
        <p:spPr>
          <a:xfrm>
            <a:off x="822960" y="393192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28</a:t>
            </a:r>
            <a:endParaRPr lang="en-US" sz="5400" dirty="0"/>
          </a:p>
        </p:txBody>
      </p:sp>
      <p:sp>
        <p:nvSpPr>
          <p:cNvPr id="18" name="Text 16"/>
          <p:cNvSpPr txBox="1"/>
          <p:nvPr/>
        </p:nvSpPr>
        <p:spPr>
          <a:xfrm>
            <a:off x="822960" y="4818888"/>
            <a:ext cx="2926080" cy="320040"/>
          </a:xfrm>
          <a:prstGeom prst="rect">
            <a:avLst/>
          </a:prstGeom>
          <a:noFill/>
          <a:ln/>
        </p:spPr>
        <p:txBody>
          <a:bodyPr wrap="square" lIns="0" tIns="0" rIns="0" bIns="0" rtlCol="0" anchor="t"/>
          <a:lstStyle/>
          <a:p>
            <a:pPr indent="0" marL="0">
              <a:buNone/>
            </a:pPr>
            <a:r>
              <a:rPr lang="en-US" sz="1800" b="1" dirty="0">
                <a:solidFill>
                  <a:schemeClr val="tx1"/>
                </a:solidFill>
              </a:rPr>
              <a:t>PLC T_ types</a:t>
            </a:r>
            <a:endParaRPr lang="en-US" sz="1800" dirty="0"/>
          </a:p>
        </p:txBody>
      </p:sp>
      <p:sp>
        <p:nvSpPr>
          <p:cNvPr id="19" name="Text 17"/>
          <p:cNvSpPr txBox="1"/>
          <p:nvPr/>
        </p:nvSpPr>
        <p:spPr>
          <a:xfrm>
            <a:off x="822960" y="5166360"/>
            <a:ext cx="3017520" cy="411480"/>
          </a:xfrm>
          <a:prstGeom prst="rect">
            <a:avLst/>
          </a:prstGeom>
          <a:noFill/>
          <a:ln/>
        </p:spPr>
        <p:txBody>
          <a:bodyPr wrap="square" lIns="0" tIns="0" rIns="0" bIns="0" rtlCol="0" anchor="t"/>
          <a:lstStyle/>
          <a:p>
            <a:pPr indent="0" marL="0">
              <a:buNone/>
            </a:pPr>
            <a:r>
              <a:rPr lang="en-US" sz="1300" dirty="0">
                <a:solidFill>
                  <a:srgbClr val="4D4D4D"/>
                </a:solidFill>
              </a:rPr>
              <a:t>PCLib v1.00 DDTs = Ignition UDTs</a:t>
            </a:r>
            <a:endParaRPr lang="en-US" sz="1300" dirty="0"/>
          </a:p>
        </p:txBody>
      </p:sp>
      <p:sp>
        <p:nvSpPr>
          <p:cNvPr id="20" name="stat dynamic windows"/>
          <p:cNvSpPr/>
          <p:nvPr/>
        </p:nvSpPr>
        <p:spPr>
          <a:xfrm>
            <a:off x="4297680" y="3749040"/>
            <a:ext cx="3474720" cy="1965960"/>
          </a:xfrm>
          <a:prstGeom prst="rect">
            <a:avLst/>
          </a:prstGeom>
          <a:solidFill>
            <a:srgbClr val="F0F0F0"/>
          </a:solidFill>
          <a:ln w="9525">
            <a:solidFill>
              <a:srgbClr val="D0D0D0"/>
            </a:solidFill>
            <a:prstDash val="solid"/>
          </a:ln>
        </p:spPr>
      </p:sp>
      <p:sp>
        <p:nvSpPr>
          <p:cNvPr id="21" name="Text 19"/>
          <p:cNvSpPr txBox="1"/>
          <p:nvPr/>
        </p:nvSpPr>
        <p:spPr>
          <a:xfrm>
            <a:off x="4572000" y="393192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10</a:t>
            </a:r>
            <a:endParaRPr lang="en-US" sz="5400" dirty="0"/>
          </a:p>
        </p:txBody>
      </p:sp>
      <p:sp>
        <p:nvSpPr>
          <p:cNvPr id="22" name="Text 20"/>
          <p:cNvSpPr txBox="1"/>
          <p:nvPr/>
        </p:nvSpPr>
        <p:spPr>
          <a:xfrm>
            <a:off x="4572000" y="4818888"/>
            <a:ext cx="2926080" cy="320040"/>
          </a:xfrm>
          <a:prstGeom prst="rect">
            <a:avLst/>
          </a:prstGeom>
          <a:noFill/>
          <a:ln/>
        </p:spPr>
        <p:txBody>
          <a:bodyPr wrap="square" lIns="0" tIns="0" rIns="0" bIns="0" rtlCol="0" anchor="t"/>
          <a:lstStyle/>
          <a:p>
            <a:pPr indent="0" marL="0">
              <a:buNone/>
            </a:pPr>
            <a:r>
              <a:rPr lang="en-US" sz="1800" b="1" dirty="0">
                <a:solidFill>
                  <a:schemeClr val="tx1"/>
                </a:solidFill>
              </a:rPr>
              <a:t>dynamic windows</a:t>
            </a:r>
            <a:endParaRPr lang="en-US" sz="1800" dirty="0"/>
          </a:p>
        </p:txBody>
      </p:sp>
      <p:sp>
        <p:nvSpPr>
          <p:cNvPr id="23" name="Text 21"/>
          <p:cNvSpPr txBox="1"/>
          <p:nvPr/>
        </p:nvSpPr>
        <p:spPr>
          <a:xfrm>
            <a:off x="4572000" y="5166360"/>
            <a:ext cx="3017520" cy="411480"/>
          </a:xfrm>
          <a:prstGeom prst="rect">
            <a:avLst/>
          </a:prstGeom>
          <a:noFill/>
          <a:ln/>
        </p:spPr>
        <p:txBody>
          <a:bodyPr wrap="square" lIns="0" tIns="0" rIns="0" bIns="0" rtlCol="0" anchor="t"/>
          <a:lstStyle/>
          <a:p>
            <a:pPr indent="0" marL="0">
              <a:buNone/>
            </a:pPr>
            <a:r>
              <a:rPr lang="en-US" sz="1300" dirty="0">
                <a:solidFill>
                  <a:srgbClr val="4D4D4D"/>
                </a:solidFill>
              </a:rPr>
              <a:t>one per device family, 400 x 860</a:t>
            </a:r>
            <a:endParaRPr lang="en-US" sz="1300" dirty="0"/>
          </a:p>
        </p:txBody>
      </p:sp>
      <p:sp>
        <p:nvSpPr>
          <p:cNvPr id="24" name="stat P&amp;ID SVGs"/>
          <p:cNvSpPr/>
          <p:nvPr/>
        </p:nvSpPr>
        <p:spPr>
          <a:xfrm>
            <a:off x="8046720" y="3749040"/>
            <a:ext cx="3474720" cy="1965960"/>
          </a:xfrm>
          <a:prstGeom prst="rect">
            <a:avLst/>
          </a:prstGeom>
          <a:solidFill>
            <a:srgbClr val="F0F0F0"/>
          </a:solidFill>
          <a:ln w="9525">
            <a:solidFill>
              <a:srgbClr val="D0D0D0"/>
            </a:solidFill>
            <a:prstDash val="solid"/>
          </a:ln>
        </p:spPr>
      </p:sp>
      <p:sp>
        <p:nvSpPr>
          <p:cNvPr id="25" name="Text 23"/>
          <p:cNvSpPr txBox="1"/>
          <p:nvPr/>
        </p:nvSpPr>
        <p:spPr>
          <a:xfrm>
            <a:off x="8321040" y="3931920"/>
            <a:ext cx="292608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214</a:t>
            </a:r>
            <a:endParaRPr lang="en-US" sz="5400" dirty="0"/>
          </a:p>
        </p:txBody>
      </p:sp>
      <p:sp>
        <p:nvSpPr>
          <p:cNvPr id="26" name="Text 24"/>
          <p:cNvSpPr txBox="1"/>
          <p:nvPr/>
        </p:nvSpPr>
        <p:spPr>
          <a:xfrm>
            <a:off x="8321040" y="4818888"/>
            <a:ext cx="2926080" cy="320040"/>
          </a:xfrm>
          <a:prstGeom prst="rect">
            <a:avLst/>
          </a:prstGeom>
          <a:noFill/>
          <a:ln/>
        </p:spPr>
        <p:txBody>
          <a:bodyPr wrap="square" lIns="0" tIns="0" rIns="0" bIns="0" rtlCol="0" anchor="t"/>
          <a:lstStyle/>
          <a:p>
            <a:pPr indent="0" marL="0">
              <a:buNone/>
            </a:pPr>
            <a:r>
              <a:rPr lang="en-US" sz="1800" b="1" dirty="0">
                <a:solidFill>
                  <a:schemeClr val="tx1"/>
                </a:solidFill>
              </a:rPr>
              <a:t>P&amp;ID SVGs</a:t>
            </a:r>
            <a:endParaRPr lang="en-US" sz="1800" dirty="0"/>
          </a:p>
        </p:txBody>
      </p:sp>
      <p:sp>
        <p:nvSpPr>
          <p:cNvPr id="27" name="Text 25"/>
          <p:cNvSpPr txBox="1"/>
          <p:nvPr/>
        </p:nvSpPr>
        <p:spPr>
          <a:xfrm>
            <a:off x="8321040" y="5166360"/>
            <a:ext cx="3017520" cy="411480"/>
          </a:xfrm>
          <a:prstGeom prst="rect">
            <a:avLst/>
          </a:prstGeom>
          <a:noFill/>
          <a:ln/>
        </p:spPr>
        <p:txBody>
          <a:bodyPr wrap="square" lIns="0" tIns="0" rIns="0" bIns="0" rtlCol="0" anchor="t"/>
          <a:lstStyle/>
          <a:p>
            <a:pPr indent="0" marL="0">
              <a:buNone/>
            </a:pPr>
            <a:r>
              <a:rPr lang="en-US" sz="1300" dirty="0">
                <a:solidFill>
                  <a:srgbClr val="4D4D4D"/>
                </a:solidFill>
              </a:rPr>
              <a:t>static symbols, same palette</a:t>
            </a:r>
            <a:endParaRPr lang="en-US" sz="1300" dirty="0"/>
          </a:p>
        </p:txBody>
      </p:sp>
      <p:sp>
        <p:nvSpPr>
          <p:cNvPr id="28" name="Text 26"/>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400" i="1" dirty="0">
                <a:solidFill>
                  <a:srgbClr val="4D4D4D"/>
                </a:solidFill>
              </a:rPr>
              <a:t>Every device template binds an EFCLib v1 T_ type through one tagPath, and a click opens that type's dynamic window.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Standards behind every decision</a:t>
            </a:r>
            <a:endParaRPr lang="en-US" sz="3200" dirty="0"/>
          </a:p>
        </p:txBody>
      </p:sp>
      <p:sp>
        <p:nvSpPr>
          <p:cNvPr id="3" name="section tag"/>
          <p:cNvSpPr txBox="1"/>
          <p:nvPr/>
        </p:nvSpPr>
        <p:spPr>
          <a:xfrm>
            <a:off x="548640" y="164592"/>
            <a:ext cx="137160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REFERENCES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651760"/>
                <a:gridCol w="3931920"/>
                <a:gridCol w="4480560"/>
              </a:tblGrid>
              <a:tr h="429768">
                <a:tc>
                  <a:txBody>
                    <a:bodyPr/>
                    <a:lstStyle/>
                    <a:p>
                      <a:pPr indent="0" marL="0">
                        <a:buNone/>
                      </a:pPr>
                      <a:r>
                        <a:rPr lang="en-US" sz="1300" b="1" dirty="0">
                          <a:solidFill>
                            <a:srgbClr val="FFFFFF"/>
                          </a:solidFill>
                        </a:rPr>
                        <a:t>Standard</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300" b="1" dirty="0">
                          <a:solidFill>
                            <a:srgbClr val="FFFFFF"/>
                          </a:solidFill>
                        </a:rPr>
                        <a:t>What it governs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300" b="1" dirty="0">
                          <a:solidFill>
                            <a:srgbClr val="FFFFFF"/>
                          </a:solidFill>
                        </a:rPr>
                        <a:t>Where you see it in EFCLib v1</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429768">
                <a:tc>
                  <a:txBody>
                    <a:bodyPr/>
                    <a:lstStyle/>
                    <a:p>
                      <a:pPr indent="0" marL="0">
                        <a:buNone/>
                      </a:pPr>
                      <a:r>
                        <a:rPr lang="en-US" sz="1300" b="1" dirty="0">
                          <a:solidFill>
                            <a:srgbClr val="1F1F1F"/>
                          </a:solidFill>
                        </a:rPr>
                        <a:t>ANSI/ISA-101.01</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HMI design: gray background, color only for abnormal</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Palette, state fills, no decorative color, flashing rules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29768">
                <a:tc>
                  <a:txBody>
                    <a:bodyPr/>
                    <a:lstStyle/>
                    <a:p>
                      <a:pPr indent="0" marL="0">
                        <a:buNone/>
                      </a:pPr>
                      <a:r>
                        <a:rPr lang="en-US" sz="1300" b="1" dirty="0">
                          <a:solidFill>
                            <a:srgbClr val="1F1F1F"/>
                          </a:solidFill>
                        </a:rPr>
                        <a:t>ISA-18.2 / IEC 62682</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Alarm priorities and the alarm state model</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4 priority colors, unacked blink, PV alarm letters, ACK</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1F1F1F"/>
                          </a:solidFill>
                        </a:rPr>
                        <a:t>ISA-5.1 / ISA-5.5</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Tag naming and graphic symbols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Cfg_Tag (FT-101), HH/H/L/LL, P&amp;ID symbol shapes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29768">
                <a:tc>
                  <a:txBody>
                    <a:bodyPr/>
                    <a:lstStyle/>
                    <a:p>
                      <a:pPr indent="0" marL="0">
                        <a:buNone/>
                      </a:pPr>
                      <a:r>
                        <a:rPr lang="en-US" sz="1300" b="1" dirty="0">
                          <a:solidFill>
                            <a:srgbClr val="1F1F1F"/>
                          </a:solidFill>
                        </a:rPr>
                        <a:t>NFPA 79</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Industrial machinery indicator colors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Orange P (permissive) and red I (interlock) badges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1F1F1F"/>
                          </a:solidFill>
                        </a:rPr>
                        <a:t>ANSI Z535 / OSHA 1910.144</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Safety colors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Purple reserved; simulated moved to teal</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29768">
                <a:tc>
                  <a:txBody>
                    <a:bodyPr/>
                    <a:lstStyle/>
                    <a:p>
                      <a:pPr indent="0" marL="0">
                        <a:buNone/>
                      </a:pPr>
                      <a:r>
                        <a:rPr lang="en-US" sz="1300" b="1" dirty="0">
                          <a:solidFill>
                            <a:srgbClr val="1F1F1F"/>
                          </a:solidFill>
                        </a:rPr>
                        <a:t>ISA-88 / IEC 61512</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Modes, states, ownership</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T_Mode AUTO / MAN (+ MAINT, OOS site extensions)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1F1F1F"/>
                          </a:solidFill>
                        </a:rPr>
                        <a:t>NAMUR NE107 / NE43</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Device diagnostics, 4-20 mA failure levels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NE107 chip in windows, T_AI bad-signal limits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29768">
                <a:tc>
                  <a:txBody>
                    <a:bodyPr/>
                    <a:lstStyle/>
                    <a:p>
                      <a:pPr indent="0" marL="0">
                        <a:buNone/>
                      </a:pPr>
                      <a:r>
                        <a:rPr lang="en-US" sz="1300" b="1" dirty="0">
                          <a:solidFill>
                            <a:srgbClr val="1F1F1F"/>
                          </a:solidFill>
                        </a:rPr>
                        <a:t>IEC 61511 / ISA-84</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Bypass management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Reason, time limit, indication, audit; no SIS bypass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1F1F1F"/>
                          </a:solidFill>
                        </a:rPr>
                        <a:t>IEC 61131-3 / VDI 2658 MTP</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PLC data types, modular plant objects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Elementary types; each T_ type maps to an MTP object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Gray is normal, color means abnormal</a:t>
            </a:r>
            <a:endParaRPr lang="en-US" sz="3200" dirty="0"/>
          </a:p>
        </p:txBody>
      </p:sp>
      <p:sp>
        <p:nvSpPr>
          <p:cNvPr id="3" name="section tag"/>
          <p:cNvSpPr txBox="1"/>
          <p:nvPr/>
        </p:nvSpPr>
        <p:spPr>
          <a:xfrm>
            <a:off x="548640" y="164592"/>
            <a:ext cx="137160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PHILOSOPHY</a:t>
            </a:r>
            <a:endParaRPr lang="en-US" sz="1000" dirty="0"/>
          </a:p>
        </p:txBody>
      </p:sp>
      <p:sp>
        <p:nvSpPr>
          <p:cNvPr id="4" name="rule 1"/>
          <p:cNvSpPr/>
          <p:nvPr/>
        </p:nvSpPr>
        <p:spPr>
          <a:xfrm>
            <a:off x="548640" y="1463040"/>
            <a:ext cx="3474720" cy="4480560"/>
          </a:xfrm>
          <a:prstGeom prst="rect">
            <a:avLst/>
          </a:prstGeom>
          <a:solidFill>
            <a:srgbClr val="F0F0F0"/>
          </a:solidFill>
          <a:ln w="9525">
            <a:solidFill>
              <a:srgbClr val="D0D0D0"/>
            </a:solidFill>
            <a:prstDash val="solid"/>
          </a:ln>
        </p:spPr>
      </p:sp>
      <p:sp>
        <p:nvSpPr>
          <p:cNvPr id="5" name="rule number 1"/>
          <p:cNvSpPr/>
          <p:nvPr/>
        </p:nvSpPr>
        <p:spPr>
          <a:xfrm>
            <a:off x="822960" y="1737360"/>
            <a:ext cx="548640" cy="548640"/>
          </a:xfrm>
          <a:prstGeom prst="ellipse">
            <a:avLst/>
          </a:prstGeom>
          <a:solidFill>
            <a:srgbClr val="3A3A3A"/>
          </a:solidFill>
          <a:ln w="12700">
            <a:solidFill>
              <a:srgbClr val="3A3A3A"/>
            </a:solidFill>
            <a:prstDash val="solid"/>
          </a:ln>
        </p:spPr>
      </p:sp>
      <p:sp>
        <p:nvSpPr>
          <p:cNvPr id="6" name="Text 4"/>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7" name="Text 5"/>
          <p:cNvSpPr txBox="1"/>
          <p:nvPr/>
        </p:nvSpPr>
        <p:spPr>
          <a:xfrm>
            <a:off x="822960" y="24688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Normal is grayscale</a:t>
            </a:r>
            <a:endParaRPr lang="en-US" sz="2000" dirty="0"/>
          </a:p>
        </p:txBody>
      </p:sp>
      <p:sp>
        <p:nvSpPr>
          <p:cNvPr id="8" name="Text 6"/>
          <p:cNvSpPr txBox="1"/>
          <p:nvPr/>
        </p:nvSpPr>
        <p:spPr>
          <a:xfrm>
            <a:off x="822960" y="2926080"/>
            <a:ext cx="2971800" cy="1188720"/>
          </a:xfrm>
          <a:prstGeom prst="rect">
            <a:avLst/>
          </a:prstGeom>
          <a:noFill/>
          <a:ln/>
        </p:spPr>
        <p:txBody>
          <a:bodyPr wrap="square" lIns="0" tIns="0" rIns="0" bIns="0" rtlCol="0" anchor="t"/>
          <a:lstStyle/>
          <a:p>
            <a:pPr indent="0" marL="0">
              <a:buNone/>
            </a:pPr>
            <a:r>
              <a:rPr lang="en-US" sz="1500" dirty="0">
                <a:solidFill>
                  <a:srgbClr val="4D4D4D"/>
                </a:solidFill>
              </a:rPr>
              <a:t>Running is white, stopped is gray. No red/green run states, no colored process lines.</a:t>
            </a:r>
            <a:endParaRPr lang="en-US" sz="1500" dirty="0"/>
          </a:p>
        </p:txBody>
      </p:sp>
      <p:sp>
        <p:nvSpPr>
          <p:cNvPr id="9" name="rule 2"/>
          <p:cNvSpPr/>
          <p:nvPr/>
        </p:nvSpPr>
        <p:spPr>
          <a:xfrm>
            <a:off x="4297680" y="1463040"/>
            <a:ext cx="3474720" cy="4480560"/>
          </a:xfrm>
          <a:prstGeom prst="rect">
            <a:avLst/>
          </a:prstGeom>
          <a:solidFill>
            <a:srgbClr val="F0F0F0"/>
          </a:solidFill>
          <a:ln w="9525">
            <a:solidFill>
              <a:srgbClr val="D0D0D0"/>
            </a:solidFill>
            <a:prstDash val="solid"/>
          </a:ln>
        </p:spPr>
      </p:sp>
      <p:sp>
        <p:nvSpPr>
          <p:cNvPr id="10" name="rule number 2"/>
          <p:cNvSpPr/>
          <p:nvPr/>
        </p:nvSpPr>
        <p:spPr>
          <a:xfrm>
            <a:off x="4572000" y="1737360"/>
            <a:ext cx="548640" cy="548640"/>
          </a:xfrm>
          <a:prstGeom prst="ellipse">
            <a:avLst/>
          </a:prstGeom>
          <a:solidFill>
            <a:srgbClr val="3A3A3A"/>
          </a:solidFill>
          <a:ln w="12700">
            <a:solidFill>
              <a:srgbClr val="3A3A3A"/>
            </a:solidFill>
            <a:prstDash val="solid"/>
          </a:ln>
        </p:spPr>
      </p:sp>
      <p:sp>
        <p:nvSpPr>
          <p:cNvPr id="11" name="Text 9"/>
          <p:cNvSpPr txBox="1"/>
          <p:nvPr/>
        </p:nvSpPr>
        <p:spPr>
          <a:xfrm>
            <a:off x="457200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2" name="Text 10"/>
          <p:cNvSpPr txBox="1"/>
          <p:nvPr/>
        </p:nvSpPr>
        <p:spPr>
          <a:xfrm>
            <a:off x="4572000" y="24688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Color only for abnormal</a:t>
            </a:r>
            <a:endParaRPr lang="en-US" sz="2000" dirty="0"/>
          </a:p>
        </p:txBody>
      </p:sp>
      <p:sp>
        <p:nvSpPr>
          <p:cNvPr id="13" name="Text 11"/>
          <p:cNvSpPr txBox="1"/>
          <p:nvPr/>
        </p:nvSpPr>
        <p:spPr>
          <a:xfrm>
            <a:off x="4572000" y="2926080"/>
            <a:ext cx="2971800" cy="1188720"/>
          </a:xfrm>
          <a:prstGeom prst="rect">
            <a:avLst/>
          </a:prstGeom>
          <a:noFill/>
          <a:ln/>
        </p:spPr>
        <p:txBody>
          <a:bodyPr wrap="square" lIns="0" tIns="0" rIns="0" bIns="0" rtlCol="0" anchor="t"/>
          <a:lstStyle/>
          <a:p>
            <a:pPr indent="0" marL="0">
              <a:buNone/>
            </a:pPr>
            <a:r>
              <a:rPr lang="en-US" sz="1500" dirty="0">
                <a:solidFill>
                  <a:srgbClr val="4D4D4D"/>
                </a:solidFill>
              </a:rPr>
              <a:t>Saturated color is reserved for alarms and blocking conditions, always backed by text or shape.</a:t>
            </a:r>
            <a:endParaRPr lang="en-US" sz="1500" dirty="0"/>
          </a:p>
        </p:txBody>
      </p:sp>
      <p:sp>
        <p:nvSpPr>
          <p:cNvPr id="14" name="rule 3"/>
          <p:cNvSpPr/>
          <p:nvPr/>
        </p:nvSpPr>
        <p:spPr>
          <a:xfrm>
            <a:off x="8046720" y="1463040"/>
            <a:ext cx="3474720" cy="4480560"/>
          </a:xfrm>
          <a:prstGeom prst="rect">
            <a:avLst/>
          </a:prstGeom>
          <a:solidFill>
            <a:srgbClr val="F0F0F0"/>
          </a:solidFill>
          <a:ln w="9525">
            <a:solidFill>
              <a:srgbClr val="D0D0D0"/>
            </a:solidFill>
            <a:prstDash val="solid"/>
          </a:ln>
        </p:spPr>
      </p:sp>
      <p:sp>
        <p:nvSpPr>
          <p:cNvPr id="15" name="rule number 3"/>
          <p:cNvSpPr/>
          <p:nvPr/>
        </p:nvSpPr>
        <p:spPr>
          <a:xfrm>
            <a:off x="8321040" y="1737360"/>
            <a:ext cx="548640" cy="548640"/>
          </a:xfrm>
          <a:prstGeom prst="ellipse">
            <a:avLst/>
          </a:prstGeom>
          <a:solidFill>
            <a:srgbClr val="3A3A3A"/>
          </a:solidFill>
          <a:ln w="12700">
            <a:solidFill>
              <a:srgbClr val="3A3A3A"/>
            </a:solidFill>
            <a:prstDash val="solid"/>
          </a:ln>
        </p:spPr>
      </p:sp>
      <p:sp>
        <p:nvSpPr>
          <p:cNvPr id="16" name="Text 14"/>
          <p:cNvSpPr txBox="1"/>
          <p:nvPr/>
        </p:nvSpPr>
        <p:spPr>
          <a:xfrm>
            <a:off x="832104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7" name="Text 15"/>
          <p:cNvSpPr txBox="1"/>
          <p:nvPr/>
        </p:nvSpPr>
        <p:spPr>
          <a:xfrm>
            <a:off x="8321040" y="24688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Flashing only for unacked</a:t>
            </a:r>
            <a:endParaRPr lang="en-US" sz="2000" dirty="0"/>
          </a:p>
        </p:txBody>
      </p:sp>
      <p:sp>
        <p:nvSpPr>
          <p:cNvPr id="18" name="Text 16"/>
          <p:cNvSpPr txBox="1"/>
          <p:nvPr/>
        </p:nvSpPr>
        <p:spPr>
          <a:xfrm>
            <a:off x="8321040" y="2926080"/>
            <a:ext cx="2971800" cy="1188720"/>
          </a:xfrm>
          <a:prstGeom prst="rect">
            <a:avLst/>
          </a:prstGeom>
          <a:noFill/>
          <a:ln/>
        </p:spPr>
        <p:txBody>
          <a:bodyPr wrap="square" lIns="0" tIns="0" rIns="0" bIns="0" rtlCol="0" anchor="t"/>
          <a:lstStyle/>
          <a:p>
            <a:pPr indent="0" marL="0">
              <a:buNone/>
            </a:pPr>
            <a:r>
              <a:rPr lang="en-US" sz="1500" dirty="0">
                <a:solidFill>
                  <a:srgbClr val="4D4D4D"/>
                </a:solidFill>
              </a:rPr>
              <a:t>Only an active, unacknowledged alarm blinks. Everything else is steady.</a:t>
            </a:r>
            <a:endParaRPr lang="en-US" sz="1500" dirty="0"/>
          </a:p>
        </p:txBody>
      </p:sp>
      <p:sp>
        <p:nvSpPr>
          <p:cNvPr id="19" name="chip RUNNING"/>
          <p:cNvSpPr txBox="1"/>
          <p:nvPr/>
        </p:nvSpPr>
        <p:spPr>
          <a:xfrm>
            <a:off x="822960" y="4480560"/>
            <a:ext cx="1042416" cy="347472"/>
          </a:xfrm>
          <a:prstGeom prst="rect">
            <a:avLst/>
          </a:prstGeom>
          <a:solidFill>
            <a:srgbClr val="FFFFFF"/>
          </a:solidFill>
          <a:ln w="12700">
            <a:solidFill>
              <a:srgbClr val="1F1F1F"/>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RUNNING</a:t>
            </a:r>
            <a:endParaRPr lang="en-US" sz="1100" dirty="0"/>
          </a:p>
        </p:txBody>
      </p:sp>
      <p:sp>
        <p:nvSpPr>
          <p:cNvPr id="20" name="chip STOPPED"/>
          <p:cNvSpPr txBox="1"/>
          <p:nvPr/>
        </p:nvSpPr>
        <p:spPr>
          <a:xfrm>
            <a:off x="2002536" y="4480560"/>
            <a:ext cx="1042416" cy="347472"/>
          </a:xfrm>
          <a:prstGeom prst="rect">
            <a:avLst/>
          </a:prstGeom>
          <a:solidFill>
            <a:srgbClr val="9E9E9E"/>
          </a:solidFill>
          <a:ln w="12700">
            <a:solidFill>
              <a:srgbClr val="9E9E9E"/>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STOPPED</a:t>
            </a:r>
            <a:endParaRPr lang="en-US" sz="1100" dirty="0"/>
          </a:p>
        </p:txBody>
      </p:sp>
      <p:sp>
        <p:nvSpPr>
          <p:cNvPr id="21" name="screen sample"/>
          <p:cNvSpPr/>
          <p:nvPr/>
        </p:nvSpPr>
        <p:spPr>
          <a:xfrm>
            <a:off x="822960" y="5029200"/>
            <a:ext cx="2926080" cy="457200"/>
          </a:xfrm>
          <a:prstGeom prst="rect">
            <a:avLst/>
          </a:prstGeom>
          <a:solidFill>
            <a:srgbClr val="D9D9D9"/>
          </a:solidFill>
          <a:ln w="12700">
            <a:solidFill>
              <a:srgbClr val="D9D9D9"/>
            </a:solidFill>
            <a:prstDash val="solid"/>
          </a:ln>
        </p:spPr>
      </p:sp>
      <p:sp>
        <p:nvSpPr>
          <p:cNvPr id="22" name="Text 20"/>
          <p:cNvSpPr txBox="1"/>
          <p:nvPr/>
        </p:nvSpPr>
        <p:spPr>
          <a:xfrm>
            <a:off x="914400" y="5029200"/>
            <a:ext cx="2743200" cy="457200"/>
          </a:xfrm>
          <a:prstGeom prst="rect">
            <a:avLst/>
          </a:prstGeom>
          <a:noFill/>
          <a:ln/>
        </p:spPr>
        <p:txBody>
          <a:bodyPr wrap="square" lIns="0" tIns="0" rIns="0" bIns="0" rtlCol="0" anchor="ctr"/>
          <a:lstStyle/>
          <a:p>
            <a:pPr indent="0" marL="0">
              <a:buNone/>
            </a:pPr>
            <a:r>
              <a:rPr lang="en-US" sz="1200" dirty="0">
                <a:solidFill>
                  <a:srgbClr val="4D4D4D"/>
                </a:solidFill>
              </a:rPr>
              <a:t>screen #D9D9D9</a:t>
            </a:r>
            <a:endParaRPr lang="en-US" sz="1200" dirty="0"/>
          </a:p>
        </p:txBody>
      </p:sp>
      <p:sp>
        <p:nvSpPr>
          <p:cNvPr id="23" name="chip HH"/>
          <p:cNvSpPr txBox="1"/>
          <p:nvPr/>
        </p:nvSpPr>
        <p:spPr>
          <a:xfrm>
            <a:off x="4572000" y="4480560"/>
            <a:ext cx="457200" cy="347472"/>
          </a:xfrm>
          <a:prstGeom prst="rect">
            <a:avLst/>
          </a:prstGeom>
          <a:solidFill>
            <a:srgbClr val="D50000"/>
          </a:solidFill>
          <a:ln w="12700">
            <a:solidFill>
              <a:srgbClr val="D50000"/>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HH</a:t>
            </a:r>
            <a:endParaRPr lang="en-US" sz="1100" dirty="0"/>
          </a:p>
        </p:txBody>
      </p:sp>
      <p:sp>
        <p:nvSpPr>
          <p:cNvPr id="24" name="chip H"/>
          <p:cNvSpPr txBox="1"/>
          <p:nvPr/>
        </p:nvSpPr>
        <p:spPr>
          <a:xfrm>
            <a:off x="5138928" y="4480560"/>
            <a:ext cx="457200" cy="347472"/>
          </a:xfrm>
          <a:prstGeom prst="rect">
            <a:avLst/>
          </a:prstGeom>
          <a:solidFill>
            <a:srgbClr val="FF7A00"/>
          </a:solidFill>
          <a:ln w="12700">
            <a:solidFill>
              <a:srgbClr val="FF7A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H</a:t>
            </a:r>
            <a:endParaRPr lang="en-US" sz="1100" dirty="0"/>
          </a:p>
        </p:txBody>
      </p:sp>
      <p:sp>
        <p:nvSpPr>
          <p:cNvPr id="25" name="chip L"/>
          <p:cNvSpPr txBox="1"/>
          <p:nvPr/>
        </p:nvSpPr>
        <p:spPr>
          <a:xfrm>
            <a:off x="5705856" y="4480560"/>
            <a:ext cx="457200" cy="347472"/>
          </a:xfrm>
          <a:prstGeom prst="rect">
            <a:avLst/>
          </a:prstGeom>
          <a:solidFill>
            <a:srgbClr val="FFD200"/>
          </a:solidFill>
          <a:ln w="12700">
            <a:solidFill>
              <a:srgbClr val="FFD2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L</a:t>
            </a:r>
            <a:endParaRPr lang="en-US" sz="1100" dirty="0"/>
          </a:p>
        </p:txBody>
      </p:sp>
      <p:sp>
        <p:nvSpPr>
          <p:cNvPr id="26" name="chip P"/>
          <p:cNvSpPr txBox="1"/>
          <p:nvPr/>
        </p:nvSpPr>
        <p:spPr>
          <a:xfrm>
            <a:off x="6272784" y="4480560"/>
            <a:ext cx="457200" cy="347472"/>
          </a:xfrm>
          <a:prstGeom prst="rect">
            <a:avLst/>
          </a:prstGeom>
          <a:solidFill>
            <a:srgbClr val="F08000"/>
          </a:solidFill>
          <a:ln w="12700">
            <a:solidFill>
              <a:srgbClr val="F080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P</a:t>
            </a:r>
            <a:endParaRPr lang="en-US" sz="1100" dirty="0"/>
          </a:p>
        </p:txBody>
      </p:sp>
      <p:sp>
        <p:nvSpPr>
          <p:cNvPr id="27" name="chip I"/>
          <p:cNvSpPr txBox="1"/>
          <p:nvPr/>
        </p:nvSpPr>
        <p:spPr>
          <a:xfrm>
            <a:off x="6839712" y="4480560"/>
            <a:ext cx="457200" cy="347472"/>
          </a:xfrm>
          <a:prstGeom prst="rect">
            <a:avLst/>
          </a:prstGeom>
          <a:solidFill>
            <a:srgbClr val="C00000"/>
          </a:solidFill>
          <a:ln w="12700">
            <a:solidFill>
              <a:srgbClr val="C00000"/>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I</a:t>
            </a:r>
            <a:endParaRPr lang="en-US" sz="1100" dirty="0"/>
          </a:p>
        </p:txBody>
      </p:sp>
      <p:sp>
        <p:nvSpPr>
          <p:cNvPr id="28" name="Text 26"/>
          <p:cNvSpPr txBox="1"/>
          <p:nvPr/>
        </p:nvSpPr>
        <p:spPr>
          <a:xfrm>
            <a:off x="4572000" y="5029200"/>
            <a:ext cx="2926080" cy="457200"/>
          </a:xfrm>
          <a:prstGeom prst="rect">
            <a:avLst/>
          </a:prstGeom>
          <a:noFill/>
          <a:ln/>
        </p:spPr>
        <p:txBody>
          <a:bodyPr wrap="square" lIns="0" tIns="0" rIns="0" bIns="0" rtlCol="0" anchor="ctr"/>
          <a:lstStyle/>
          <a:p>
            <a:pPr indent="0" marL="0">
              <a:buNone/>
            </a:pPr>
            <a:r>
              <a:rPr lang="en-US" sz="1200" dirty="0">
                <a:solidFill>
                  <a:srgbClr val="4D4D4D"/>
                </a:solidFill>
              </a:rPr>
              <a:t>every color sits next to a letter or word</a:t>
            </a:r>
            <a:endParaRPr lang="en-US" sz="1200" dirty="0"/>
          </a:p>
        </p:txBody>
      </p:sp>
      <p:sp>
        <p:nvSpPr>
          <p:cNvPr id="29" name="chip HI  ACTIVE, UNACKED"/>
          <p:cNvSpPr txBox="1"/>
          <p:nvPr/>
        </p:nvSpPr>
        <p:spPr>
          <a:xfrm>
            <a:off x="8321040" y="4480560"/>
            <a:ext cx="2377440" cy="347472"/>
          </a:xfrm>
          <a:prstGeom prst="rect">
            <a:avLst/>
          </a:prstGeom>
          <a:solidFill>
            <a:srgbClr val="FF7A00"/>
          </a:solidFill>
          <a:ln w="12700">
            <a:solidFill>
              <a:srgbClr val="FF7A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HI  ACTIVE, UNACKED</a:t>
            </a:r>
            <a:endParaRPr lang="en-US" sz="1100" dirty="0"/>
          </a:p>
        </p:txBody>
      </p:sp>
      <p:sp>
        <p:nvSpPr>
          <p:cNvPr id="30" name="chip HI  CLEARED, UNACKED"/>
          <p:cNvSpPr txBox="1"/>
          <p:nvPr/>
        </p:nvSpPr>
        <p:spPr>
          <a:xfrm>
            <a:off x="8321040" y="5029200"/>
            <a:ext cx="2377440" cy="347472"/>
          </a:xfrm>
          <a:prstGeom prst="rect">
            <a:avLst/>
          </a:prstGeom>
          <a:solidFill>
            <a:srgbClr val="FFD1A6"/>
          </a:solidFill>
          <a:ln w="12700">
            <a:solidFill>
              <a:srgbClr val="FFD1A6"/>
            </a:solidFill>
            <a:prstDash val="solid"/>
          </a:ln>
        </p:spPr>
        <p:txBody>
          <a:bodyPr wrap="square" lIns="0" tIns="0" rIns="0" bIns="0" rtlCol="0" anchor="ctr"/>
          <a:lstStyle/>
          <a:p>
            <a:pPr algn="ctr" indent="0" marL="0">
              <a:buNone/>
            </a:pPr>
            <a:r>
              <a:rPr lang="en-US" sz="1100" b="1" spc="100" kern="0" dirty="0">
                <a:solidFill>
                  <a:srgbClr val="4D4D4D"/>
                </a:solidFill>
                <a:latin typeface="Arial" pitchFamily="34" charset="0"/>
                <a:ea typeface="Arial" pitchFamily="34" charset="-122"/>
                <a:cs typeface="Arial" pitchFamily="34" charset="-120"/>
              </a:rPr>
              <a:t>HI  CLEARED, UNACKED</a:t>
            </a:r>
            <a:endParaRPr lang="en-US" sz="1100" dirty="0"/>
          </a:p>
        </p:txBody>
      </p:sp>
      <p:sp>
        <p:nvSpPr>
          <p:cNvPr id="31" name="Text 29"/>
          <p:cNvSpPr txBox="1"/>
          <p:nvPr/>
        </p:nvSpPr>
        <p:spPr>
          <a:xfrm>
            <a:off x="8321040" y="5468112"/>
            <a:ext cx="2926080" cy="320040"/>
          </a:xfrm>
          <a:prstGeom prst="rect">
            <a:avLst/>
          </a:prstGeom>
          <a:noFill/>
          <a:ln/>
        </p:spPr>
        <p:txBody>
          <a:bodyPr wrap="square" lIns="0" tIns="0" rIns="0" bIns="0" rtlCol="0" anchor="t"/>
          <a:lstStyle/>
          <a:p>
            <a:pPr indent="0" marL="0">
              <a:buNone/>
            </a:pPr>
            <a:r>
              <a:rPr lang="en-US" sz="1200" dirty="0">
                <a:solidFill>
                  <a:srgbClr val="4D4D4D"/>
                </a:solidFill>
              </a:rPr>
              <a:t>blinks  /  steady and faded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Palette: structure and equipment states</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STYLES</a:t>
            </a:r>
            <a:endParaRPr lang="en-US" sz="1000" dirty="0"/>
          </a:p>
        </p:txBody>
      </p:sp>
      <p:sp>
        <p:nvSpPr>
          <p:cNvPr id="4" name="Text 2"/>
          <p:cNvSpPr txBox="1"/>
          <p:nvPr/>
        </p:nvSpPr>
        <p:spPr>
          <a:xfrm>
            <a:off x="548640" y="1417320"/>
            <a:ext cx="3200400" cy="365760"/>
          </a:xfrm>
          <a:prstGeom prst="rect">
            <a:avLst/>
          </a:prstGeom>
          <a:noFill/>
          <a:ln/>
        </p:spPr>
        <p:txBody>
          <a:bodyPr wrap="square" lIns="0" tIns="0" rIns="0" bIns="0" rtlCol="0" anchor="t"/>
          <a:lstStyle/>
          <a:p>
            <a:pPr indent="0" marL="0">
              <a:buNone/>
            </a:pPr>
            <a:r>
              <a:rPr lang="en-US" sz="1800" b="1" dirty="0">
                <a:solidFill>
                  <a:schemeClr val="tx1"/>
                </a:solidFill>
              </a:rPr>
              <a:t>Structure</a:t>
            </a:r>
            <a:endParaRPr lang="en-US" sz="1800" dirty="0"/>
          </a:p>
        </p:txBody>
      </p:sp>
      <p:sp>
        <p:nvSpPr>
          <p:cNvPr id="5" name="swatch Screen"/>
          <p:cNvSpPr/>
          <p:nvPr/>
        </p:nvSpPr>
        <p:spPr>
          <a:xfrm>
            <a:off x="548640" y="1920240"/>
            <a:ext cx="457200" cy="457200"/>
          </a:xfrm>
          <a:prstGeom prst="rect">
            <a:avLst/>
          </a:prstGeom>
          <a:solidFill>
            <a:srgbClr val="D9D9D9"/>
          </a:solidFill>
          <a:ln w="9525">
            <a:solidFill>
              <a:srgbClr val="7F7F7F"/>
            </a:solidFill>
            <a:prstDash val="solid"/>
          </a:ln>
        </p:spPr>
      </p:sp>
      <p:sp>
        <p:nvSpPr>
          <p:cNvPr id="6" name="Text 4"/>
          <p:cNvSpPr txBox="1"/>
          <p:nvPr/>
        </p:nvSpPr>
        <p:spPr>
          <a:xfrm>
            <a:off x="1115568" y="19019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Screen</a:t>
            </a:r>
            <a:endParaRPr lang="en-US" sz="1300" dirty="0"/>
          </a:p>
          <a:p>
            <a:pPr indent="0" marL="0">
              <a:buNone/>
            </a:pPr>
            <a:r>
              <a:rPr lang="en-US" sz="1100" dirty="0">
                <a:solidFill>
                  <a:srgbClr val="4D4D4D"/>
                </a:solidFill>
              </a:rPr>
              <a:t>#D9D9D9</a:t>
            </a:r>
            <a:endParaRPr lang="en-US" sz="1300" dirty="0"/>
          </a:p>
        </p:txBody>
      </p:sp>
      <p:sp>
        <p:nvSpPr>
          <p:cNvPr id="7" name="swatch Header"/>
          <p:cNvSpPr/>
          <p:nvPr/>
        </p:nvSpPr>
        <p:spPr>
          <a:xfrm>
            <a:off x="548640" y="2606040"/>
            <a:ext cx="457200" cy="457200"/>
          </a:xfrm>
          <a:prstGeom prst="rect">
            <a:avLst/>
          </a:prstGeom>
          <a:solidFill>
            <a:srgbClr val="C4C4C4"/>
          </a:solidFill>
          <a:ln w="9525">
            <a:solidFill>
              <a:srgbClr val="7F7F7F"/>
            </a:solidFill>
            <a:prstDash val="solid"/>
          </a:ln>
        </p:spPr>
      </p:sp>
      <p:sp>
        <p:nvSpPr>
          <p:cNvPr id="8" name="Text 6"/>
          <p:cNvSpPr txBox="1"/>
          <p:nvPr/>
        </p:nvSpPr>
        <p:spPr>
          <a:xfrm>
            <a:off x="1115568" y="25877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Header</a:t>
            </a:r>
            <a:endParaRPr lang="en-US" sz="1300" dirty="0"/>
          </a:p>
          <a:p>
            <a:pPr indent="0" marL="0">
              <a:buNone/>
            </a:pPr>
            <a:r>
              <a:rPr lang="en-US" sz="1100" dirty="0">
                <a:solidFill>
                  <a:srgbClr val="4D4D4D"/>
                </a:solidFill>
              </a:rPr>
              <a:t>#C4C4C4</a:t>
            </a:r>
            <a:endParaRPr lang="en-US" sz="1300" dirty="0"/>
          </a:p>
        </p:txBody>
      </p:sp>
      <p:sp>
        <p:nvSpPr>
          <p:cNvPr id="9" name="swatch Panel"/>
          <p:cNvSpPr/>
          <p:nvPr/>
        </p:nvSpPr>
        <p:spPr>
          <a:xfrm>
            <a:off x="548640" y="3291840"/>
            <a:ext cx="457200" cy="457200"/>
          </a:xfrm>
          <a:prstGeom prst="rect">
            <a:avLst/>
          </a:prstGeom>
          <a:solidFill>
            <a:srgbClr val="E6E6E6"/>
          </a:solidFill>
          <a:ln w="9525">
            <a:solidFill>
              <a:srgbClr val="7F7F7F"/>
            </a:solidFill>
            <a:prstDash val="solid"/>
          </a:ln>
        </p:spPr>
      </p:sp>
      <p:sp>
        <p:nvSpPr>
          <p:cNvPr id="10" name="Text 8"/>
          <p:cNvSpPr txBox="1"/>
          <p:nvPr/>
        </p:nvSpPr>
        <p:spPr>
          <a:xfrm>
            <a:off x="1115568" y="32735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Panel</a:t>
            </a:r>
            <a:endParaRPr lang="en-US" sz="1300" dirty="0"/>
          </a:p>
          <a:p>
            <a:pPr indent="0" marL="0">
              <a:buNone/>
            </a:pPr>
            <a:r>
              <a:rPr lang="en-US" sz="1100" dirty="0">
                <a:solidFill>
                  <a:srgbClr val="4D4D4D"/>
                </a:solidFill>
              </a:rPr>
              <a:t>#E6E6E6</a:t>
            </a:r>
            <a:endParaRPr lang="en-US" sz="1300" dirty="0"/>
          </a:p>
        </p:txBody>
      </p:sp>
      <p:sp>
        <p:nvSpPr>
          <p:cNvPr id="11" name="swatch Card"/>
          <p:cNvSpPr/>
          <p:nvPr/>
        </p:nvSpPr>
        <p:spPr>
          <a:xfrm>
            <a:off x="548640" y="3977640"/>
            <a:ext cx="457200" cy="457200"/>
          </a:xfrm>
          <a:prstGeom prst="rect">
            <a:avLst/>
          </a:prstGeom>
          <a:solidFill>
            <a:srgbClr val="F0F0F0"/>
          </a:solidFill>
          <a:ln w="9525">
            <a:solidFill>
              <a:srgbClr val="7F7F7F"/>
            </a:solidFill>
            <a:prstDash val="solid"/>
          </a:ln>
        </p:spPr>
      </p:sp>
      <p:sp>
        <p:nvSpPr>
          <p:cNvPr id="12" name="Text 10"/>
          <p:cNvSpPr txBox="1"/>
          <p:nvPr/>
        </p:nvSpPr>
        <p:spPr>
          <a:xfrm>
            <a:off x="1115568" y="39593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Card</a:t>
            </a:r>
            <a:endParaRPr lang="en-US" sz="1300" dirty="0"/>
          </a:p>
          <a:p>
            <a:pPr indent="0" marL="0">
              <a:buNone/>
            </a:pPr>
            <a:r>
              <a:rPr lang="en-US" sz="1100" dirty="0">
                <a:solidFill>
                  <a:srgbClr val="4D4D4D"/>
                </a:solidFill>
              </a:rPr>
              <a:t>#F0F0F0</a:t>
            </a:r>
            <a:endParaRPr lang="en-US" sz="1300" dirty="0"/>
          </a:p>
        </p:txBody>
      </p:sp>
      <p:sp>
        <p:nvSpPr>
          <p:cNvPr id="13" name="swatch Border"/>
          <p:cNvSpPr/>
          <p:nvPr/>
        </p:nvSpPr>
        <p:spPr>
          <a:xfrm>
            <a:off x="548640" y="4663440"/>
            <a:ext cx="457200" cy="457200"/>
          </a:xfrm>
          <a:prstGeom prst="rect">
            <a:avLst/>
          </a:prstGeom>
          <a:solidFill>
            <a:srgbClr val="A6A6A6"/>
          </a:solidFill>
          <a:ln w="9525">
            <a:solidFill>
              <a:srgbClr val="7F7F7F"/>
            </a:solidFill>
            <a:prstDash val="solid"/>
          </a:ln>
        </p:spPr>
      </p:sp>
      <p:sp>
        <p:nvSpPr>
          <p:cNvPr id="14" name="Text 12"/>
          <p:cNvSpPr txBox="1"/>
          <p:nvPr/>
        </p:nvSpPr>
        <p:spPr>
          <a:xfrm>
            <a:off x="1115568" y="46451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Border</a:t>
            </a:r>
            <a:endParaRPr lang="en-US" sz="1300" dirty="0"/>
          </a:p>
          <a:p>
            <a:pPr indent="0" marL="0">
              <a:buNone/>
            </a:pPr>
            <a:r>
              <a:rPr lang="en-US" sz="1100" dirty="0">
                <a:solidFill>
                  <a:srgbClr val="4D4D4D"/>
                </a:solidFill>
              </a:rPr>
              <a:t>#A6A6A6</a:t>
            </a:r>
            <a:endParaRPr lang="en-US" sz="1300" dirty="0"/>
          </a:p>
        </p:txBody>
      </p:sp>
      <p:sp>
        <p:nvSpPr>
          <p:cNvPr id="15" name="Text 13"/>
          <p:cNvSpPr txBox="1"/>
          <p:nvPr/>
        </p:nvSpPr>
        <p:spPr>
          <a:xfrm>
            <a:off x="4023360" y="1417320"/>
            <a:ext cx="3200400" cy="365760"/>
          </a:xfrm>
          <a:prstGeom prst="rect">
            <a:avLst/>
          </a:prstGeom>
          <a:noFill/>
          <a:ln/>
        </p:spPr>
        <p:txBody>
          <a:bodyPr wrap="square" lIns="0" tIns="0" rIns="0" bIns="0" rtlCol="0" anchor="t"/>
          <a:lstStyle/>
          <a:p>
            <a:pPr indent="0" marL="0">
              <a:buNone/>
            </a:pPr>
            <a:r>
              <a:rPr lang="en-US" sz="1800" b="1" dirty="0">
                <a:solidFill>
                  <a:schemeClr val="tx1"/>
                </a:solidFill>
              </a:rPr>
              <a:t>Equipment states</a:t>
            </a:r>
            <a:endParaRPr lang="en-US" sz="1800" dirty="0"/>
          </a:p>
        </p:txBody>
      </p:sp>
      <p:sp>
        <p:nvSpPr>
          <p:cNvPr id="16" name="swatch Running / open"/>
          <p:cNvSpPr/>
          <p:nvPr/>
        </p:nvSpPr>
        <p:spPr>
          <a:xfrm>
            <a:off x="4023360" y="1920240"/>
            <a:ext cx="457200" cy="457200"/>
          </a:xfrm>
          <a:prstGeom prst="rect">
            <a:avLst/>
          </a:prstGeom>
          <a:solidFill>
            <a:srgbClr val="FFFFFF"/>
          </a:solidFill>
          <a:ln w="9525">
            <a:solidFill>
              <a:srgbClr val="7F7F7F"/>
            </a:solidFill>
            <a:prstDash val="solid"/>
          </a:ln>
        </p:spPr>
      </p:sp>
      <p:sp>
        <p:nvSpPr>
          <p:cNvPr id="17" name="Text 15"/>
          <p:cNvSpPr txBox="1"/>
          <p:nvPr/>
        </p:nvSpPr>
        <p:spPr>
          <a:xfrm>
            <a:off x="4590288" y="1901952"/>
            <a:ext cx="2011680" cy="502920"/>
          </a:xfrm>
          <a:prstGeom prst="rect">
            <a:avLst/>
          </a:prstGeom>
          <a:noFill/>
          <a:ln/>
        </p:spPr>
        <p:txBody>
          <a:bodyPr wrap="square" lIns="0" tIns="0" rIns="0" bIns="0" rtlCol="0" anchor="t"/>
          <a:lstStyle/>
          <a:p>
            <a:pPr indent="0" marL="0">
              <a:buNone/>
            </a:pPr>
            <a:r>
              <a:rPr lang="en-US" sz="1300" b="1" dirty="0">
                <a:solidFill>
                  <a:schemeClr val="tx1"/>
                </a:solidFill>
              </a:rPr>
              <a:t>Running / open</a:t>
            </a:r>
            <a:endParaRPr lang="en-US" sz="1300" dirty="0"/>
          </a:p>
          <a:p>
            <a:pPr indent="0" marL="0">
              <a:buNone/>
            </a:pPr>
            <a:r>
              <a:rPr lang="en-US" sz="1100" dirty="0">
                <a:solidFill>
                  <a:srgbClr val="4D4D4D"/>
                </a:solidFill>
              </a:rPr>
              <a:t>#FFFFFF</a:t>
            </a:r>
            <a:endParaRPr lang="en-US" sz="1300" dirty="0"/>
          </a:p>
        </p:txBody>
      </p:sp>
      <p:sp>
        <p:nvSpPr>
          <p:cNvPr id="18" name="swatch Stopped / closed"/>
          <p:cNvSpPr/>
          <p:nvPr/>
        </p:nvSpPr>
        <p:spPr>
          <a:xfrm>
            <a:off x="4023360" y="2606040"/>
            <a:ext cx="457200" cy="457200"/>
          </a:xfrm>
          <a:prstGeom prst="rect">
            <a:avLst/>
          </a:prstGeom>
          <a:solidFill>
            <a:srgbClr val="9E9E9E"/>
          </a:solidFill>
          <a:ln w="9525">
            <a:solidFill>
              <a:srgbClr val="7F7F7F"/>
            </a:solidFill>
            <a:prstDash val="solid"/>
          </a:ln>
        </p:spPr>
      </p:sp>
      <p:sp>
        <p:nvSpPr>
          <p:cNvPr id="19" name="Text 17"/>
          <p:cNvSpPr txBox="1"/>
          <p:nvPr/>
        </p:nvSpPr>
        <p:spPr>
          <a:xfrm>
            <a:off x="4590288" y="2587752"/>
            <a:ext cx="2011680" cy="502920"/>
          </a:xfrm>
          <a:prstGeom prst="rect">
            <a:avLst/>
          </a:prstGeom>
          <a:noFill/>
          <a:ln/>
        </p:spPr>
        <p:txBody>
          <a:bodyPr wrap="square" lIns="0" tIns="0" rIns="0" bIns="0" rtlCol="0" anchor="t"/>
          <a:lstStyle/>
          <a:p>
            <a:pPr indent="0" marL="0">
              <a:buNone/>
            </a:pPr>
            <a:r>
              <a:rPr lang="en-US" sz="1300" b="1" dirty="0">
                <a:solidFill>
                  <a:schemeClr val="tx1"/>
                </a:solidFill>
              </a:rPr>
              <a:t>Stopped / closed</a:t>
            </a:r>
            <a:endParaRPr lang="en-US" sz="1300" dirty="0"/>
          </a:p>
          <a:p>
            <a:pPr indent="0" marL="0">
              <a:buNone/>
            </a:pPr>
            <a:r>
              <a:rPr lang="en-US" sz="1100" dirty="0">
                <a:solidFill>
                  <a:srgbClr val="4D4D4D"/>
                </a:solidFill>
              </a:rPr>
              <a:t>#9E9E9E</a:t>
            </a:r>
            <a:endParaRPr lang="en-US" sz="1300" dirty="0"/>
          </a:p>
        </p:txBody>
      </p:sp>
      <p:sp>
        <p:nvSpPr>
          <p:cNvPr id="20" name="swatch Transition"/>
          <p:cNvSpPr/>
          <p:nvPr/>
        </p:nvSpPr>
        <p:spPr>
          <a:xfrm>
            <a:off x="4023360" y="3291840"/>
            <a:ext cx="457200" cy="457200"/>
          </a:xfrm>
          <a:prstGeom prst="rect">
            <a:avLst/>
          </a:prstGeom>
          <a:solidFill>
            <a:srgbClr val="C4C4C4"/>
          </a:solidFill>
          <a:ln w="9525">
            <a:solidFill>
              <a:srgbClr val="7F7F7F"/>
            </a:solidFill>
            <a:prstDash val="solid"/>
          </a:ln>
        </p:spPr>
      </p:sp>
      <p:sp>
        <p:nvSpPr>
          <p:cNvPr id="21" name="Text 19"/>
          <p:cNvSpPr txBox="1"/>
          <p:nvPr/>
        </p:nvSpPr>
        <p:spPr>
          <a:xfrm>
            <a:off x="4590288" y="3273552"/>
            <a:ext cx="2011680" cy="502920"/>
          </a:xfrm>
          <a:prstGeom prst="rect">
            <a:avLst/>
          </a:prstGeom>
          <a:noFill/>
          <a:ln/>
        </p:spPr>
        <p:txBody>
          <a:bodyPr wrap="square" lIns="0" tIns="0" rIns="0" bIns="0" rtlCol="0" anchor="t"/>
          <a:lstStyle/>
          <a:p>
            <a:pPr indent="0" marL="0">
              <a:buNone/>
            </a:pPr>
            <a:r>
              <a:rPr lang="en-US" sz="1300" b="1" dirty="0">
                <a:solidFill>
                  <a:schemeClr val="tx1"/>
                </a:solidFill>
              </a:rPr>
              <a:t>Transition</a:t>
            </a:r>
            <a:endParaRPr lang="en-US" sz="1300" dirty="0"/>
          </a:p>
          <a:p>
            <a:pPr indent="0" marL="0">
              <a:buNone/>
            </a:pPr>
            <a:r>
              <a:rPr lang="en-US" sz="1100" dirty="0">
                <a:solidFill>
                  <a:srgbClr val="4D4D4D"/>
                </a:solidFill>
              </a:rPr>
              <a:t>#C4C4C4</a:t>
            </a:r>
            <a:endParaRPr lang="en-US" sz="1300" dirty="0"/>
          </a:p>
        </p:txBody>
      </p:sp>
      <p:sp>
        <p:nvSpPr>
          <p:cNvPr id="22" name="swatch Fault"/>
          <p:cNvSpPr/>
          <p:nvPr/>
        </p:nvSpPr>
        <p:spPr>
          <a:xfrm>
            <a:off x="4023360" y="3977640"/>
            <a:ext cx="457200" cy="457200"/>
          </a:xfrm>
          <a:prstGeom prst="rect">
            <a:avLst/>
          </a:prstGeom>
          <a:solidFill>
            <a:srgbClr val="3A3A3A"/>
          </a:solidFill>
          <a:ln w="38100">
            <a:solidFill>
              <a:srgbClr val="D50000"/>
            </a:solidFill>
            <a:prstDash val="solid"/>
          </a:ln>
        </p:spPr>
      </p:sp>
      <p:sp>
        <p:nvSpPr>
          <p:cNvPr id="23" name="Text 21"/>
          <p:cNvSpPr txBox="1"/>
          <p:nvPr/>
        </p:nvSpPr>
        <p:spPr>
          <a:xfrm>
            <a:off x="4590288" y="3959352"/>
            <a:ext cx="2011680" cy="502920"/>
          </a:xfrm>
          <a:prstGeom prst="rect">
            <a:avLst/>
          </a:prstGeom>
          <a:noFill/>
          <a:ln/>
        </p:spPr>
        <p:txBody>
          <a:bodyPr wrap="square" lIns="0" tIns="0" rIns="0" bIns="0" rtlCol="0" anchor="t"/>
          <a:lstStyle/>
          <a:p>
            <a:pPr indent="0" marL="0">
              <a:buNone/>
            </a:pPr>
            <a:r>
              <a:rPr lang="en-US" sz="1300" b="1" dirty="0">
                <a:solidFill>
                  <a:schemeClr val="tx1"/>
                </a:solidFill>
              </a:rPr>
              <a:t>Fault</a:t>
            </a:r>
            <a:endParaRPr lang="en-US" sz="1300" dirty="0"/>
          </a:p>
          <a:p>
            <a:pPr indent="0" marL="0">
              <a:buNone/>
            </a:pPr>
            <a:r>
              <a:rPr lang="en-US" sz="1100" dirty="0">
                <a:solidFill>
                  <a:srgbClr val="4D4D4D"/>
                </a:solidFill>
              </a:rPr>
              <a:t>#3A3A3A</a:t>
            </a:r>
            <a:endParaRPr lang="en-US" sz="1300" dirty="0"/>
          </a:p>
        </p:txBody>
      </p:sp>
      <p:sp>
        <p:nvSpPr>
          <p:cNvPr id="24" name="Text 22"/>
          <p:cNvSpPr txBox="1"/>
          <p:nvPr/>
        </p:nvSpPr>
        <p:spPr>
          <a:xfrm>
            <a:off x="4023360" y="4754880"/>
            <a:ext cx="3291840" cy="548640"/>
          </a:xfrm>
          <a:prstGeom prst="rect">
            <a:avLst/>
          </a:prstGeom>
          <a:noFill/>
          <a:ln/>
        </p:spPr>
        <p:txBody>
          <a:bodyPr wrap="square" lIns="0" tIns="0" rIns="0" bIns="0" rtlCol="0" anchor="t"/>
          <a:lstStyle/>
          <a:p>
            <a:pPr indent="0" marL="0">
              <a:buNone/>
            </a:pPr>
            <a:r>
              <a:rPr lang="en-US" sz="1200" i="1" dirty="0">
                <a:solidFill>
                  <a:srgbClr val="4D4D4D"/>
                </a:solidFill>
              </a:rPr>
              <a:t>Fault adds a 3 px red border and FAULT text</a:t>
            </a:r>
            <a:endParaRPr lang="en-US" sz="1200" dirty="0"/>
          </a:p>
        </p:txBody>
      </p:sp>
      <p:sp>
        <p:nvSpPr>
          <p:cNvPr id="25" name="Text 23"/>
          <p:cNvSpPr txBox="1"/>
          <p:nvPr/>
        </p:nvSpPr>
        <p:spPr>
          <a:xfrm>
            <a:off x="7589520" y="14173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Meaningful accents</a:t>
            </a:r>
            <a:endParaRPr lang="en-US" sz="1800" dirty="0"/>
          </a:p>
        </p:txBody>
      </p:sp>
      <p:sp>
        <p:nvSpPr>
          <p:cNvPr id="26" name="swatch Editable / command"/>
          <p:cNvSpPr/>
          <p:nvPr/>
        </p:nvSpPr>
        <p:spPr>
          <a:xfrm>
            <a:off x="7589520" y="1920240"/>
            <a:ext cx="457200" cy="457200"/>
          </a:xfrm>
          <a:prstGeom prst="rect">
            <a:avLst/>
          </a:prstGeom>
          <a:solidFill>
            <a:srgbClr val="1F4E99"/>
          </a:solidFill>
          <a:ln w="9525">
            <a:solidFill>
              <a:srgbClr val="7F7F7F"/>
            </a:solidFill>
            <a:prstDash val="solid"/>
          </a:ln>
        </p:spPr>
      </p:sp>
      <p:sp>
        <p:nvSpPr>
          <p:cNvPr id="27" name="Text 25"/>
          <p:cNvSpPr txBox="1"/>
          <p:nvPr/>
        </p:nvSpPr>
        <p:spPr>
          <a:xfrm>
            <a:off x="8156448" y="1901952"/>
            <a:ext cx="2377440" cy="502920"/>
          </a:xfrm>
          <a:prstGeom prst="rect">
            <a:avLst/>
          </a:prstGeom>
          <a:noFill/>
          <a:ln/>
        </p:spPr>
        <p:txBody>
          <a:bodyPr wrap="square" lIns="0" tIns="0" rIns="0" bIns="0" rtlCol="0" anchor="t"/>
          <a:lstStyle/>
          <a:p>
            <a:pPr indent="0" marL="0">
              <a:buNone/>
            </a:pPr>
            <a:r>
              <a:rPr lang="en-US" sz="1300" b="1" dirty="0">
                <a:solidFill>
                  <a:schemeClr val="tx1"/>
                </a:solidFill>
              </a:rPr>
              <a:t>Editable / command</a:t>
            </a:r>
            <a:endParaRPr lang="en-US" sz="1300" dirty="0"/>
          </a:p>
          <a:p>
            <a:pPr indent="0" marL="0">
              <a:buNone/>
            </a:pPr>
            <a:r>
              <a:rPr lang="en-US" sz="1100" dirty="0">
                <a:solidFill>
                  <a:srgbClr val="4D4D4D"/>
                </a:solidFill>
              </a:rPr>
              <a:t>#1F4E99</a:t>
            </a:r>
            <a:endParaRPr lang="en-US" sz="1300" dirty="0"/>
          </a:p>
        </p:txBody>
      </p:sp>
      <p:sp>
        <p:nvSpPr>
          <p:cNvPr id="28" name="swatch Simulated (fill)"/>
          <p:cNvSpPr/>
          <p:nvPr/>
        </p:nvSpPr>
        <p:spPr>
          <a:xfrm>
            <a:off x="7589520" y="2606040"/>
            <a:ext cx="457200" cy="457200"/>
          </a:xfrm>
          <a:prstGeom prst="rect">
            <a:avLst/>
          </a:prstGeom>
          <a:solidFill>
            <a:srgbClr val="D7EEEB"/>
          </a:solidFill>
          <a:ln w="9525">
            <a:solidFill>
              <a:srgbClr val="7F7F7F"/>
            </a:solidFill>
            <a:prstDash val="solid"/>
          </a:ln>
        </p:spPr>
      </p:sp>
      <p:sp>
        <p:nvSpPr>
          <p:cNvPr id="29" name="Text 27"/>
          <p:cNvSpPr txBox="1"/>
          <p:nvPr/>
        </p:nvSpPr>
        <p:spPr>
          <a:xfrm>
            <a:off x="8156448" y="2587752"/>
            <a:ext cx="2377440" cy="502920"/>
          </a:xfrm>
          <a:prstGeom prst="rect">
            <a:avLst/>
          </a:prstGeom>
          <a:noFill/>
          <a:ln/>
        </p:spPr>
        <p:txBody>
          <a:bodyPr wrap="square" lIns="0" tIns="0" rIns="0" bIns="0" rtlCol="0" anchor="t"/>
          <a:lstStyle/>
          <a:p>
            <a:pPr indent="0" marL="0">
              <a:buNone/>
            </a:pPr>
            <a:r>
              <a:rPr lang="en-US" sz="1300" b="1" dirty="0">
                <a:solidFill>
                  <a:schemeClr val="tx1"/>
                </a:solidFill>
              </a:rPr>
              <a:t>Simulated (fill)</a:t>
            </a:r>
            <a:endParaRPr lang="en-US" sz="1300" dirty="0"/>
          </a:p>
          <a:p>
            <a:pPr indent="0" marL="0">
              <a:buNone/>
            </a:pPr>
            <a:r>
              <a:rPr lang="en-US" sz="1100" dirty="0">
                <a:solidFill>
                  <a:srgbClr val="4D4D4D"/>
                </a:solidFill>
              </a:rPr>
              <a:t>#D7EEEB</a:t>
            </a:r>
            <a:endParaRPr lang="en-US" sz="1300" dirty="0"/>
          </a:p>
        </p:txBody>
      </p:sp>
      <p:sp>
        <p:nvSpPr>
          <p:cNvPr id="30" name="swatch Simulated (text)"/>
          <p:cNvSpPr/>
          <p:nvPr/>
        </p:nvSpPr>
        <p:spPr>
          <a:xfrm>
            <a:off x="7589520" y="3291840"/>
            <a:ext cx="457200" cy="457200"/>
          </a:xfrm>
          <a:prstGeom prst="rect">
            <a:avLst/>
          </a:prstGeom>
          <a:solidFill>
            <a:srgbClr val="00695C"/>
          </a:solidFill>
          <a:ln w="9525">
            <a:solidFill>
              <a:srgbClr val="7F7F7F"/>
            </a:solidFill>
            <a:prstDash val="solid"/>
          </a:ln>
        </p:spPr>
      </p:sp>
      <p:sp>
        <p:nvSpPr>
          <p:cNvPr id="31" name="Text 29"/>
          <p:cNvSpPr txBox="1"/>
          <p:nvPr/>
        </p:nvSpPr>
        <p:spPr>
          <a:xfrm>
            <a:off x="8156448" y="3273552"/>
            <a:ext cx="2377440" cy="502920"/>
          </a:xfrm>
          <a:prstGeom prst="rect">
            <a:avLst/>
          </a:prstGeom>
          <a:noFill/>
          <a:ln/>
        </p:spPr>
        <p:txBody>
          <a:bodyPr wrap="square" lIns="0" tIns="0" rIns="0" bIns="0" rtlCol="0" anchor="t"/>
          <a:lstStyle/>
          <a:p>
            <a:pPr indent="0" marL="0">
              <a:buNone/>
            </a:pPr>
            <a:r>
              <a:rPr lang="en-US" sz="1300" b="1" dirty="0">
                <a:solidFill>
                  <a:schemeClr val="tx1"/>
                </a:solidFill>
              </a:rPr>
              <a:t>Simulated (text)</a:t>
            </a:r>
            <a:endParaRPr lang="en-US" sz="1300" dirty="0"/>
          </a:p>
          <a:p>
            <a:pPr indent="0" marL="0">
              <a:buNone/>
            </a:pPr>
            <a:r>
              <a:rPr lang="en-US" sz="1100" dirty="0">
                <a:solidFill>
                  <a:srgbClr val="4D4D4D"/>
                </a:solidFill>
              </a:rPr>
              <a:t>#00695C</a:t>
            </a:r>
            <a:endParaRPr lang="en-US" sz="1300" dirty="0"/>
          </a:p>
        </p:txBody>
      </p:sp>
      <p:sp>
        <p:nvSpPr>
          <p:cNvPr id="32" name="swatch Bad quality"/>
          <p:cNvSpPr/>
          <p:nvPr/>
        </p:nvSpPr>
        <p:spPr>
          <a:xfrm>
            <a:off x="7589520" y="3977640"/>
            <a:ext cx="457200" cy="457200"/>
          </a:xfrm>
          <a:prstGeom prst="rect">
            <a:avLst/>
          </a:prstGeom>
          <a:solidFill>
            <a:srgbClr val="B000B0"/>
          </a:solidFill>
          <a:ln w="9525">
            <a:solidFill>
              <a:srgbClr val="7F7F7F"/>
            </a:solidFill>
            <a:prstDash val="solid"/>
          </a:ln>
        </p:spPr>
      </p:sp>
      <p:sp>
        <p:nvSpPr>
          <p:cNvPr id="33" name="Text 31"/>
          <p:cNvSpPr txBox="1"/>
          <p:nvPr/>
        </p:nvSpPr>
        <p:spPr>
          <a:xfrm>
            <a:off x="8156448" y="3959352"/>
            <a:ext cx="2377440" cy="502920"/>
          </a:xfrm>
          <a:prstGeom prst="rect">
            <a:avLst/>
          </a:prstGeom>
          <a:noFill/>
          <a:ln/>
        </p:spPr>
        <p:txBody>
          <a:bodyPr wrap="square" lIns="0" tIns="0" rIns="0" bIns="0" rtlCol="0" anchor="t"/>
          <a:lstStyle/>
          <a:p>
            <a:pPr indent="0" marL="0">
              <a:buNone/>
            </a:pPr>
            <a:r>
              <a:rPr lang="en-US" sz="1300" b="1" dirty="0">
                <a:solidFill>
                  <a:schemeClr val="tx1"/>
                </a:solidFill>
              </a:rPr>
              <a:t>Bad quality</a:t>
            </a:r>
            <a:endParaRPr lang="en-US" sz="1300" dirty="0"/>
          </a:p>
          <a:p>
            <a:pPr indent="0" marL="0">
              <a:buNone/>
            </a:pPr>
            <a:r>
              <a:rPr lang="en-US" sz="1100" dirty="0">
                <a:solidFill>
                  <a:srgbClr val="4D4D4D"/>
                </a:solidFill>
              </a:rPr>
              <a:t>#B000B0</a:t>
            </a:r>
            <a:endParaRPr lang="en-US" sz="1300" dirty="0"/>
          </a:p>
        </p:txBody>
      </p:sp>
      <p:sp>
        <p:nvSpPr>
          <p:cNvPr id="34" name="swatch Manual M marker"/>
          <p:cNvSpPr/>
          <p:nvPr/>
        </p:nvSpPr>
        <p:spPr>
          <a:xfrm>
            <a:off x="7589520" y="4663440"/>
            <a:ext cx="457200" cy="457200"/>
          </a:xfrm>
          <a:prstGeom prst="rect">
            <a:avLst/>
          </a:prstGeom>
          <a:solidFill>
            <a:srgbClr val="FFD200"/>
          </a:solidFill>
          <a:ln w="9525">
            <a:solidFill>
              <a:srgbClr val="7F7F7F"/>
            </a:solidFill>
            <a:prstDash val="solid"/>
          </a:ln>
        </p:spPr>
      </p:sp>
      <p:sp>
        <p:nvSpPr>
          <p:cNvPr id="35" name="Text 33"/>
          <p:cNvSpPr txBox="1"/>
          <p:nvPr/>
        </p:nvSpPr>
        <p:spPr>
          <a:xfrm>
            <a:off x="8156448" y="4645152"/>
            <a:ext cx="2377440" cy="502920"/>
          </a:xfrm>
          <a:prstGeom prst="rect">
            <a:avLst/>
          </a:prstGeom>
          <a:noFill/>
          <a:ln/>
        </p:spPr>
        <p:txBody>
          <a:bodyPr wrap="square" lIns="0" tIns="0" rIns="0" bIns="0" rtlCol="0" anchor="t"/>
          <a:lstStyle/>
          <a:p>
            <a:pPr indent="0" marL="0">
              <a:buNone/>
            </a:pPr>
            <a:r>
              <a:rPr lang="en-US" sz="1300" b="1" dirty="0">
                <a:solidFill>
                  <a:schemeClr val="tx1"/>
                </a:solidFill>
              </a:rPr>
              <a:t>Manual M marker</a:t>
            </a:r>
            <a:endParaRPr lang="en-US" sz="1300" dirty="0"/>
          </a:p>
          <a:p>
            <a:pPr indent="0" marL="0">
              <a:buNone/>
            </a:pPr>
            <a:r>
              <a:rPr lang="en-US" sz="1100" dirty="0">
                <a:solidFill>
                  <a:srgbClr val="4D4D4D"/>
                </a:solidFill>
              </a:rPr>
              <a:t>#FFD200</a:t>
            </a:r>
            <a:endParaRPr lang="en-US" sz="1300" dirty="0"/>
          </a:p>
        </p:txBody>
      </p:sp>
      <p:sp>
        <p:nvSpPr>
          <p:cNvPr id="36" name="Text 34"/>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400" dirty="0">
                <a:solidFill>
                  <a:srgbClr val="4D4D4D"/>
                </a:solidFill>
              </a:rPr>
              <a:t>Transition gray #C4C4C4 is darker than the #D9D9D9 screen on purpose, so a travelling valve never disappears into the background.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Alarm priorities and P / I badges</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STYLES</a:t>
            </a:r>
            <a:endParaRPr lang="en-US" sz="1000" dirty="0"/>
          </a:p>
        </p:txBody>
      </p:sp>
      <p:sp>
        <p:nvSpPr>
          <p:cNvPr id="4" name="chip CRITICAL"/>
          <p:cNvSpPr txBox="1"/>
          <p:nvPr/>
        </p:nvSpPr>
        <p:spPr>
          <a:xfrm>
            <a:off x="548640" y="1463040"/>
            <a:ext cx="1828800" cy="502920"/>
          </a:xfrm>
          <a:prstGeom prst="rect">
            <a:avLst/>
          </a:prstGeom>
          <a:solidFill>
            <a:srgbClr val="D50000"/>
          </a:solidFill>
          <a:ln w="12700">
            <a:solidFill>
              <a:srgbClr val="D50000"/>
            </a:solidFill>
            <a:prstDash val="solid"/>
          </a:ln>
        </p:spPr>
        <p:txBody>
          <a:bodyPr wrap="square" lIns="0" tIns="0" rIns="0" bIns="0" rtlCol="0" anchor="ctr"/>
          <a:lstStyle/>
          <a:p>
            <a:pPr algn="ctr" indent="0" marL="0">
              <a:buNone/>
            </a:pPr>
            <a:r>
              <a:rPr lang="en-US" sz="1300" b="1" spc="100" kern="0" dirty="0">
                <a:solidFill>
                  <a:srgbClr val="FFFFFF"/>
                </a:solidFill>
                <a:latin typeface="Arial" pitchFamily="34" charset="0"/>
                <a:ea typeface="Arial" pitchFamily="34" charset="-122"/>
                <a:cs typeface="Arial" pitchFamily="34" charset="-120"/>
              </a:rPr>
              <a:t>CRITICAL</a:t>
            </a:r>
            <a:endParaRPr lang="en-US" sz="1300" dirty="0"/>
          </a:p>
        </p:txBody>
      </p:sp>
      <p:sp>
        <p:nvSpPr>
          <p:cNvPr id="5" name="Text 3"/>
          <p:cNvSpPr txBox="1"/>
          <p:nvPr/>
        </p:nvSpPr>
        <p:spPr>
          <a:xfrm>
            <a:off x="2560320" y="1463040"/>
            <a:ext cx="1645920" cy="548640"/>
          </a:xfrm>
          <a:prstGeom prst="rect">
            <a:avLst/>
          </a:prstGeom>
          <a:noFill/>
          <a:ln/>
        </p:spPr>
        <p:txBody>
          <a:bodyPr wrap="square" lIns="0" tIns="0" rIns="0" bIns="0" rtlCol="0" anchor="t"/>
          <a:lstStyle/>
          <a:p>
            <a:pPr indent="0" marL="0">
              <a:buNone/>
            </a:pPr>
            <a:r>
              <a:rPr lang="en-US" sz="1400" b="1" dirty="0">
                <a:solidFill>
                  <a:schemeClr val="tx1"/>
                </a:solidFill>
              </a:rPr>
              <a:t>Priority 1</a:t>
            </a:r>
            <a:endParaRPr lang="en-US" sz="1400" dirty="0"/>
          </a:p>
          <a:p>
            <a:pPr indent="0" marL="0">
              <a:buNone/>
            </a:pPr>
            <a:r>
              <a:rPr lang="en-US" sz="1200" dirty="0">
                <a:solidFill>
                  <a:srgbClr val="4D4D4D"/>
                </a:solidFill>
              </a:rPr>
              <a:t>#D50000</a:t>
            </a:r>
            <a:endParaRPr lang="en-US" sz="1400" dirty="0"/>
          </a:p>
        </p:txBody>
      </p:sp>
      <p:sp>
        <p:nvSpPr>
          <p:cNvPr id="6" name="chip HIGH"/>
          <p:cNvSpPr txBox="1"/>
          <p:nvPr/>
        </p:nvSpPr>
        <p:spPr>
          <a:xfrm>
            <a:off x="548640" y="2176272"/>
            <a:ext cx="1828800" cy="502920"/>
          </a:xfrm>
          <a:prstGeom prst="rect">
            <a:avLst/>
          </a:prstGeom>
          <a:solidFill>
            <a:srgbClr val="FF7A00"/>
          </a:solidFill>
          <a:ln w="12700">
            <a:solidFill>
              <a:srgbClr val="FF7A00"/>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HIGH</a:t>
            </a:r>
            <a:endParaRPr lang="en-US" sz="1300" dirty="0"/>
          </a:p>
        </p:txBody>
      </p:sp>
      <p:sp>
        <p:nvSpPr>
          <p:cNvPr id="7" name="Text 5"/>
          <p:cNvSpPr txBox="1"/>
          <p:nvPr/>
        </p:nvSpPr>
        <p:spPr>
          <a:xfrm>
            <a:off x="2560320" y="2176272"/>
            <a:ext cx="1645920" cy="548640"/>
          </a:xfrm>
          <a:prstGeom prst="rect">
            <a:avLst/>
          </a:prstGeom>
          <a:noFill/>
          <a:ln/>
        </p:spPr>
        <p:txBody>
          <a:bodyPr wrap="square" lIns="0" tIns="0" rIns="0" bIns="0" rtlCol="0" anchor="t"/>
          <a:lstStyle/>
          <a:p>
            <a:pPr indent="0" marL="0">
              <a:buNone/>
            </a:pPr>
            <a:r>
              <a:rPr lang="en-US" sz="1400" b="1" dirty="0">
                <a:solidFill>
                  <a:schemeClr val="tx1"/>
                </a:solidFill>
              </a:rPr>
              <a:t>Priority 2</a:t>
            </a:r>
            <a:endParaRPr lang="en-US" sz="1400" dirty="0"/>
          </a:p>
          <a:p>
            <a:pPr indent="0" marL="0">
              <a:buNone/>
            </a:pPr>
            <a:r>
              <a:rPr lang="en-US" sz="1200" dirty="0">
                <a:solidFill>
                  <a:srgbClr val="4D4D4D"/>
                </a:solidFill>
              </a:rPr>
              <a:t>#FF7A00</a:t>
            </a:r>
            <a:endParaRPr lang="en-US" sz="1400" dirty="0"/>
          </a:p>
        </p:txBody>
      </p:sp>
      <p:sp>
        <p:nvSpPr>
          <p:cNvPr id="8" name="chip MEDIUM"/>
          <p:cNvSpPr txBox="1"/>
          <p:nvPr/>
        </p:nvSpPr>
        <p:spPr>
          <a:xfrm>
            <a:off x="548640" y="2889504"/>
            <a:ext cx="1828800" cy="502920"/>
          </a:xfrm>
          <a:prstGeom prst="rect">
            <a:avLst/>
          </a:prstGeom>
          <a:solidFill>
            <a:srgbClr val="FFD200"/>
          </a:solidFill>
          <a:ln w="12700">
            <a:solidFill>
              <a:srgbClr val="FFD200"/>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MEDIUM</a:t>
            </a:r>
            <a:endParaRPr lang="en-US" sz="1300" dirty="0"/>
          </a:p>
        </p:txBody>
      </p:sp>
      <p:sp>
        <p:nvSpPr>
          <p:cNvPr id="9" name="Text 7"/>
          <p:cNvSpPr txBox="1"/>
          <p:nvPr/>
        </p:nvSpPr>
        <p:spPr>
          <a:xfrm>
            <a:off x="2560320" y="2889504"/>
            <a:ext cx="1645920" cy="548640"/>
          </a:xfrm>
          <a:prstGeom prst="rect">
            <a:avLst/>
          </a:prstGeom>
          <a:noFill/>
          <a:ln/>
        </p:spPr>
        <p:txBody>
          <a:bodyPr wrap="square" lIns="0" tIns="0" rIns="0" bIns="0" rtlCol="0" anchor="t"/>
          <a:lstStyle/>
          <a:p>
            <a:pPr indent="0" marL="0">
              <a:buNone/>
            </a:pPr>
            <a:r>
              <a:rPr lang="en-US" sz="1400" b="1" dirty="0">
                <a:solidFill>
                  <a:schemeClr val="tx1"/>
                </a:solidFill>
              </a:rPr>
              <a:t>Priority 3</a:t>
            </a:r>
            <a:endParaRPr lang="en-US" sz="1400" dirty="0"/>
          </a:p>
          <a:p>
            <a:pPr indent="0" marL="0">
              <a:buNone/>
            </a:pPr>
            <a:r>
              <a:rPr lang="en-US" sz="1200" dirty="0">
                <a:solidFill>
                  <a:srgbClr val="4D4D4D"/>
                </a:solidFill>
              </a:rPr>
              <a:t>#FFD200</a:t>
            </a:r>
            <a:endParaRPr lang="en-US" sz="1400" dirty="0"/>
          </a:p>
        </p:txBody>
      </p:sp>
      <p:sp>
        <p:nvSpPr>
          <p:cNvPr id="10" name="chip LOW"/>
          <p:cNvSpPr txBox="1"/>
          <p:nvPr/>
        </p:nvSpPr>
        <p:spPr>
          <a:xfrm>
            <a:off x="548640" y="3602736"/>
            <a:ext cx="1828800" cy="502920"/>
          </a:xfrm>
          <a:prstGeom prst="rect">
            <a:avLst/>
          </a:prstGeom>
          <a:solidFill>
            <a:srgbClr val="00A3E0"/>
          </a:solidFill>
          <a:ln w="12700">
            <a:solidFill>
              <a:srgbClr val="00A3E0"/>
            </a:solidFill>
            <a:prstDash val="solid"/>
          </a:ln>
        </p:spPr>
        <p:txBody>
          <a:bodyPr wrap="square" lIns="0" tIns="0" rIns="0" bIns="0" rtlCol="0" anchor="ctr"/>
          <a:lstStyle/>
          <a:p>
            <a:pPr algn="ctr" indent="0" marL="0">
              <a:buNone/>
            </a:pPr>
            <a:r>
              <a:rPr lang="en-US" sz="1300" b="1" spc="100" kern="0" dirty="0">
                <a:solidFill>
                  <a:srgbClr val="1F1F1F"/>
                </a:solidFill>
                <a:latin typeface="Arial" pitchFamily="34" charset="0"/>
                <a:ea typeface="Arial" pitchFamily="34" charset="-122"/>
                <a:cs typeface="Arial" pitchFamily="34" charset="-120"/>
              </a:rPr>
              <a:t>LOW</a:t>
            </a:r>
            <a:endParaRPr lang="en-US" sz="1300" dirty="0"/>
          </a:p>
        </p:txBody>
      </p:sp>
      <p:sp>
        <p:nvSpPr>
          <p:cNvPr id="11" name="Text 9"/>
          <p:cNvSpPr txBox="1"/>
          <p:nvPr/>
        </p:nvSpPr>
        <p:spPr>
          <a:xfrm>
            <a:off x="2560320" y="3602736"/>
            <a:ext cx="1645920" cy="548640"/>
          </a:xfrm>
          <a:prstGeom prst="rect">
            <a:avLst/>
          </a:prstGeom>
          <a:noFill/>
          <a:ln/>
        </p:spPr>
        <p:txBody>
          <a:bodyPr wrap="square" lIns="0" tIns="0" rIns="0" bIns="0" rtlCol="0" anchor="t"/>
          <a:lstStyle/>
          <a:p>
            <a:pPr indent="0" marL="0">
              <a:buNone/>
            </a:pPr>
            <a:r>
              <a:rPr lang="en-US" sz="1400" b="1" dirty="0">
                <a:solidFill>
                  <a:schemeClr val="tx1"/>
                </a:solidFill>
              </a:rPr>
              <a:t>Priority 4</a:t>
            </a:r>
            <a:endParaRPr lang="en-US" sz="1400" dirty="0"/>
          </a:p>
          <a:p>
            <a:pPr indent="0" marL="0">
              <a:buNone/>
            </a:pPr>
            <a:r>
              <a:rPr lang="en-US" sz="1200" dirty="0">
                <a:solidFill>
                  <a:srgbClr val="4D4D4D"/>
                </a:solidFill>
              </a:rPr>
              <a:t>#00A3E0</a:t>
            </a:r>
            <a:endParaRPr lang="en-US" sz="1400" dirty="0"/>
          </a:p>
        </p:txBody>
      </p:sp>
      <p:sp>
        <p:nvSpPr>
          <p:cNvPr id="12" name="chip DIAGNOSTIC"/>
          <p:cNvSpPr txBox="1"/>
          <p:nvPr/>
        </p:nvSpPr>
        <p:spPr>
          <a:xfrm>
            <a:off x="548640" y="4315968"/>
            <a:ext cx="1828800" cy="502920"/>
          </a:xfrm>
          <a:prstGeom prst="rect">
            <a:avLst/>
          </a:prstGeom>
          <a:solidFill>
            <a:srgbClr val="6E6E6E"/>
          </a:solidFill>
          <a:ln w="12700">
            <a:solidFill>
              <a:srgbClr val="6E6E6E"/>
            </a:solidFill>
            <a:prstDash val="solid"/>
          </a:ln>
        </p:spPr>
        <p:txBody>
          <a:bodyPr wrap="square" lIns="0" tIns="0" rIns="0" bIns="0" rtlCol="0" anchor="ctr"/>
          <a:lstStyle/>
          <a:p>
            <a:pPr algn="ctr" indent="0" marL="0">
              <a:buNone/>
            </a:pPr>
            <a:r>
              <a:rPr lang="en-US" sz="1300" b="1" spc="100" kern="0" dirty="0">
                <a:solidFill>
                  <a:srgbClr val="FFFFFF"/>
                </a:solidFill>
                <a:latin typeface="Arial" pitchFamily="34" charset="0"/>
                <a:ea typeface="Arial" pitchFamily="34" charset="-122"/>
                <a:cs typeface="Arial" pitchFamily="34" charset="-120"/>
              </a:rPr>
              <a:t>DIAGNOSTIC</a:t>
            </a:r>
            <a:endParaRPr lang="en-US" sz="1300" dirty="0"/>
          </a:p>
        </p:txBody>
      </p:sp>
      <p:sp>
        <p:nvSpPr>
          <p:cNvPr id="13" name="Text 11"/>
          <p:cNvSpPr txBox="1"/>
          <p:nvPr/>
        </p:nvSpPr>
        <p:spPr>
          <a:xfrm>
            <a:off x="2560320" y="4315968"/>
            <a:ext cx="1645920" cy="548640"/>
          </a:xfrm>
          <a:prstGeom prst="rect">
            <a:avLst/>
          </a:prstGeom>
          <a:noFill/>
          <a:ln/>
        </p:spPr>
        <p:txBody>
          <a:bodyPr wrap="square" lIns="0" tIns="0" rIns="0" bIns="0" rtlCol="0" anchor="t"/>
          <a:lstStyle/>
          <a:p>
            <a:pPr indent="0" marL="0">
              <a:buNone/>
            </a:pPr>
            <a:r>
              <a:rPr lang="en-US" sz="1400" b="1" dirty="0">
                <a:solidFill>
                  <a:schemeClr val="tx1"/>
                </a:solidFill>
              </a:rPr>
              <a:t>Priority -</a:t>
            </a:r>
            <a:endParaRPr lang="en-US" sz="1400" dirty="0"/>
          </a:p>
          <a:p>
            <a:pPr indent="0" marL="0">
              <a:buNone/>
            </a:pPr>
            <a:r>
              <a:rPr lang="en-US" sz="1200" dirty="0">
                <a:solidFill>
                  <a:srgbClr val="4D4D4D"/>
                </a:solidFill>
              </a:rPr>
              <a:t>#6E6E6E</a:t>
            </a:r>
            <a:endParaRPr lang="en-US" sz="1400" dirty="0"/>
          </a:p>
        </p:txBody>
      </p:sp>
      <p:sp>
        <p:nvSpPr>
          <p:cNvPr id="14" name="Text 12"/>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1300" i="1" dirty="0">
                <a:solidFill>
                  <a:srgbClr val="4D4D4D"/>
                </a:solidFill>
              </a:rPr>
              <a:t>The only saturated colors on a screen (ISA-18.2 order).</a:t>
            </a:r>
            <a:endParaRPr lang="en-US" sz="1300" dirty="0"/>
          </a:p>
        </p:txBody>
      </p:sp>
      <p:sp>
        <p:nvSpPr>
          <p:cNvPr id="15" name="badges card"/>
          <p:cNvSpPr/>
          <p:nvPr/>
        </p:nvSpPr>
        <p:spPr>
          <a:xfrm>
            <a:off x="4754880" y="1463040"/>
            <a:ext cx="3108960" cy="4114800"/>
          </a:xfrm>
          <a:prstGeom prst="rect">
            <a:avLst/>
          </a:prstGeom>
          <a:solidFill>
            <a:srgbClr val="F0F0F0"/>
          </a:solidFill>
          <a:ln w="9525">
            <a:solidFill>
              <a:srgbClr val="D0D0D0"/>
            </a:solidFill>
            <a:prstDash val="solid"/>
          </a:ln>
        </p:spPr>
      </p:sp>
      <p:sp>
        <p:nvSpPr>
          <p:cNvPr id="16" name="Text 14"/>
          <p:cNvSpPr txBox="1"/>
          <p:nvPr/>
        </p:nvSpPr>
        <p:spPr>
          <a:xfrm>
            <a:off x="4983480" y="1645920"/>
            <a:ext cx="2743200" cy="365760"/>
          </a:xfrm>
          <a:prstGeom prst="rect">
            <a:avLst/>
          </a:prstGeom>
          <a:noFill/>
          <a:ln/>
        </p:spPr>
        <p:txBody>
          <a:bodyPr wrap="square" lIns="0" tIns="0" rIns="0" bIns="0" rtlCol="0" anchor="t"/>
          <a:lstStyle/>
          <a:p>
            <a:pPr indent="0" marL="0">
              <a:buNone/>
            </a:pPr>
            <a:r>
              <a:rPr lang="en-US" sz="1600" b="1" dirty="0">
                <a:solidFill>
                  <a:schemeClr val="tx1"/>
                </a:solidFill>
              </a:rPr>
              <a:t>Blocking badges (NFPA 79)</a:t>
            </a:r>
            <a:endParaRPr lang="en-US" sz="1600" dirty="0"/>
          </a:p>
        </p:txBody>
      </p:sp>
      <p:sp>
        <p:nvSpPr>
          <p:cNvPr id="17" name="chip P"/>
          <p:cNvSpPr txBox="1"/>
          <p:nvPr/>
        </p:nvSpPr>
        <p:spPr>
          <a:xfrm>
            <a:off x="5029200" y="2240280"/>
            <a:ext cx="548640" cy="548640"/>
          </a:xfrm>
          <a:prstGeom prst="rect">
            <a:avLst/>
          </a:prstGeom>
          <a:solidFill>
            <a:srgbClr val="F08000"/>
          </a:solidFill>
          <a:ln w="12700">
            <a:solidFill>
              <a:srgbClr val="F08000"/>
            </a:solidFill>
            <a:prstDash val="solid"/>
          </a:ln>
        </p:spPr>
        <p:txBody>
          <a:bodyPr wrap="square" lIns="0" tIns="0" rIns="0" bIns="0" rtlCol="0" anchor="ctr"/>
          <a:lstStyle/>
          <a:p>
            <a:pPr algn="ctr" indent="0" marL="0">
              <a:buNone/>
            </a:pPr>
            <a:r>
              <a:rPr lang="en-US" sz="2000" b="1" spc="100" kern="0" dirty="0">
                <a:solidFill>
                  <a:srgbClr val="1F1F1F"/>
                </a:solidFill>
                <a:latin typeface="Arial" pitchFamily="34" charset="0"/>
                <a:ea typeface="Arial" pitchFamily="34" charset="-122"/>
                <a:cs typeface="Arial" pitchFamily="34" charset="-120"/>
              </a:rPr>
              <a:t>P</a:t>
            </a:r>
            <a:endParaRPr lang="en-US" sz="2000" dirty="0"/>
          </a:p>
        </p:txBody>
      </p:sp>
      <p:sp>
        <p:nvSpPr>
          <p:cNvPr id="18" name="Text 16"/>
          <p:cNvSpPr txBox="1"/>
          <p:nvPr/>
        </p:nvSpPr>
        <p:spPr>
          <a:xfrm>
            <a:off x="5760720" y="2194560"/>
            <a:ext cx="2011680" cy="1005840"/>
          </a:xfrm>
          <a:prstGeom prst="rect">
            <a:avLst/>
          </a:prstGeom>
          <a:noFill/>
          <a:ln/>
        </p:spPr>
        <p:txBody>
          <a:bodyPr wrap="square" lIns="0" tIns="0" rIns="0" bIns="0" rtlCol="0" anchor="t"/>
          <a:lstStyle/>
          <a:p>
            <a:pPr indent="0" marL="0">
              <a:buNone/>
            </a:pPr>
            <a:r>
              <a:rPr lang="en-US" sz="1300" b="1" dirty="0">
                <a:solidFill>
                  <a:schemeClr val="tx1"/>
                </a:solidFill>
              </a:rPr>
              <a:t>Permissive missing</a:t>
            </a:r>
            <a:endParaRPr lang="en-US" sz="1300" dirty="0"/>
          </a:p>
          <a:p>
            <a:pPr indent="0" marL="0">
              <a:buNone/>
            </a:pPr>
            <a:r>
              <a:rPr lang="en-US" sz="1300" dirty="0">
                <a:solidFill>
                  <a:srgbClr val="4D4D4D"/>
                </a:solidFill>
              </a:rPr>
              <a:t>Orange #F08000, black text. Left of the symbol.</a:t>
            </a:r>
            <a:endParaRPr lang="en-US" sz="1300" dirty="0"/>
          </a:p>
        </p:txBody>
      </p:sp>
      <p:sp>
        <p:nvSpPr>
          <p:cNvPr id="19" name="chip I"/>
          <p:cNvSpPr txBox="1"/>
          <p:nvPr/>
        </p:nvSpPr>
        <p:spPr>
          <a:xfrm>
            <a:off x="5029200" y="3520440"/>
            <a:ext cx="548640" cy="548640"/>
          </a:xfrm>
          <a:prstGeom prst="rect">
            <a:avLst/>
          </a:prstGeom>
          <a:solidFill>
            <a:srgbClr val="C00000"/>
          </a:solidFill>
          <a:ln w="12700">
            <a:solidFill>
              <a:srgbClr val="C00000"/>
            </a:solidFill>
            <a:prstDash val="solid"/>
          </a:ln>
        </p:spPr>
        <p:txBody>
          <a:bodyPr wrap="square" lIns="0" tIns="0" rIns="0" bIns="0" rtlCol="0" anchor="ctr"/>
          <a:lstStyle/>
          <a:p>
            <a:pPr algn="ctr" indent="0" marL="0">
              <a:buNone/>
            </a:pPr>
            <a:r>
              <a:rPr lang="en-US" sz="2000" b="1" spc="100" kern="0" dirty="0">
                <a:solidFill>
                  <a:srgbClr val="FFFFFF"/>
                </a:solidFill>
                <a:latin typeface="Arial" pitchFamily="34" charset="0"/>
                <a:ea typeface="Arial" pitchFamily="34" charset="-122"/>
                <a:cs typeface="Arial" pitchFamily="34" charset="-120"/>
              </a:rPr>
              <a:t>I</a:t>
            </a:r>
            <a:endParaRPr lang="en-US" sz="2000" dirty="0"/>
          </a:p>
        </p:txBody>
      </p:sp>
      <p:sp>
        <p:nvSpPr>
          <p:cNvPr id="20" name="Text 18"/>
          <p:cNvSpPr txBox="1"/>
          <p:nvPr/>
        </p:nvSpPr>
        <p:spPr>
          <a:xfrm>
            <a:off x="5760720" y="3474720"/>
            <a:ext cx="2011680" cy="1005840"/>
          </a:xfrm>
          <a:prstGeom prst="rect">
            <a:avLst/>
          </a:prstGeom>
          <a:noFill/>
          <a:ln/>
        </p:spPr>
        <p:txBody>
          <a:bodyPr wrap="square" lIns="0" tIns="0" rIns="0" bIns="0" rtlCol="0" anchor="t"/>
          <a:lstStyle/>
          <a:p>
            <a:pPr indent="0" marL="0">
              <a:buNone/>
            </a:pPr>
            <a:r>
              <a:rPr lang="en-US" sz="1300" b="1" dirty="0">
                <a:solidFill>
                  <a:schemeClr val="tx1"/>
                </a:solidFill>
              </a:rPr>
              <a:t>Interlock active</a:t>
            </a:r>
            <a:endParaRPr lang="en-US" sz="1300" dirty="0"/>
          </a:p>
          <a:p>
            <a:pPr indent="0" marL="0">
              <a:buNone/>
            </a:pPr>
            <a:r>
              <a:rPr lang="en-US" sz="1300" dirty="0">
                <a:solidFill>
                  <a:srgbClr val="4D4D4D"/>
                </a:solidFill>
              </a:rPr>
              <a:t>Red #C00000, white text. Right of the symbol.</a:t>
            </a:r>
            <a:endParaRPr lang="en-US" sz="1300" dirty="0"/>
          </a:p>
        </p:txBody>
      </p:sp>
      <p:sp>
        <p:nvSpPr>
          <p:cNvPr id="21" name="Text 19"/>
          <p:cNvSpPr txBox="1"/>
          <p:nvPr/>
        </p:nvSpPr>
        <p:spPr>
          <a:xfrm>
            <a:off x="4983480" y="4800600"/>
            <a:ext cx="2743200" cy="457200"/>
          </a:xfrm>
          <a:prstGeom prst="rect">
            <a:avLst/>
          </a:prstGeom>
          <a:noFill/>
          <a:ln/>
        </p:spPr>
        <p:txBody>
          <a:bodyPr wrap="square" lIns="0" tIns="0" rIns="0" bIns="0" rtlCol="0" anchor="t"/>
          <a:lstStyle/>
          <a:p>
            <a:pPr indent="0" marL="0">
              <a:buNone/>
            </a:pPr>
            <a:r>
              <a:rPr lang="en-US" sz="1300" i="1" dirty="0">
                <a:solidFill>
                  <a:srgbClr val="4D4D4D"/>
                </a:solidFill>
              </a:rPr>
              <a:t>Never placed on the process line.</a:t>
            </a:r>
            <a:endParaRPr lang="en-US" sz="1300" dirty="0"/>
          </a:p>
        </p:txBody>
      </p:sp>
      <p:sp>
        <p:nvSpPr>
          <p:cNvPr id="22" name="deviations card"/>
          <p:cNvSpPr/>
          <p:nvPr/>
        </p:nvSpPr>
        <p:spPr>
          <a:xfrm>
            <a:off x="8138160" y="1463040"/>
            <a:ext cx="3474720" cy="4114800"/>
          </a:xfrm>
          <a:prstGeom prst="rect">
            <a:avLst/>
          </a:prstGeom>
          <a:solidFill>
            <a:srgbClr val="FFFFFF"/>
          </a:solidFill>
          <a:ln w="9525">
            <a:solidFill>
              <a:srgbClr val="A6A6A6"/>
            </a:solidFill>
            <a:prstDash val="solid"/>
          </a:ln>
        </p:spPr>
      </p:sp>
      <p:sp>
        <p:nvSpPr>
          <p:cNvPr id="23" name="Text 21"/>
          <p:cNvSpPr txBox="1"/>
          <p:nvPr/>
        </p:nvSpPr>
        <p:spPr>
          <a:xfrm>
            <a:off x="8366760" y="1645920"/>
            <a:ext cx="3108960" cy="365760"/>
          </a:xfrm>
          <a:prstGeom prst="rect">
            <a:avLst/>
          </a:prstGeom>
          <a:noFill/>
          <a:ln/>
        </p:spPr>
        <p:txBody>
          <a:bodyPr wrap="square" lIns="0" tIns="0" rIns="0" bIns="0" rtlCol="0" anchor="t"/>
          <a:lstStyle/>
          <a:p>
            <a:pPr indent="0" marL="0">
              <a:buNone/>
            </a:pPr>
            <a:r>
              <a:rPr lang="en-US" sz="1600" b="1" dirty="0">
                <a:solidFill>
                  <a:schemeClr val="tx1"/>
                </a:solidFill>
              </a:rPr>
              <a:t>Documented deviations</a:t>
            </a:r>
            <a:endParaRPr lang="en-US" sz="1600" dirty="0"/>
          </a:p>
        </p:txBody>
      </p:sp>
      <p:sp>
        <p:nvSpPr>
          <p:cNvPr id="24" name="Text 22"/>
          <p:cNvSpPr txBox="1"/>
          <p:nvPr/>
        </p:nvSpPr>
        <p:spPr>
          <a:xfrm>
            <a:off x="8366760" y="2103120"/>
            <a:ext cx="3063240" cy="3291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Manual M is yellow, same as Medium; it sits on a dark split chip so it never reads as an alarm</a:t>
            </a:r>
            <a:endParaRPr lang="en-US" sz="1300" dirty="0"/>
          </a:p>
          <a:p>
            <a:pPr marL="177800" indent="-177800">
              <a:spcAft>
                <a:spcPts val="600"/>
              </a:spcAft>
              <a:buSzPct val="100000"/>
              <a:buChar char="•"/>
            </a:pPr>
            <a:r>
              <a:rPr lang="en-US" sz="1300" dirty="0">
                <a:solidFill>
                  <a:schemeClr val="tx1"/>
                </a:solidFill>
              </a:rPr>
              <a:t>Fault border uses Critical red, always with FAULT text and dark fill</a:t>
            </a:r>
            <a:endParaRPr lang="en-US" sz="1300" dirty="0"/>
          </a:p>
          <a:p>
            <a:pPr marL="177800" indent="-177800">
              <a:spcAft>
                <a:spcPts val="600"/>
              </a:spcAft>
              <a:buSzPct val="100000"/>
              <a:buChar char="•"/>
            </a:pPr>
            <a:r>
              <a:rPr lang="en-US" sz="1300" dirty="0">
                <a:solidFill>
                  <a:schemeClr val="tx1"/>
                </a:solidFill>
              </a:rPr>
              <a:t>Editable blue #1F4E99 vs Low alarm #00A3E0: different hue and lightness; no other blues allowed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Style classes: one library, no inline styles</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STYLES</a:t>
            </a:r>
            <a:endParaRPr lang="en-US" sz="1000" dirty="0"/>
          </a:p>
        </p:txBody>
      </p:sp>
      <p:sp>
        <p:nvSpPr>
          <p:cNvPr id="4" name="code card"/>
          <p:cNvSpPr/>
          <p:nvPr/>
        </p:nvSpPr>
        <p:spPr>
          <a:xfrm>
            <a:off x="548640" y="1463040"/>
            <a:ext cx="5486400" cy="2103120"/>
          </a:xfrm>
          <a:prstGeom prst="rect">
            <a:avLst/>
          </a:prstGeom>
          <a:solidFill>
            <a:srgbClr val="3A3A3A"/>
          </a:solidFill>
          <a:ln w="9525">
            <a:solidFill>
              <a:srgbClr val="3A3A3A"/>
            </a:solidFill>
            <a:prstDash val="solid"/>
          </a:ln>
        </p:spPr>
      </p:sp>
      <p:sp>
        <p:nvSpPr>
          <p:cNvPr id="5" name="Text 3"/>
          <p:cNvSpPr txBox="1"/>
          <p:nvPr/>
        </p:nvSpPr>
        <p:spPr>
          <a:xfrm>
            <a:off x="777240" y="1645920"/>
            <a:ext cx="5120640" cy="1828800"/>
          </a:xfrm>
          <a:prstGeom prst="rect">
            <a:avLst/>
          </a:prstGeom>
          <a:noFill/>
          <a:ln/>
        </p:spPr>
        <p:txBody>
          <a:bodyPr wrap="square" lIns="0" tIns="0" rIns="0" bIns="0" rtlCol="0" anchor="t"/>
          <a:lstStyle/>
          <a:p>
            <a:pPr indent="0" marL="0">
              <a:buNone/>
            </a:pPr>
            <a:r>
              <a:rPr lang="en-US" sz="1300" dirty="0">
                <a:solidFill>
                  <a:srgbClr val="9E9E9E"/>
                </a:solidFill>
                <a:latin typeface="Courier New" pitchFamily="34" charset="0"/>
                <a:ea typeface="Courier New" pitchFamily="34" charset="-122"/>
                <a:cs typeface="Courier New" pitchFamily="34" charset="-120"/>
              </a:rPr>
              <a:t>props.style.classes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"Text/Value Text/Mod/Right"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9E9E9E"/>
                </a:solidFill>
                <a:latin typeface="Courier New" pitchFamily="34" charset="0"/>
                <a:ea typeface="Courier New" pitchFamily="34" charset="-122"/>
                <a:cs typeface="Courier New" pitchFamily="34" charset="-120"/>
              </a:rPr>
              <a:t>// bind the class to the state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if({[.]Fault}, "State/Fault",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if({[.]Run}, "State/Running", "State/Stopped"))</a:t>
            </a:r>
            <a:endParaRPr lang="en-US" sz="1300" dirty="0"/>
          </a:p>
        </p:txBody>
      </p:sp>
      <p:sp>
        <p:nvSpPr>
          <p:cNvPr id="6" name="Text 4"/>
          <p:cNvSpPr txBox="1"/>
          <p:nvPr/>
        </p:nvSpPr>
        <p:spPr>
          <a:xfrm>
            <a:off x="548640" y="3840480"/>
            <a:ext cx="548640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Look comes from EFC_Styles classes only; generators move any static inline style into a class (decision 28)</a:t>
            </a:r>
            <a:endParaRPr lang="en-US" sz="1500" dirty="0"/>
          </a:p>
          <a:p>
            <a:pPr marL="177800" indent="-177800">
              <a:spcAft>
                <a:spcPts val="600"/>
              </a:spcAft>
              <a:buSzPct val="100000"/>
              <a:buChar char="•"/>
            </a:pPr>
            <a:r>
              <a:rPr lang="en-US" sz="1500" dirty="0">
                <a:solidFill>
                  <a:schemeClr val="tx1"/>
                </a:solidFill>
              </a:rPr>
              <a:t>Change a color once in the generator and every view follows</a:t>
            </a:r>
            <a:endParaRPr lang="en-US" sz="1500" dirty="0"/>
          </a:p>
          <a:p>
            <a:pPr marL="177800" indent="-177800">
              <a:spcAft>
                <a:spcPts val="600"/>
              </a:spcAft>
              <a:buSzPct val="100000"/>
              <a:buChar char="•"/>
            </a:pPr>
            <a:r>
              <a:rPr lang="en-US" sz="1500" dirty="0">
                <a:solidFill>
                  <a:schemeClr val="tx1"/>
                </a:solidFill>
              </a:rPr>
              <a:t>Folders: Text/, Container/, Button/, State/, Mode/, Indicator/, Alarm/, Util/</a:t>
            </a:r>
            <a:endParaRPr lang="en-US" sz="1500" dirty="0"/>
          </a:p>
        </p:txBody>
      </p:sp>
      <p:sp>
        <p:nvSpPr>
          <p:cNvPr id="7" name="Text 5"/>
          <p:cNvSpPr txBox="1"/>
          <p:nvPr/>
        </p:nvSpPr>
        <p:spPr>
          <a:xfrm>
            <a:off x="6492240" y="1463040"/>
            <a:ext cx="5120640" cy="365760"/>
          </a:xfrm>
          <a:prstGeom prst="rect">
            <a:avLst/>
          </a:prstGeom>
          <a:noFill/>
          <a:ln/>
        </p:spPr>
        <p:txBody>
          <a:bodyPr wrap="square" lIns="0" tIns="0" rIns="0" bIns="0" rtlCol="0" anchor="t"/>
          <a:lstStyle/>
          <a:p>
            <a:pPr indent="0" marL="0">
              <a:buNone/>
            </a:pPr>
            <a:r>
              <a:rPr lang="en-US" sz="1600" b="1" dirty="0">
                <a:solidFill>
                  <a:schemeClr val="tx1"/>
                </a:solidFill>
              </a:rPr>
              <a:t>Type scale (px at 1080p, sized in vh)</a:t>
            </a:r>
            <a:endParaRPr lang="en-US" sz="1600" dirty="0"/>
          </a:p>
        </p:txBody>
      </p:sp>
      <p:sp>
        <p:nvSpPr>
          <p:cNvPr id="8" name="Text 6"/>
          <p:cNvSpPr txBox="1"/>
          <p:nvPr/>
        </p:nvSpPr>
        <p:spPr>
          <a:xfrm>
            <a:off x="6492240" y="19202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XXS</a:t>
            </a:r>
            <a:endParaRPr lang="en-US" sz="1200" dirty="0"/>
          </a:p>
        </p:txBody>
      </p:sp>
      <p:sp>
        <p:nvSpPr>
          <p:cNvPr id="9" name="Text 7"/>
          <p:cNvSpPr txBox="1"/>
          <p:nvPr/>
        </p:nvSpPr>
        <p:spPr>
          <a:xfrm>
            <a:off x="7223760" y="1920240"/>
            <a:ext cx="914400" cy="411480"/>
          </a:xfrm>
          <a:prstGeom prst="rect">
            <a:avLst/>
          </a:prstGeom>
          <a:noFill/>
          <a:ln/>
        </p:spPr>
        <p:txBody>
          <a:bodyPr wrap="square" lIns="0" tIns="0" rIns="0" bIns="0" rtlCol="0" anchor="ctr"/>
          <a:lstStyle/>
          <a:p>
            <a:pPr indent="0" marL="0">
              <a:buNone/>
            </a:pPr>
            <a:r>
              <a:rPr lang="en-US" sz="900" dirty="0">
                <a:solidFill>
                  <a:schemeClr val="tx1"/>
                </a:solidFill>
              </a:rPr>
              <a:t>Aa</a:t>
            </a:r>
            <a:endParaRPr lang="en-US" sz="900" dirty="0"/>
          </a:p>
        </p:txBody>
      </p:sp>
      <p:sp>
        <p:nvSpPr>
          <p:cNvPr id="10" name="Text 8"/>
          <p:cNvSpPr txBox="1"/>
          <p:nvPr/>
        </p:nvSpPr>
        <p:spPr>
          <a:xfrm>
            <a:off x="8229600" y="19202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10 px  |  Micro</a:t>
            </a:r>
            <a:endParaRPr lang="en-US" sz="1300" dirty="0"/>
          </a:p>
        </p:txBody>
      </p:sp>
      <p:sp>
        <p:nvSpPr>
          <p:cNvPr id="11" name="Text 9"/>
          <p:cNvSpPr txBox="1"/>
          <p:nvPr/>
        </p:nvSpPr>
        <p:spPr>
          <a:xfrm>
            <a:off x="6492240" y="23774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XS</a:t>
            </a:r>
            <a:endParaRPr lang="en-US" sz="1200" dirty="0"/>
          </a:p>
        </p:txBody>
      </p:sp>
      <p:sp>
        <p:nvSpPr>
          <p:cNvPr id="12" name="Text 10"/>
          <p:cNvSpPr txBox="1"/>
          <p:nvPr/>
        </p:nvSpPr>
        <p:spPr>
          <a:xfrm>
            <a:off x="7223760" y="2377440"/>
            <a:ext cx="914400" cy="411480"/>
          </a:xfrm>
          <a:prstGeom prst="rect">
            <a:avLst/>
          </a:prstGeom>
          <a:noFill/>
          <a:ln/>
        </p:spPr>
        <p:txBody>
          <a:bodyPr wrap="square" lIns="0" tIns="0" rIns="0" bIns="0" rtlCol="0" anchor="ctr"/>
          <a:lstStyle/>
          <a:p>
            <a:pPr indent="0" marL="0">
              <a:buNone/>
            </a:pPr>
            <a:r>
              <a:rPr lang="en-US" sz="1000" dirty="0">
                <a:solidFill>
                  <a:schemeClr val="tx1"/>
                </a:solidFill>
              </a:rPr>
              <a:t>Aa</a:t>
            </a:r>
            <a:endParaRPr lang="en-US" sz="1000" dirty="0"/>
          </a:p>
        </p:txBody>
      </p:sp>
      <p:sp>
        <p:nvSpPr>
          <p:cNvPr id="13" name="Text 11"/>
          <p:cNvSpPr txBox="1"/>
          <p:nvPr/>
        </p:nvSpPr>
        <p:spPr>
          <a:xfrm>
            <a:off x="8229600" y="23774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11 px  |  Status, Units</a:t>
            </a:r>
            <a:endParaRPr lang="en-US" sz="1300" dirty="0"/>
          </a:p>
        </p:txBody>
      </p:sp>
      <p:sp>
        <p:nvSpPr>
          <p:cNvPr id="14" name="Text 12"/>
          <p:cNvSpPr txBox="1"/>
          <p:nvPr/>
        </p:nvSpPr>
        <p:spPr>
          <a:xfrm>
            <a:off x="6492240" y="28346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S</a:t>
            </a:r>
            <a:endParaRPr lang="en-US" sz="1200" dirty="0"/>
          </a:p>
        </p:txBody>
      </p:sp>
      <p:sp>
        <p:nvSpPr>
          <p:cNvPr id="15" name="Text 13"/>
          <p:cNvSpPr txBox="1"/>
          <p:nvPr/>
        </p:nvSpPr>
        <p:spPr>
          <a:xfrm>
            <a:off x="7223760" y="2834640"/>
            <a:ext cx="914400" cy="411480"/>
          </a:xfrm>
          <a:prstGeom prst="rect">
            <a:avLst/>
          </a:prstGeom>
          <a:noFill/>
          <a:ln/>
        </p:spPr>
        <p:txBody>
          <a:bodyPr wrap="square" lIns="0" tIns="0" rIns="0" bIns="0" rtlCol="0" anchor="ctr"/>
          <a:lstStyle/>
          <a:p>
            <a:pPr indent="0" marL="0">
              <a:buNone/>
            </a:pPr>
            <a:r>
              <a:rPr lang="en-US" sz="1100" dirty="0">
                <a:solidFill>
                  <a:schemeClr val="tx1"/>
                </a:solidFill>
              </a:rPr>
              <a:t>Aa</a:t>
            </a:r>
            <a:endParaRPr lang="en-US" sz="1100" dirty="0"/>
          </a:p>
        </p:txBody>
      </p:sp>
      <p:sp>
        <p:nvSpPr>
          <p:cNvPr id="16" name="Text 14"/>
          <p:cNvSpPr txBox="1"/>
          <p:nvPr/>
        </p:nvSpPr>
        <p:spPr>
          <a:xfrm>
            <a:off x="8229600" y="28346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12 px  |  TagName, Label</a:t>
            </a:r>
            <a:endParaRPr lang="en-US" sz="1300" dirty="0"/>
          </a:p>
        </p:txBody>
      </p:sp>
      <p:sp>
        <p:nvSpPr>
          <p:cNvPr id="17" name="Text 15"/>
          <p:cNvSpPr txBox="1"/>
          <p:nvPr/>
        </p:nvSpPr>
        <p:spPr>
          <a:xfrm>
            <a:off x="6492240" y="32918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M</a:t>
            </a:r>
            <a:endParaRPr lang="en-US" sz="1200" dirty="0"/>
          </a:p>
        </p:txBody>
      </p:sp>
      <p:sp>
        <p:nvSpPr>
          <p:cNvPr id="18" name="Text 16"/>
          <p:cNvSpPr txBox="1"/>
          <p:nvPr/>
        </p:nvSpPr>
        <p:spPr>
          <a:xfrm>
            <a:off x="7223760" y="3291840"/>
            <a:ext cx="914400" cy="411480"/>
          </a:xfrm>
          <a:prstGeom prst="rect">
            <a:avLst/>
          </a:prstGeom>
          <a:noFill/>
          <a:ln/>
        </p:spPr>
        <p:txBody>
          <a:bodyPr wrap="square" lIns="0" tIns="0" rIns="0" bIns="0" rtlCol="0" anchor="ctr"/>
          <a:lstStyle/>
          <a:p>
            <a:pPr indent="0" marL="0">
              <a:buNone/>
            </a:pPr>
            <a:r>
              <a:rPr lang="en-US" sz="1300" dirty="0">
                <a:solidFill>
                  <a:schemeClr val="tx1"/>
                </a:solidFill>
              </a:rPr>
              <a:t>Aa</a:t>
            </a:r>
            <a:endParaRPr lang="en-US" sz="1300" dirty="0"/>
          </a:p>
        </p:txBody>
      </p:sp>
      <p:sp>
        <p:nvSpPr>
          <p:cNvPr id="19" name="Text 17"/>
          <p:cNvSpPr txBox="1"/>
          <p:nvPr/>
        </p:nvSpPr>
        <p:spPr>
          <a:xfrm>
            <a:off x="8229600" y="32918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14 px  |  Body, Value</a:t>
            </a:r>
            <a:endParaRPr lang="en-US" sz="1300" dirty="0"/>
          </a:p>
        </p:txBody>
      </p:sp>
      <p:sp>
        <p:nvSpPr>
          <p:cNvPr id="20" name="Text 18"/>
          <p:cNvSpPr txBox="1"/>
          <p:nvPr/>
        </p:nvSpPr>
        <p:spPr>
          <a:xfrm>
            <a:off x="6492240" y="37490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L</a:t>
            </a:r>
            <a:endParaRPr lang="en-US" sz="1200" dirty="0"/>
          </a:p>
        </p:txBody>
      </p:sp>
      <p:sp>
        <p:nvSpPr>
          <p:cNvPr id="21" name="Text 19"/>
          <p:cNvSpPr txBox="1"/>
          <p:nvPr/>
        </p:nvSpPr>
        <p:spPr>
          <a:xfrm>
            <a:off x="7223760" y="3749040"/>
            <a:ext cx="914400" cy="411480"/>
          </a:xfrm>
          <a:prstGeom prst="rect">
            <a:avLst/>
          </a:prstGeom>
          <a:noFill/>
          <a:ln/>
        </p:spPr>
        <p:txBody>
          <a:bodyPr wrap="square" lIns="0" tIns="0" rIns="0" bIns="0" rtlCol="0" anchor="ctr"/>
          <a:lstStyle/>
          <a:p>
            <a:pPr indent="0" marL="0">
              <a:buNone/>
            </a:pPr>
            <a:r>
              <a:rPr lang="en-US" sz="1400" dirty="0">
                <a:solidFill>
                  <a:schemeClr val="tx1"/>
                </a:solidFill>
              </a:rPr>
              <a:t>Aa</a:t>
            </a:r>
            <a:endParaRPr lang="en-US" sz="1400" dirty="0"/>
          </a:p>
        </p:txBody>
      </p:sp>
      <p:sp>
        <p:nvSpPr>
          <p:cNvPr id="22" name="Text 20"/>
          <p:cNvSpPr txBox="1"/>
          <p:nvPr/>
        </p:nvSpPr>
        <p:spPr>
          <a:xfrm>
            <a:off x="8229600" y="37490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16 px  |  Subheader</a:t>
            </a:r>
            <a:endParaRPr lang="en-US" sz="1300" dirty="0"/>
          </a:p>
        </p:txBody>
      </p:sp>
      <p:sp>
        <p:nvSpPr>
          <p:cNvPr id="23" name="Text 21"/>
          <p:cNvSpPr txBox="1"/>
          <p:nvPr/>
        </p:nvSpPr>
        <p:spPr>
          <a:xfrm>
            <a:off x="6492240" y="42062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XL</a:t>
            </a:r>
            <a:endParaRPr lang="en-US" sz="1200" dirty="0"/>
          </a:p>
        </p:txBody>
      </p:sp>
      <p:sp>
        <p:nvSpPr>
          <p:cNvPr id="24" name="Text 22"/>
          <p:cNvSpPr txBox="1"/>
          <p:nvPr/>
        </p:nvSpPr>
        <p:spPr>
          <a:xfrm>
            <a:off x="7223760" y="4206240"/>
            <a:ext cx="914400" cy="411480"/>
          </a:xfrm>
          <a:prstGeom prst="rect">
            <a:avLst/>
          </a:prstGeom>
          <a:noFill/>
          <a:ln/>
        </p:spPr>
        <p:txBody>
          <a:bodyPr wrap="square" lIns="0" tIns="0" rIns="0" bIns="0" rtlCol="0" anchor="ctr"/>
          <a:lstStyle/>
          <a:p>
            <a:pPr indent="0" marL="0">
              <a:buNone/>
            </a:pPr>
            <a:r>
              <a:rPr lang="en-US" sz="1800" dirty="0">
                <a:solidFill>
                  <a:schemeClr val="tx1"/>
                </a:solidFill>
              </a:rPr>
              <a:t>Aa</a:t>
            </a:r>
            <a:endParaRPr lang="en-US" sz="1800" dirty="0"/>
          </a:p>
        </p:txBody>
      </p:sp>
      <p:sp>
        <p:nvSpPr>
          <p:cNvPr id="25" name="Text 23"/>
          <p:cNvSpPr txBox="1"/>
          <p:nvPr/>
        </p:nvSpPr>
        <p:spPr>
          <a:xfrm>
            <a:off x="8229600" y="42062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20 px  |  Header</a:t>
            </a:r>
            <a:endParaRPr lang="en-US" sz="1300" dirty="0"/>
          </a:p>
        </p:txBody>
      </p:sp>
      <p:sp>
        <p:nvSpPr>
          <p:cNvPr id="26" name="Text 24"/>
          <p:cNvSpPr txBox="1"/>
          <p:nvPr/>
        </p:nvSpPr>
        <p:spPr>
          <a:xfrm>
            <a:off x="6492240" y="46634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XXL</a:t>
            </a:r>
            <a:endParaRPr lang="en-US" sz="1200" dirty="0"/>
          </a:p>
        </p:txBody>
      </p:sp>
      <p:sp>
        <p:nvSpPr>
          <p:cNvPr id="27" name="Text 25"/>
          <p:cNvSpPr txBox="1"/>
          <p:nvPr/>
        </p:nvSpPr>
        <p:spPr>
          <a:xfrm>
            <a:off x="7223760" y="4663440"/>
            <a:ext cx="914400" cy="411480"/>
          </a:xfrm>
          <a:prstGeom prst="rect">
            <a:avLst/>
          </a:prstGeom>
          <a:noFill/>
          <a:ln/>
        </p:spPr>
        <p:txBody>
          <a:bodyPr wrap="square" lIns="0" tIns="0" rIns="0" bIns="0" rtlCol="0" anchor="ctr"/>
          <a:lstStyle/>
          <a:p>
            <a:pPr indent="0" marL="0">
              <a:buNone/>
            </a:pPr>
            <a:r>
              <a:rPr lang="en-US" sz="2200" dirty="0">
                <a:solidFill>
                  <a:schemeClr val="tx1"/>
                </a:solidFill>
              </a:rPr>
              <a:t>Aa</a:t>
            </a:r>
            <a:endParaRPr lang="en-US" sz="2200" dirty="0"/>
          </a:p>
        </p:txBody>
      </p:sp>
      <p:sp>
        <p:nvSpPr>
          <p:cNvPr id="28" name="Text 26"/>
          <p:cNvSpPr txBox="1"/>
          <p:nvPr/>
        </p:nvSpPr>
        <p:spPr>
          <a:xfrm>
            <a:off x="8229600" y="46634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24 px  |  Title</a:t>
            </a:r>
            <a:endParaRPr lang="en-US" sz="1300" dirty="0"/>
          </a:p>
        </p:txBody>
      </p:sp>
      <p:sp>
        <p:nvSpPr>
          <p:cNvPr id="29" name="Text 27"/>
          <p:cNvSpPr txBox="1"/>
          <p:nvPr/>
        </p:nvSpPr>
        <p:spPr>
          <a:xfrm>
            <a:off x="6492240" y="5120640"/>
            <a:ext cx="731520" cy="411480"/>
          </a:xfrm>
          <a:prstGeom prst="rect">
            <a:avLst/>
          </a:prstGeom>
          <a:noFill/>
          <a:ln/>
        </p:spPr>
        <p:txBody>
          <a:bodyPr wrap="square" lIns="0" tIns="0" rIns="0" bIns="0" rtlCol="0" anchor="ctr"/>
          <a:lstStyle/>
          <a:p>
            <a:pPr indent="0" marL="0">
              <a:buNone/>
            </a:pPr>
            <a:r>
              <a:rPr lang="en-US" sz="1200" b="1" dirty="0">
                <a:solidFill>
                  <a:srgbClr val="4D4D4D"/>
                </a:solidFill>
              </a:rPr>
              <a:t>XXXL</a:t>
            </a:r>
            <a:endParaRPr lang="en-US" sz="1200" dirty="0"/>
          </a:p>
        </p:txBody>
      </p:sp>
      <p:sp>
        <p:nvSpPr>
          <p:cNvPr id="30" name="Text 28"/>
          <p:cNvSpPr txBox="1"/>
          <p:nvPr/>
        </p:nvSpPr>
        <p:spPr>
          <a:xfrm>
            <a:off x="7223760" y="5120640"/>
            <a:ext cx="914400" cy="411480"/>
          </a:xfrm>
          <a:prstGeom prst="rect">
            <a:avLst/>
          </a:prstGeom>
          <a:noFill/>
          <a:ln/>
        </p:spPr>
        <p:txBody>
          <a:bodyPr wrap="square" lIns="0" tIns="0" rIns="0" bIns="0" rtlCol="0" anchor="ctr"/>
          <a:lstStyle/>
          <a:p>
            <a:pPr indent="0" marL="0">
              <a:buNone/>
            </a:pPr>
            <a:r>
              <a:rPr lang="en-US" sz="2900" dirty="0">
                <a:solidFill>
                  <a:schemeClr val="tx1"/>
                </a:solidFill>
              </a:rPr>
              <a:t>Aa</a:t>
            </a:r>
            <a:endParaRPr lang="en-US" sz="2900" dirty="0"/>
          </a:p>
        </p:txBody>
      </p:sp>
      <p:sp>
        <p:nvSpPr>
          <p:cNvPr id="31" name="Text 29"/>
          <p:cNvSpPr txBox="1"/>
          <p:nvPr/>
        </p:nvSpPr>
        <p:spPr>
          <a:xfrm>
            <a:off x="8229600" y="5120640"/>
            <a:ext cx="3291840" cy="411480"/>
          </a:xfrm>
          <a:prstGeom prst="rect">
            <a:avLst/>
          </a:prstGeom>
          <a:noFill/>
          <a:ln/>
        </p:spPr>
        <p:txBody>
          <a:bodyPr wrap="square" lIns="0" tIns="0" rIns="0" bIns="0" rtlCol="0" anchor="ctr"/>
          <a:lstStyle/>
          <a:p>
            <a:pPr indent="0" marL="0">
              <a:buNone/>
            </a:pPr>
            <a:r>
              <a:rPr lang="en-US" sz="1300" dirty="0">
                <a:solidFill>
                  <a:srgbClr val="4D4D4D"/>
                </a:solidFill>
              </a:rPr>
              <a:t>32 px  |  ValueHero</a:t>
            </a:r>
            <a:endParaRPr lang="en-US" sz="1300" dirty="0"/>
          </a:p>
        </p:txBody>
      </p:sp>
      <p:sp>
        <p:nvSpPr>
          <p:cNvPr id="32" name="Text 30"/>
          <p:cNvSpPr txBox="1"/>
          <p:nvPr/>
        </p:nvSpPr>
        <p:spPr>
          <a:xfrm>
            <a:off x="6492240" y="5669280"/>
            <a:ext cx="5120640" cy="320040"/>
          </a:xfrm>
          <a:prstGeom prst="rect">
            <a:avLst/>
          </a:prstGeom>
          <a:noFill/>
          <a:ln/>
        </p:spPr>
        <p:txBody>
          <a:bodyPr wrap="square" lIns="0" tIns="0" rIns="0" bIns="0" rtlCol="0" anchor="t"/>
          <a:lstStyle/>
          <a:p>
            <a:pPr indent="0" marL="0">
              <a:buNone/>
            </a:pPr>
            <a:r>
              <a:rPr lang="en-US" sz="1300" i="1" dirty="0">
                <a:solidFill>
                  <a:srgbClr val="4D4D4D"/>
                </a:solidFill>
              </a:rPr>
              <a:t>1080p = 1x, 1440p = 1.33x, 2160p = 2x</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Anatomy of a device template</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TEMPLATES</a:t>
            </a:r>
            <a:endParaRPr lang="en-US" sz="1000" dirty="0"/>
          </a:p>
        </p:txBody>
      </p:sp>
      <p:sp>
        <p:nvSpPr>
          <p:cNvPr id="4" name="template stage"/>
          <p:cNvSpPr/>
          <p:nvPr/>
        </p:nvSpPr>
        <p:spPr>
          <a:xfrm>
            <a:off x="548640" y="1463040"/>
            <a:ext cx="5669280" cy="4480560"/>
          </a:xfrm>
          <a:prstGeom prst="rect">
            <a:avLst/>
          </a:prstGeom>
          <a:solidFill>
            <a:srgbClr val="D9D9D9"/>
          </a:solidFill>
          <a:ln w="9525">
            <a:solidFill>
              <a:srgbClr val="D9D9D9"/>
            </a:solidFill>
            <a:prstDash val="solid"/>
          </a:ln>
        </p:spPr>
      </p:sp>
      <p:pic>
        <p:nvPicPr>
          <p:cNvPr id="5" name="img xv102.png" descr="XV-102 solenoid valve template: tag above, P badge, closed status chip and manual command button">    </p:cNvPr>
          <p:cNvPicPr>
            <a:picLocks noChangeAspect="1"/>
          </p:cNvPicPr>
          <p:nvPr/>
        </p:nvPicPr>
        <p:blipFill>
          <a:blip r:embed="rId1"/>
          <a:stretch>
            <a:fillRect/>
          </a:stretch>
        </p:blipFill>
        <p:spPr>
          <a:xfrm>
            <a:off x="822960" y="1963615"/>
            <a:ext cx="5120640" cy="3479409"/>
          </a:xfrm>
          <a:prstGeom prst="rect">
            <a:avLst/>
          </a:prstGeom>
        </p:spPr>
      </p:pic>
      <p:sp>
        <p:nvSpPr>
          <p:cNvPr id="6" name="callout 1"/>
          <p:cNvSpPr/>
          <p:nvPr/>
        </p:nvSpPr>
        <p:spPr>
          <a:xfrm>
            <a:off x="6583680" y="1508760"/>
            <a:ext cx="384048" cy="384048"/>
          </a:xfrm>
          <a:prstGeom prst="ellipse">
            <a:avLst/>
          </a:prstGeom>
          <a:solidFill>
            <a:srgbClr val="3A3A3A"/>
          </a:solidFill>
          <a:ln w="12700">
            <a:solidFill>
              <a:srgbClr val="3A3A3A"/>
            </a:solidFill>
            <a:prstDash val="solid"/>
          </a:ln>
        </p:spPr>
      </p:sp>
      <p:sp>
        <p:nvSpPr>
          <p:cNvPr id="7" name="Text 4"/>
          <p:cNvSpPr txBox="1"/>
          <p:nvPr/>
        </p:nvSpPr>
        <p:spPr>
          <a:xfrm>
            <a:off x="658368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7132320" y="1463040"/>
            <a:ext cx="4480560" cy="713232"/>
          </a:xfrm>
          <a:prstGeom prst="rect">
            <a:avLst/>
          </a:prstGeom>
          <a:noFill/>
          <a:ln/>
        </p:spPr>
        <p:txBody>
          <a:bodyPr wrap="square" lIns="0" tIns="0" rIns="0" bIns="0" rtlCol="0" anchor="t"/>
          <a:lstStyle/>
          <a:p>
            <a:pPr indent="0" marL="0">
              <a:buNone/>
            </a:pPr>
            <a:r>
              <a:rPr lang="en-US" sz="1500" b="1" dirty="0">
                <a:solidFill>
                  <a:schemeClr val="tx1"/>
                </a:solidFill>
              </a:rPr>
              <a:t>Tag name above</a:t>
            </a:r>
            <a:endParaRPr lang="en-US" sz="1500" dirty="0"/>
          </a:p>
          <a:p>
            <a:pPr indent="0" marL="0">
              <a:buNone/>
            </a:pPr>
            <a:r>
              <a:rPr lang="en-US" sz="1300" dirty="0">
                <a:solidFill>
                  <a:srgbClr val="4D4D4D"/>
                </a:solidFill>
              </a:rPr>
              <a:t>From the type's tag; description shows as tooltip</a:t>
            </a:r>
            <a:endParaRPr lang="en-US" sz="1500" dirty="0"/>
          </a:p>
        </p:txBody>
      </p:sp>
      <p:sp>
        <p:nvSpPr>
          <p:cNvPr id="9" name="callout 2"/>
          <p:cNvSpPr/>
          <p:nvPr/>
        </p:nvSpPr>
        <p:spPr>
          <a:xfrm>
            <a:off x="6583680" y="2258568"/>
            <a:ext cx="384048" cy="384048"/>
          </a:xfrm>
          <a:prstGeom prst="ellipse">
            <a:avLst/>
          </a:prstGeom>
          <a:solidFill>
            <a:srgbClr val="3A3A3A"/>
          </a:solidFill>
          <a:ln w="12700">
            <a:solidFill>
              <a:srgbClr val="3A3A3A"/>
            </a:solidFill>
            <a:prstDash val="solid"/>
          </a:ln>
        </p:spPr>
      </p:sp>
      <p:sp>
        <p:nvSpPr>
          <p:cNvPr id="10" name="Text 7"/>
          <p:cNvSpPr txBox="1"/>
          <p:nvPr/>
        </p:nvSpPr>
        <p:spPr>
          <a:xfrm>
            <a:off x="6583680" y="2258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7132320" y="2212848"/>
            <a:ext cx="4480560" cy="713232"/>
          </a:xfrm>
          <a:prstGeom prst="rect">
            <a:avLst/>
          </a:prstGeom>
          <a:noFill/>
          <a:ln/>
        </p:spPr>
        <p:txBody>
          <a:bodyPr wrap="square" lIns="0" tIns="0" rIns="0" bIns="0" rtlCol="0" anchor="t"/>
          <a:lstStyle/>
          <a:p>
            <a:pPr indent="0" marL="0">
              <a:buNone/>
            </a:pPr>
            <a:r>
              <a:rPr lang="en-US" sz="1500" b="1" dirty="0">
                <a:solidFill>
                  <a:schemeClr val="tx1"/>
                </a:solidFill>
              </a:rPr>
              <a:t>Status chip below</a:t>
            </a:r>
            <a:endParaRPr lang="en-US" sz="1500" dirty="0"/>
          </a:p>
          <a:p>
            <a:pPr indent="0" marL="0">
              <a:buNone/>
            </a:pPr>
            <a:r>
              <a:rPr lang="en-US" sz="1300" dirty="0">
                <a:solidFill>
                  <a:srgbClr val="4D4D4D"/>
                </a:solidFill>
              </a:rPr>
              <a:t>Centered on the symbol centerline: OPEN, CLOSED, RUNNING, FAULT, NN %</a:t>
            </a:r>
            <a:endParaRPr lang="en-US" sz="1500" dirty="0"/>
          </a:p>
        </p:txBody>
      </p:sp>
      <p:sp>
        <p:nvSpPr>
          <p:cNvPr id="12" name="callout 3"/>
          <p:cNvSpPr/>
          <p:nvPr/>
        </p:nvSpPr>
        <p:spPr>
          <a:xfrm>
            <a:off x="6583680" y="3008376"/>
            <a:ext cx="384048" cy="384048"/>
          </a:xfrm>
          <a:prstGeom prst="ellipse">
            <a:avLst/>
          </a:prstGeom>
          <a:solidFill>
            <a:srgbClr val="3A3A3A"/>
          </a:solidFill>
          <a:ln w="12700">
            <a:solidFill>
              <a:srgbClr val="3A3A3A"/>
            </a:solidFill>
            <a:prstDash val="solid"/>
          </a:ln>
        </p:spPr>
      </p:sp>
      <p:sp>
        <p:nvSpPr>
          <p:cNvPr id="13" name="Text 10"/>
          <p:cNvSpPr txBox="1"/>
          <p:nvPr/>
        </p:nvSpPr>
        <p:spPr>
          <a:xfrm>
            <a:off x="6583680" y="3008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7132320" y="2962656"/>
            <a:ext cx="4480560" cy="713232"/>
          </a:xfrm>
          <a:prstGeom prst="rect">
            <a:avLst/>
          </a:prstGeom>
          <a:noFill/>
          <a:ln/>
        </p:spPr>
        <p:txBody>
          <a:bodyPr wrap="square" lIns="0" tIns="0" rIns="0" bIns="0" rtlCol="0" anchor="t"/>
          <a:lstStyle/>
          <a:p>
            <a:pPr indent="0" marL="0">
              <a:buNone/>
            </a:pPr>
            <a:r>
              <a:rPr lang="en-US" sz="1500" b="1" dirty="0">
                <a:solidFill>
                  <a:schemeClr val="tx1"/>
                </a:solidFill>
              </a:rPr>
              <a:t>P left, I right</a:t>
            </a:r>
            <a:endParaRPr lang="en-US" sz="1500" dirty="0"/>
          </a:p>
          <a:p>
            <a:pPr indent="0" marL="0">
              <a:buNone/>
            </a:pPr>
            <a:r>
              <a:rPr lang="en-US" sz="1300" dirty="0">
                <a:solidFill>
                  <a:srgbClr val="4D4D4D"/>
                </a:solidFill>
              </a:rPr>
              <a:t>Beside the actuator on valves, above the ports on pumps</a:t>
            </a:r>
            <a:endParaRPr lang="en-US" sz="1500" dirty="0"/>
          </a:p>
        </p:txBody>
      </p:sp>
      <p:sp>
        <p:nvSpPr>
          <p:cNvPr id="15" name="callout 4"/>
          <p:cNvSpPr/>
          <p:nvPr/>
        </p:nvSpPr>
        <p:spPr>
          <a:xfrm>
            <a:off x="6583680" y="3758184"/>
            <a:ext cx="384048" cy="384048"/>
          </a:xfrm>
          <a:prstGeom prst="ellipse">
            <a:avLst/>
          </a:prstGeom>
          <a:solidFill>
            <a:srgbClr val="3A3A3A"/>
          </a:solidFill>
          <a:ln w="12700">
            <a:solidFill>
              <a:srgbClr val="3A3A3A"/>
            </a:solidFill>
            <a:prstDash val="solid"/>
          </a:ln>
        </p:spPr>
      </p:sp>
      <p:sp>
        <p:nvSpPr>
          <p:cNvPr id="16" name="Text 13"/>
          <p:cNvSpPr txBox="1"/>
          <p:nvPr/>
        </p:nvSpPr>
        <p:spPr>
          <a:xfrm>
            <a:off x="6583680" y="3758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4"/>
          <p:cNvSpPr txBox="1"/>
          <p:nvPr/>
        </p:nvSpPr>
        <p:spPr>
          <a:xfrm>
            <a:off x="7132320" y="3712464"/>
            <a:ext cx="4480560" cy="713232"/>
          </a:xfrm>
          <a:prstGeom prst="rect">
            <a:avLst/>
          </a:prstGeom>
          <a:noFill/>
          <a:ln/>
        </p:spPr>
        <p:txBody>
          <a:bodyPr wrap="square" lIns="0" tIns="0" rIns="0" bIns="0" rtlCol="0" anchor="t"/>
          <a:lstStyle/>
          <a:p>
            <a:pPr indent="0" marL="0">
              <a:buNone/>
            </a:pPr>
            <a:r>
              <a:rPr lang="en-US" sz="1500" b="1" dirty="0">
                <a:solidFill>
                  <a:schemeClr val="tx1"/>
                </a:solidFill>
              </a:rPr>
              <a:t>Command button</a:t>
            </a:r>
            <a:endParaRPr lang="en-US" sz="1500" dirty="0"/>
          </a:p>
          <a:p>
            <a:pPr indent="0" marL="0">
              <a:buNone/>
            </a:pPr>
            <a:r>
              <a:rPr lang="en-US" sz="1300" dirty="0">
                <a:solidFill>
                  <a:srgbClr val="4D4D4D"/>
                </a:solidFill>
              </a:rPr>
              <a:t>Blank square, bottom left, only visible in Manual</a:t>
            </a:r>
            <a:endParaRPr lang="en-US" sz="1500" dirty="0"/>
          </a:p>
        </p:txBody>
      </p:sp>
      <p:sp>
        <p:nvSpPr>
          <p:cNvPr id="18" name="callout 5"/>
          <p:cNvSpPr/>
          <p:nvPr/>
        </p:nvSpPr>
        <p:spPr>
          <a:xfrm>
            <a:off x="6583680" y="4507992"/>
            <a:ext cx="384048" cy="384048"/>
          </a:xfrm>
          <a:prstGeom prst="ellipse">
            <a:avLst/>
          </a:prstGeom>
          <a:solidFill>
            <a:srgbClr val="3A3A3A"/>
          </a:solidFill>
          <a:ln w="12700">
            <a:solidFill>
              <a:srgbClr val="3A3A3A"/>
            </a:solidFill>
            <a:prstDash val="solid"/>
          </a:ln>
        </p:spPr>
      </p:sp>
      <p:sp>
        <p:nvSpPr>
          <p:cNvPr id="19" name="Text 16"/>
          <p:cNvSpPr txBox="1"/>
          <p:nvPr/>
        </p:nvSpPr>
        <p:spPr>
          <a:xfrm>
            <a:off x="6583680" y="4507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0" name="Text 17"/>
          <p:cNvSpPr txBox="1"/>
          <p:nvPr/>
        </p:nvSpPr>
        <p:spPr>
          <a:xfrm>
            <a:off x="7132320" y="4462272"/>
            <a:ext cx="4480560" cy="713232"/>
          </a:xfrm>
          <a:prstGeom prst="rect">
            <a:avLst/>
          </a:prstGeom>
          <a:noFill/>
          <a:ln/>
        </p:spPr>
        <p:txBody>
          <a:bodyPr wrap="square" lIns="0" tIns="0" rIns="0" bIns="0" rtlCol="0" anchor="t"/>
          <a:lstStyle/>
          <a:p>
            <a:pPr indent="0" marL="0">
              <a:buNone/>
            </a:pPr>
            <a:r>
              <a:rPr lang="en-US" sz="1500" b="1" dirty="0">
                <a:solidFill>
                  <a:schemeClr val="tx1"/>
                </a:solidFill>
              </a:rPr>
              <a:t>Alarm outline</a:t>
            </a:r>
            <a:endParaRPr lang="en-US" sz="1500" dirty="0"/>
          </a:p>
          <a:p>
            <a:pPr indent="0" marL="0">
              <a:buNone/>
            </a:pPr>
            <a:r>
              <a:rPr lang="en-US" sz="1300" dirty="0">
                <a:solidFill>
                  <a:srgbClr val="4D4D4D"/>
                </a:solidFill>
              </a:rPr>
              <a:t>3 px in the highest active priority color</a:t>
            </a:r>
            <a:endParaRPr lang="en-US" sz="1500" dirty="0"/>
          </a:p>
        </p:txBody>
      </p:sp>
      <p:sp>
        <p:nvSpPr>
          <p:cNvPr id="21" name="callout 6"/>
          <p:cNvSpPr/>
          <p:nvPr/>
        </p:nvSpPr>
        <p:spPr>
          <a:xfrm>
            <a:off x="6583680" y="5257800"/>
            <a:ext cx="384048" cy="384048"/>
          </a:xfrm>
          <a:prstGeom prst="ellipse">
            <a:avLst/>
          </a:prstGeom>
          <a:solidFill>
            <a:srgbClr val="3A3A3A"/>
          </a:solidFill>
          <a:ln w="12700">
            <a:solidFill>
              <a:srgbClr val="3A3A3A"/>
            </a:solidFill>
            <a:prstDash val="solid"/>
          </a:ln>
        </p:spPr>
      </p:sp>
      <p:sp>
        <p:nvSpPr>
          <p:cNvPr id="22" name="Text 19"/>
          <p:cNvSpPr txBox="1"/>
          <p:nvPr/>
        </p:nvSpPr>
        <p:spPr>
          <a:xfrm>
            <a:off x="6583680" y="5257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3" name="Text 20"/>
          <p:cNvSpPr txBox="1"/>
          <p:nvPr/>
        </p:nvSpPr>
        <p:spPr>
          <a:xfrm>
            <a:off x="7132320" y="5212080"/>
            <a:ext cx="4480560" cy="713232"/>
          </a:xfrm>
          <a:prstGeom prst="rect">
            <a:avLst/>
          </a:prstGeom>
          <a:noFill/>
          <a:ln/>
        </p:spPr>
        <p:txBody>
          <a:bodyPr wrap="square" lIns="0" tIns="0" rIns="0" bIns="0" rtlCol="0" anchor="t"/>
          <a:lstStyle/>
          <a:p>
            <a:pPr indent="0" marL="0">
              <a:buNone/>
            </a:pPr>
            <a:r>
              <a:rPr lang="en-US" sz="1500" b="1" dirty="0">
                <a:solidFill>
                  <a:schemeClr val="tx1"/>
                </a:solidFill>
              </a:rPr>
              <a:t>Parameters</a:t>
            </a:r>
            <a:endParaRPr lang="en-US" sz="1500" dirty="0"/>
          </a:p>
          <a:p>
            <a:pPr indent="0" marL="0">
              <a:buNone/>
            </a:pPr>
            <a:r>
              <a:rPr lang="en-US" sz="1300" dirty="0">
                <a:solidFill>
                  <a:srgbClr val="4D4D4D"/>
                </a:solidFill>
              </a:rPr>
              <a:t>tagPath (+ useButton, tType, dockId, dblCmd); everything else comes from the type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Equipment state logic</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TEMPLATES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1097280"/>
                <a:gridCol w="3749040"/>
                <a:gridCol w="3474720"/>
              </a:tblGrid>
              <a:tr h="566928">
                <a:tc>
                  <a:txBody>
                    <a:bodyPr/>
                    <a:lstStyle/>
                    <a:p>
                      <a:pPr indent="0" marL="0">
                        <a:buNone/>
                      </a:pPr>
                      <a:r>
                        <a:rPr lang="en-US" sz="1400" b="1" dirty="0">
                          <a:solidFill>
                            <a:srgbClr val="FFFFFF"/>
                          </a:solidFill>
                        </a:rPr>
                        <a:t>State</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400" b="1" dirty="0">
                          <a:solidFill>
                            <a:srgbClr val="FFFFFF"/>
                          </a:solidFill>
                        </a:rPr>
                        <a:t>Fill</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400" b="1" dirty="0">
                          <a:solidFill>
                            <a:srgbClr val="FFFFFF"/>
                          </a:solidFill>
                        </a:rPr>
                        <a:t>Discrete valve (ZSO / ZSC)</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400" b="1" dirty="0">
                          <a:solidFill>
                            <a:srgbClr val="FFFFFF"/>
                          </a:solidFill>
                        </a:rPr>
                        <a:t>Motor (Run vs Cmd)</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566928">
                <a:tc>
                  <a:txBody>
                    <a:bodyPr/>
                    <a:lstStyle/>
                    <a:p>
                      <a:pPr indent="0" marL="0">
                        <a:buNone/>
                      </a:pPr>
                      <a:r>
                        <a:rPr lang="en-US" sz="1400" b="1" dirty="0">
                          <a:solidFill>
                            <a:srgbClr val="1F1F1F"/>
                          </a:solidFill>
                        </a:rPr>
                        <a:t>CLOSED / STOPPED</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400" dirty="0">
                          <a:solidFill>
                            <a:srgbClr val="1F1F1F"/>
                          </a:solidFill>
                        </a:rPr>
                        <a:t>ZSC made, ZSO not</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400" dirty="0">
                          <a:solidFill>
                            <a:srgbClr val="1F1F1F"/>
                          </a:solidFill>
                        </a:rPr>
                        <a:t>Run off, Cmd off</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566928">
                <a:tc>
                  <a:txBody>
                    <a:bodyPr/>
                    <a:lstStyle/>
                    <a:p>
                      <a:pPr indent="0" marL="0">
                        <a:buNone/>
                      </a:pPr>
                      <a:r>
                        <a:rPr lang="en-US" sz="1400" b="1" dirty="0">
                          <a:solidFill>
                            <a:srgbClr val="1F1F1F"/>
                          </a:solidFill>
                        </a:rPr>
                        <a:t>OPEN / RUNNING</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ZSO made, ZSC not</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Run on, Cmd on</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1F1F"/>
                          </a:solidFill>
                        </a:rPr>
                        <a:t>OPENING / STARTING ...</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400" dirty="0">
                          <a:solidFill>
                            <a:srgbClr val="1F1F1F"/>
                          </a:solidFill>
                        </a:rPr>
                        <a:t>Neither switch made (travel)</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400" dirty="0">
                          <a:solidFill>
                            <a:srgbClr val="1F1F1F"/>
                          </a:solidFill>
                        </a:rPr>
                        <a:t>Run and Cmd disagree</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566928">
                <a:tc>
                  <a:txBody>
                    <a:bodyPr/>
                    <a:lstStyle/>
                    <a:p>
                      <a:pPr indent="0" marL="0">
                        <a:buNone/>
                      </a:pPr>
                      <a:r>
                        <a:rPr lang="en-US" sz="1400" b="1" dirty="0">
                          <a:solidFill>
                            <a:srgbClr val="1F1F1F"/>
                          </a:solidFill>
                        </a:rPr>
                        <a:t>FAULT</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Both switches made, or fault bit</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rPr>
                        <a:t>Fault bit set</a:t>
                      </a:r>
                      <a:endParaRPr lang="en-US" sz="14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5" name="state fill 0"/>
          <p:cNvSpPr/>
          <p:nvPr/>
        </p:nvSpPr>
        <p:spPr>
          <a:xfrm>
            <a:off x="3611880" y="2130552"/>
            <a:ext cx="457200" cy="365760"/>
          </a:xfrm>
          <a:prstGeom prst="rect">
            <a:avLst/>
          </a:prstGeom>
          <a:solidFill>
            <a:srgbClr val="9E9E9E"/>
          </a:solidFill>
          <a:ln w="9525">
            <a:solidFill>
              <a:srgbClr val="7F7F7F"/>
            </a:solidFill>
            <a:prstDash val="solid"/>
          </a:ln>
        </p:spPr>
      </p:sp>
      <p:sp>
        <p:nvSpPr>
          <p:cNvPr id="6" name="state fill 1"/>
          <p:cNvSpPr/>
          <p:nvPr/>
        </p:nvSpPr>
        <p:spPr>
          <a:xfrm>
            <a:off x="3611880" y="2697480"/>
            <a:ext cx="457200" cy="365760"/>
          </a:xfrm>
          <a:prstGeom prst="rect">
            <a:avLst/>
          </a:prstGeom>
          <a:solidFill>
            <a:srgbClr val="FFFFFF"/>
          </a:solidFill>
          <a:ln w="9525">
            <a:solidFill>
              <a:srgbClr val="7F7F7F"/>
            </a:solidFill>
            <a:prstDash val="solid"/>
          </a:ln>
        </p:spPr>
      </p:sp>
      <p:sp>
        <p:nvSpPr>
          <p:cNvPr id="7" name="state fill 2"/>
          <p:cNvSpPr/>
          <p:nvPr/>
        </p:nvSpPr>
        <p:spPr>
          <a:xfrm>
            <a:off x="3611880" y="3264408"/>
            <a:ext cx="457200" cy="365760"/>
          </a:xfrm>
          <a:prstGeom prst="rect">
            <a:avLst/>
          </a:prstGeom>
          <a:solidFill>
            <a:srgbClr val="C4C4C4"/>
          </a:solidFill>
          <a:ln w="9525">
            <a:solidFill>
              <a:srgbClr val="7F7F7F"/>
            </a:solidFill>
            <a:prstDash val="solid"/>
          </a:ln>
        </p:spPr>
      </p:sp>
      <p:sp>
        <p:nvSpPr>
          <p:cNvPr id="8" name="state fill 3"/>
          <p:cNvSpPr/>
          <p:nvPr/>
        </p:nvSpPr>
        <p:spPr>
          <a:xfrm>
            <a:off x="3611880" y="3831336"/>
            <a:ext cx="457200" cy="365760"/>
          </a:xfrm>
          <a:prstGeom prst="rect">
            <a:avLst/>
          </a:prstGeom>
          <a:solidFill>
            <a:srgbClr val="3A3A3A"/>
          </a:solidFill>
          <a:ln w="38100">
            <a:solidFill>
              <a:srgbClr val="D50000"/>
            </a:solidFill>
            <a:prstDash val="solid"/>
          </a:ln>
        </p:spPr>
      </p:sp>
      <p:sp>
        <p:nvSpPr>
          <p:cNvPr id="9" name="feedback card"/>
          <p:cNvSpPr/>
          <p:nvPr/>
        </p:nvSpPr>
        <p:spPr>
          <a:xfrm>
            <a:off x="548640" y="4617720"/>
            <a:ext cx="5349240" cy="1371600"/>
          </a:xfrm>
          <a:prstGeom prst="rect">
            <a:avLst/>
          </a:prstGeom>
          <a:solidFill>
            <a:srgbClr val="F0F0F0"/>
          </a:solidFill>
          <a:ln w="9525">
            <a:solidFill>
              <a:srgbClr val="D0D0D0"/>
            </a:solidFill>
            <a:prstDash val="solid"/>
          </a:ln>
        </p:spPr>
      </p:sp>
      <p:sp>
        <p:nvSpPr>
          <p:cNvPr id="10" name="Text 7"/>
          <p:cNvSpPr txBox="1"/>
          <p:nvPr/>
        </p:nvSpPr>
        <p:spPr>
          <a:xfrm>
            <a:off x="777240" y="4754880"/>
            <a:ext cx="4937760" cy="1143000"/>
          </a:xfrm>
          <a:prstGeom prst="rect">
            <a:avLst/>
          </a:prstGeom>
          <a:noFill/>
          <a:ln/>
        </p:spPr>
        <p:txBody>
          <a:bodyPr wrap="square" lIns="0" tIns="0" rIns="0" bIns="0" rtlCol="0" anchor="t"/>
          <a:lstStyle/>
          <a:p>
            <a:pPr indent="0" marL="0">
              <a:buNone/>
            </a:pPr>
            <a:r>
              <a:rPr lang="en-US" sz="1400" b="1" dirty="0">
                <a:solidFill>
                  <a:schemeClr val="tx1"/>
                </a:solidFill>
              </a:rPr>
              <a:t>No feedback?</a:t>
            </a:r>
            <a:endParaRPr lang="en-US" sz="1400" dirty="0"/>
          </a:p>
          <a:p>
            <a:pPr indent="0" marL="0">
              <a:buNone/>
            </a:pPr>
            <a:r>
              <a:rPr lang="en-US" sz="1400" dirty="0">
                <a:solidFill>
                  <a:srgbClr val="4D4D4D"/>
                </a:solidFill>
              </a:rPr>
              <a:t>With feedback disabled the symbol follows the command, so it never shows a false travel or fault.</a:t>
            </a:r>
            <a:endParaRPr lang="en-US" sz="1400" dirty="0"/>
          </a:p>
        </p:txBody>
      </p:sp>
      <p:sp>
        <p:nvSpPr>
          <p:cNvPr id="11" name="transition card"/>
          <p:cNvSpPr/>
          <p:nvPr/>
        </p:nvSpPr>
        <p:spPr>
          <a:xfrm>
            <a:off x="6263640" y="4617720"/>
            <a:ext cx="5349240" cy="1371600"/>
          </a:xfrm>
          <a:prstGeom prst="rect">
            <a:avLst/>
          </a:prstGeom>
          <a:solidFill>
            <a:srgbClr val="F0F0F0"/>
          </a:solidFill>
          <a:ln w="9525">
            <a:solidFill>
              <a:srgbClr val="D0D0D0"/>
            </a:solidFill>
            <a:prstDash val="solid"/>
          </a:ln>
        </p:spPr>
      </p:sp>
      <p:sp>
        <p:nvSpPr>
          <p:cNvPr id="12" name="Text 9"/>
          <p:cNvSpPr txBox="1"/>
          <p:nvPr/>
        </p:nvSpPr>
        <p:spPr>
          <a:xfrm>
            <a:off x="6492240" y="4754880"/>
            <a:ext cx="4937760" cy="1143000"/>
          </a:xfrm>
          <a:prstGeom prst="rect">
            <a:avLst/>
          </a:prstGeom>
          <a:noFill/>
          <a:ln/>
        </p:spPr>
        <p:txBody>
          <a:bodyPr wrap="square" lIns="0" tIns="0" rIns="0" bIns="0" rtlCol="0" anchor="t"/>
          <a:lstStyle/>
          <a:p>
            <a:pPr indent="0" marL="0">
              <a:buNone/>
            </a:pPr>
            <a:r>
              <a:rPr lang="en-US" sz="1400" b="1" dirty="0">
                <a:solidFill>
                  <a:schemeClr val="tx1"/>
                </a:solidFill>
              </a:rPr>
              <a:t>Transition is a solid light gray</a:t>
            </a:r>
            <a:endParaRPr lang="en-US" sz="1400" dirty="0"/>
          </a:p>
          <a:p>
            <a:pPr indent="0" marL="0">
              <a:buNone/>
            </a:pPr>
            <a:r>
              <a:rPr lang="en-US" sz="1400" dirty="0">
                <a:solidFill>
                  <a:srgbClr val="4D4D4D"/>
                </a:solidFill>
              </a:rPr>
              <a:t>The dashed travel outline was tried and removed: it read as noise and fought the alarm outline.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Valves: head shows command, body shows feedback</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TEMPLATES</a:t>
            </a:r>
            <a:endParaRPr lang="en-US" sz="1000" dirty="0"/>
          </a:p>
        </p:txBody>
      </p:sp>
      <p:sp>
        <p:nvSpPr>
          <p:cNvPr id="4" name="valve On/off pneumatic"/>
          <p:cNvSpPr/>
          <p:nvPr/>
        </p:nvSpPr>
        <p:spPr>
          <a:xfrm>
            <a:off x="548640" y="1463040"/>
            <a:ext cx="2560320" cy="2377440"/>
          </a:xfrm>
          <a:prstGeom prst="rect">
            <a:avLst/>
          </a:prstGeom>
          <a:solidFill>
            <a:srgbClr val="D9D9D9"/>
          </a:solidFill>
          <a:ln w="9525">
            <a:solidFill>
              <a:srgbClr val="D9D9D9"/>
            </a:solidFill>
            <a:prstDash val="solid"/>
          </a:ln>
        </p:spPr>
      </p:sp>
      <p:pic>
        <p:nvPicPr>
          <p:cNvPr id="5" name="img Valve_OnOff_Pneumatic.png" descr="On/off pneumatic valve template">    </p:cNvPr>
          <p:cNvPicPr>
            <a:picLocks noChangeAspect="1"/>
          </p:cNvPicPr>
          <p:nvPr/>
        </p:nvPicPr>
        <p:blipFill>
          <a:blip r:embed="rId1"/>
          <a:stretch>
            <a:fillRect/>
          </a:stretch>
        </p:blipFill>
        <p:spPr>
          <a:xfrm>
            <a:off x="731520" y="1554480"/>
            <a:ext cx="2194560" cy="1828800"/>
          </a:xfrm>
          <a:prstGeom prst="rect">
            <a:avLst/>
          </a:prstGeom>
        </p:spPr>
      </p:pic>
      <p:sp>
        <p:nvSpPr>
          <p:cNvPr id="6" name="Text 3"/>
          <p:cNvSpPr txBox="1"/>
          <p:nvPr/>
        </p:nvSpPr>
        <p:spPr>
          <a:xfrm>
            <a:off x="548640" y="3429000"/>
            <a:ext cx="2560320" cy="320040"/>
          </a:xfrm>
          <a:prstGeom prst="rect">
            <a:avLst/>
          </a:prstGeom>
          <a:noFill/>
          <a:ln/>
        </p:spPr>
        <p:txBody>
          <a:bodyPr wrap="square" lIns="0" tIns="0" rIns="0" bIns="0" rtlCol="0" anchor="t"/>
          <a:lstStyle/>
          <a:p>
            <a:pPr algn="ctr" indent="0" marL="0">
              <a:buNone/>
            </a:pPr>
            <a:r>
              <a:rPr lang="en-US" sz="1400" b="1" dirty="0">
                <a:solidFill>
                  <a:schemeClr val="tx1"/>
                </a:solidFill>
              </a:rPr>
              <a:t>On/off pneumatic</a:t>
            </a:r>
            <a:endParaRPr lang="en-US" sz="1400" dirty="0"/>
          </a:p>
        </p:txBody>
      </p:sp>
      <p:sp>
        <p:nvSpPr>
          <p:cNvPr id="7" name="valve Solenoid"/>
          <p:cNvSpPr/>
          <p:nvPr/>
        </p:nvSpPr>
        <p:spPr>
          <a:xfrm>
            <a:off x="3337560" y="1463040"/>
            <a:ext cx="2560320" cy="2377440"/>
          </a:xfrm>
          <a:prstGeom prst="rect">
            <a:avLst/>
          </a:prstGeom>
          <a:solidFill>
            <a:srgbClr val="D9D9D9"/>
          </a:solidFill>
          <a:ln w="9525">
            <a:solidFill>
              <a:srgbClr val="D9D9D9"/>
            </a:solidFill>
            <a:prstDash val="solid"/>
          </a:ln>
        </p:spPr>
      </p:sp>
      <p:pic>
        <p:nvPicPr>
          <p:cNvPr id="8" name="img Valve_Solenoid.png" descr="Solenoid valve template">    </p:cNvPr>
          <p:cNvPicPr>
            <a:picLocks noChangeAspect="1"/>
          </p:cNvPicPr>
          <p:nvPr/>
        </p:nvPicPr>
        <p:blipFill>
          <a:blip r:embed="rId2"/>
          <a:stretch>
            <a:fillRect/>
          </a:stretch>
        </p:blipFill>
        <p:spPr>
          <a:xfrm>
            <a:off x="3520440" y="1554480"/>
            <a:ext cx="2194560" cy="1828800"/>
          </a:xfrm>
          <a:prstGeom prst="rect">
            <a:avLst/>
          </a:prstGeom>
        </p:spPr>
      </p:pic>
      <p:sp>
        <p:nvSpPr>
          <p:cNvPr id="9" name="Text 5"/>
          <p:cNvSpPr txBox="1"/>
          <p:nvPr/>
        </p:nvSpPr>
        <p:spPr>
          <a:xfrm>
            <a:off x="3337560" y="3429000"/>
            <a:ext cx="2560320" cy="320040"/>
          </a:xfrm>
          <a:prstGeom prst="rect">
            <a:avLst/>
          </a:prstGeom>
          <a:noFill/>
          <a:ln/>
        </p:spPr>
        <p:txBody>
          <a:bodyPr wrap="square" lIns="0" tIns="0" rIns="0" bIns="0" rtlCol="0" anchor="t"/>
          <a:lstStyle/>
          <a:p>
            <a:pPr algn="ctr" indent="0" marL="0">
              <a:buNone/>
            </a:pPr>
            <a:r>
              <a:rPr lang="en-US" sz="1400" b="1" dirty="0">
                <a:solidFill>
                  <a:schemeClr val="tx1"/>
                </a:solidFill>
              </a:rPr>
              <a:t>Solenoid</a:t>
            </a:r>
            <a:endParaRPr lang="en-US" sz="1400" dirty="0"/>
          </a:p>
        </p:txBody>
      </p:sp>
      <p:sp>
        <p:nvSpPr>
          <p:cNvPr id="10" name="valve Motor-operated"/>
          <p:cNvSpPr/>
          <p:nvPr/>
        </p:nvSpPr>
        <p:spPr>
          <a:xfrm>
            <a:off x="6126480" y="1463040"/>
            <a:ext cx="2560320" cy="2377440"/>
          </a:xfrm>
          <a:prstGeom prst="rect">
            <a:avLst/>
          </a:prstGeom>
          <a:solidFill>
            <a:srgbClr val="D9D9D9"/>
          </a:solidFill>
          <a:ln w="9525">
            <a:solidFill>
              <a:srgbClr val="D9D9D9"/>
            </a:solidFill>
            <a:prstDash val="solid"/>
          </a:ln>
        </p:spPr>
      </p:sp>
      <p:pic>
        <p:nvPicPr>
          <p:cNvPr id="11" name="img Valve_MOV.png" descr="Motor-operated valve template">    </p:cNvPr>
          <p:cNvPicPr>
            <a:picLocks noChangeAspect="1"/>
          </p:cNvPicPr>
          <p:nvPr/>
        </p:nvPicPr>
        <p:blipFill>
          <a:blip r:embed="rId3"/>
          <a:stretch>
            <a:fillRect/>
          </a:stretch>
        </p:blipFill>
        <p:spPr>
          <a:xfrm>
            <a:off x="6309360" y="1554480"/>
            <a:ext cx="2194560" cy="1828800"/>
          </a:xfrm>
          <a:prstGeom prst="rect">
            <a:avLst/>
          </a:prstGeom>
        </p:spPr>
      </p:pic>
      <p:sp>
        <p:nvSpPr>
          <p:cNvPr id="12" name="Text 7"/>
          <p:cNvSpPr txBox="1"/>
          <p:nvPr/>
        </p:nvSpPr>
        <p:spPr>
          <a:xfrm>
            <a:off x="6126480" y="3429000"/>
            <a:ext cx="2560320" cy="320040"/>
          </a:xfrm>
          <a:prstGeom prst="rect">
            <a:avLst/>
          </a:prstGeom>
          <a:noFill/>
          <a:ln/>
        </p:spPr>
        <p:txBody>
          <a:bodyPr wrap="square" lIns="0" tIns="0" rIns="0" bIns="0" rtlCol="0" anchor="t"/>
          <a:lstStyle/>
          <a:p>
            <a:pPr algn="ctr" indent="0" marL="0">
              <a:buNone/>
            </a:pPr>
            <a:r>
              <a:rPr lang="en-US" sz="1400" b="1" dirty="0">
                <a:solidFill>
                  <a:schemeClr val="tx1"/>
                </a:solidFill>
              </a:rPr>
              <a:t>Motor-operated</a:t>
            </a:r>
            <a:endParaRPr lang="en-US" sz="1400" dirty="0"/>
          </a:p>
        </p:txBody>
      </p:sp>
      <p:sp>
        <p:nvSpPr>
          <p:cNvPr id="13" name="valve Control valve"/>
          <p:cNvSpPr/>
          <p:nvPr/>
        </p:nvSpPr>
        <p:spPr>
          <a:xfrm>
            <a:off x="8915400" y="1463040"/>
            <a:ext cx="2560320" cy="2377440"/>
          </a:xfrm>
          <a:prstGeom prst="rect">
            <a:avLst/>
          </a:prstGeom>
          <a:solidFill>
            <a:srgbClr val="D9D9D9"/>
          </a:solidFill>
          <a:ln w="9525">
            <a:solidFill>
              <a:srgbClr val="D9D9D9"/>
            </a:solidFill>
            <a:prstDash val="solid"/>
          </a:ln>
        </p:spPr>
      </p:sp>
      <p:pic>
        <p:nvPicPr>
          <p:cNvPr id="14" name="img Valve_Control.png" descr="Control valve valve template">    </p:cNvPr>
          <p:cNvPicPr>
            <a:picLocks noChangeAspect="1"/>
          </p:cNvPicPr>
          <p:nvPr/>
        </p:nvPicPr>
        <p:blipFill>
          <a:blip r:embed="rId4"/>
          <a:stretch>
            <a:fillRect/>
          </a:stretch>
        </p:blipFill>
        <p:spPr>
          <a:xfrm>
            <a:off x="9098280" y="1554480"/>
            <a:ext cx="2194560" cy="1828800"/>
          </a:xfrm>
          <a:prstGeom prst="rect">
            <a:avLst/>
          </a:prstGeom>
        </p:spPr>
      </p:pic>
      <p:sp>
        <p:nvSpPr>
          <p:cNvPr id="15" name="Text 9"/>
          <p:cNvSpPr txBox="1"/>
          <p:nvPr/>
        </p:nvSpPr>
        <p:spPr>
          <a:xfrm>
            <a:off x="8915400" y="3429000"/>
            <a:ext cx="2560320" cy="320040"/>
          </a:xfrm>
          <a:prstGeom prst="rect">
            <a:avLst/>
          </a:prstGeom>
          <a:noFill/>
          <a:ln/>
        </p:spPr>
        <p:txBody>
          <a:bodyPr wrap="square" lIns="0" tIns="0" rIns="0" bIns="0" rtlCol="0" anchor="t"/>
          <a:lstStyle/>
          <a:p>
            <a:pPr algn="ctr" indent="0" marL="0">
              <a:buNone/>
            </a:pPr>
            <a:r>
              <a:rPr lang="en-US" sz="1400" b="1" dirty="0">
                <a:solidFill>
                  <a:schemeClr val="tx1"/>
                </a:solidFill>
              </a:rPr>
              <a:t>Control valve</a:t>
            </a:r>
            <a:endParaRPr lang="en-US" sz="1400" dirty="0"/>
          </a:p>
        </p:txBody>
      </p:sp>
      <p:sp>
        <p:nvSpPr>
          <p:cNvPr id="16" name="discrete valve card"/>
          <p:cNvSpPr/>
          <p:nvPr/>
        </p:nvSpPr>
        <p:spPr>
          <a:xfrm>
            <a:off x="548640" y="4114800"/>
            <a:ext cx="5394960" cy="1920240"/>
          </a:xfrm>
          <a:prstGeom prst="rect">
            <a:avLst/>
          </a:prstGeom>
          <a:solidFill>
            <a:srgbClr val="F0F0F0"/>
          </a:solidFill>
          <a:ln w="9525">
            <a:solidFill>
              <a:srgbClr val="D0D0D0"/>
            </a:solidFill>
            <a:prstDash val="solid"/>
          </a:ln>
        </p:spPr>
      </p:sp>
      <p:sp>
        <p:nvSpPr>
          <p:cNvPr id="17" name="Text 11"/>
          <p:cNvSpPr txBox="1"/>
          <p:nvPr/>
        </p:nvSpPr>
        <p:spPr>
          <a:xfrm>
            <a:off x="777240" y="4251960"/>
            <a:ext cx="4937760" cy="365760"/>
          </a:xfrm>
          <a:prstGeom prst="rect">
            <a:avLst/>
          </a:prstGeom>
          <a:noFill/>
          <a:ln/>
        </p:spPr>
        <p:txBody>
          <a:bodyPr wrap="square" lIns="0" tIns="0" rIns="0" bIns="0" rtlCol="0" anchor="t"/>
          <a:lstStyle/>
          <a:p>
            <a:pPr indent="0" marL="0">
              <a:buNone/>
            </a:pPr>
            <a:r>
              <a:rPr lang="en-US" sz="1600" b="1" dirty="0">
                <a:solidFill>
                  <a:schemeClr val="tx1"/>
                </a:solidFill>
              </a:rPr>
              <a:t>Discrete valves (T_DValve)</a:t>
            </a:r>
            <a:endParaRPr lang="en-US" sz="1600" dirty="0"/>
          </a:p>
        </p:txBody>
      </p:sp>
      <p:sp>
        <p:nvSpPr>
          <p:cNvPr id="18" name="Text 12"/>
          <p:cNvSpPr txBox="1"/>
          <p:nvPr/>
        </p:nvSpPr>
        <p:spPr>
          <a:xfrm>
            <a:off x="777240" y="4663440"/>
            <a:ext cx="493776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Actuator head color = commanded state</a:t>
            </a:r>
            <a:endParaRPr lang="en-US" sz="1400" dirty="0"/>
          </a:p>
          <a:p>
            <a:pPr marL="177800" indent="-177800">
              <a:spcAft>
                <a:spcPts val="600"/>
              </a:spcAft>
              <a:buSzPct val="100000"/>
              <a:buChar char="•"/>
            </a:pPr>
            <a:r>
              <a:rPr lang="en-US" sz="1400" dirty="0">
                <a:solidFill>
                  <a:schemeClr val="tx1"/>
                </a:solidFill>
              </a:rPr>
              <a:t>Body color = limit-switch feedback</a:t>
            </a:r>
            <a:endParaRPr lang="en-US" sz="1400" dirty="0"/>
          </a:p>
          <a:p>
            <a:pPr marL="177800" indent="-177800">
              <a:spcAft>
                <a:spcPts val="600"/>
              </a:spcAft>
              <a:buSzPct val="100000"/>
              <a:buChar char="•"/>
            </a:pPr>
            <a:r>
              <a:rPr lang="en-US" sz="1400" dirty="0">
                <a:solidFill>
                  <a:schemeClr val="tx1"/>
                </a:solidFill>
              </a:rPr>
              <a:t>No ball circle in the body; stem runs to body center</a:t>
            </a:r>
            <a:endParaRPr lang="en-US" sz="1400" dirty="0"/>
          </a:p>
        </p:txBody>
      </p:sp>
      <p:sp>
        <p:nvSpPr>
          <p:cNvPr id="19" name="control valve card"/>
          <p:cNvSpPr/>
          <p:nvPr/>
        </p:nvSpPr>
        <p:spPr>
          <a:xfrm>
            <a:off x="6217920" y="4114800"/>
            <a:ext cx="5394960" cy="1920240"/>
          </a:xfrm>
          <a:prstGeom prst="rect">
            <a:avLst/>
          </a:prstGeom>
          <a:solidFill>
            <a:srgbClr val="F0F0F0"/>
          </a:solidFill>
          <a:ln w="9525">
            <a:solidFill>
              <a:srgbClr val="D0D0D0"/>
            </a:solidFill>
            <a:prstDash val="solid"/>
          </a:ln>
        </p:spPr>
      </p:sp>
      <p:sp>
        <p:nvSpPr>
          <p:cNvPr id="20" name="Text 14"/>
          <p:cNvSpPr txBox="1"/>
          <p:nvPr/>
        </p:nvSpPr>
        <p:spPr>
          <a:xfrm>
            <a:off x="6446520" y="4251960"/>
            <a:ext cx="4937760" cy="365760"/>
          </a:xfrm>
          <a:prstGeom prst="rect">
            <a:avLst/>
          </a:prstGeom>
          <a:noFill/>
          <a:ln/>
        </p:spPr>
        <p:txBody>
          <a:bodyPr wrap="square" lIns="0" tIns="0" rIns="0" bIns="0" rtlCol="0" anchor="t"/>
          <a:lstStyle/>
          <a:p>
            <a:pPr indent="0" marL="0">
              <a:buNone/>
            </a:pPr>
            <a:r>
              <a:rPr lang="en-US" sz="1600" b="1" dirty="0">
                <a:solidFill>
                  <a:schemeClr val="tx1"/>
                </a:solidFill>
              </a:rPr>
              <a:t>Control valves (T_CValve)</a:t>
            </a:r>
            <a:endParaRPr lang="en-US" sz="1600" dirty="0"/>
          </a:p>
        </p:txBody>
      </p:sp>
      <p:sp>
        <p:nvSpPr>
          <p:cNvPr id="21" name="Text 15"/>
          <p:cNvSpPr txBox="1"/>
          <p:nvPr/>
        </p:nvSpPr>
        <p:spPr>
          <a:xfrm>
            <a:off x="6446520" y="4663440"/>
            <a:ext cx="493776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Position bar left of the valve: fill = actual position</a:t>
            </a:r>
            <a:endParaRPr lang="en-US" sz="1400" dirty="0"/>
          </a:p>
          <a:p>
            <a:pPr marL="177800" indent="-177800">
              <a:spcAft>
                <a:spcPts val="600"/>
              </a:spcAft>
              <a:buSzPct val="100000"/>
              <a:buChar char="•"/>
            </a:pPr>
            <a:r>
              <a:rPr lang="en-US" sz="1400" dirty="0">
                <a:solidFill>
                  <a:schemeClr val="tx1"/>
                </a:solidFill>
              </a:rPr>
              <a:t>Blue pointer = commanded output; overhangs so it shows at 0 % and 100 %</a:t>
            </a:r>
            <a:endParaRPr lang="en-US" sz="1400" dirty="0"/>
          </a:p>
          <a:p>
            <a:pPr marL="177800" indent="-177800">
              <a:spcAft>
                <a:spcPts val="600"/>
              </a:spcAft>
              <a:buSzPct val="100000"/>
              <a:buChar char="•"/>
            </a:pPr>
            <a:r>
              <a:rPr lang="en-US" sz="1400" dirty="0">
                <a:solidFill>
                  <a:schemeClr val="tx1"/>
                </a:solidFill>
              </a:rPr>
              <a:t>Status chip shows NN %; no on-symbol button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Running equipment and heat transfer</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TEMPLATES</a:t>
            </a:r>
            <a:endParaRPr lang="en-US" sz="1000" dirty="0"/>
          </a:p>
        </p:txBody>
      </p:sp>
      <p:sp>
        <p:nvSpPr>
          <p:cNvPr id="4" name="tile Motor"/>
          <p:cNvSpPr/>
          <p:nvPr/>
        </p:nvSpPr>
        <p:spPr>
          <a:xfrm>
            <a:off x="548640" y="1417320"/>
            <a:ext cx="1417320" cy="1691640"/>
          </a:xfrm>
          <a:prstGeom prst="rect">
            <a:avLst/>
          </a:prstGeom>
          <a:solidFill>
            <a:srgbClr val="D9D9D9"/>
          </a:solidFill>
          <a:ln w="9525">
            <a:solidFill>
              <a:srgbClr val="D9D9D9"/>
            </a:solidFill>
            <a:prstDash val="solid"/>
          </a:ln>
        </p:spPr>
      </p:sp>
      <p:pic>
        <p:nvPicPr>
          <p:cNvPr id="5" name="img Motor.png" descr="Motor template">    </p:cNvPr>
          <p:cNvPicPr>
            <a:picLocks noChangeAspect="1"/>
          </p:cNvPicPr>
          <p:nvPr/>
        </p:nvPicPr>
        <p:blipFill>
          <a:blip r:embed="rId1"/>
          <a:stretch>
            <a:fillRect/>
          </a:stretch>
        </p:blipFill>
        <p:spPr>
          <a:xfrm>
            <a:off x="621792" y="1465936"/>
            <a:ext cx="1271016" cy="1228649"/>
          </a:xfrm>
          <a:prstGeom prst="rect">
            <a:avLst/>
          </a:prstGeom>
        </p:spPr>
      </p:pic>
      <p:sp>
        <p:nvSpPr>
          <p:cNvPr id="6" name="Text 3"/>
          <p:cNvSpPr txBox="1"/>
          <p:nvPr/>
        </p:nvSpPr>
        <p:spPr>
          <a:xfrm>
            <a:off x="576072"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Motor</a:t>
            </a:r>
            <a:endParaRPr lang="en-US" sz="1000" dirty="0"/>
          </a:p>
        </p:txBody>
      </p:sp>
      <p:sp>
        <p:nvSpPr>
          <p:cNvPr id="7" name="tile Pump Centrifugal"/>
          <p:cNvSpPr/>
          <p:nvPr/>
        </p:nvSpPr>
        <p:spPr>
          <a:xfrm>
            <a:off x="2084832" y="1417320"/>
            <a:ext cx="1417320" cy="1691640"/>
          </a:xfrm>
          <a:prstGeom prst="rect">
            <a:avLst/>
          </a:prstGeom>
          <a:solidFill>
            <a:srgbClr val="D9D9D9"/>
          </a:solidFill>
          <a:ln w="9525">
            <a:solidFill>
              <a:srgbClr val="D9D9D9"/>
            </a:solidFill>
            <a:prstDash val="solid"/>
          </a:ln>
        </p:spPr>
      </p:sp>
      <p:pic>
        <p:nvPicPr>
          <p:cNvPr id="8" name="img Pump_Centrifugal.png" descr="Pump Centrifugal template">    </p:cNvPr>
          <p:cNvPicPr>
            <a:picLocks noChangeAspect="1"/>
          </p:cNvPicPr>
          <p:nvPr/>
        </p:nvPicPr>
        <p:blipFill>
          <a:blip r:embed="rId2"/>
          <a:stretch>
            <a:fillRect/>
          </a:stretch>
        </p:blipFill>
        <p:spPr>
          <a:xfrm>
            <a:off x="2157984" y="1465936"/>
            <a:ext cx="1271016" cy="1228649"/>
          </a:xfrm>
          <a:prstGeom prst="rect">
            <a:avLst/>
          </a:prstGeom>
        </p:spPr>
      </p:pic>
      <p:sp>
        <p:nvSpPr>
          <p:cNvPr id="9" name="Text 5"/>
          <p:cNvSpPr txBox="1"/>
          <p:nvPr/>
        </p:nvSpPr>
        <p:spPr>
          <a:xfrm>
            <a:off x="2112264"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Pump Centrifugal</a:t>
            </a:r>
            <a:endParaRPr lang="en-US" sz="1000" dirty="0"/>
          </a:p>
        </p:txBody>
      </p:sp>
      <p:sp>
        <p:nvSpPr>
          <p:cNvPr id="10" name="tile Pump Vacuum"/>
          <p:cNvSpPr/>
          <p:nvPr/>
        </p:nvSpPr>
        <p:spPr>
          <a:xfrm>
            <a:off x="3621024" y="1417320"/>
            <a:ext cx="1417320" cy="1691640"/>
          </a:xfrm>
          <a:prstGeom prst="rect">
            <a:avLst/>
          </a:prstGeom>
          <a:solidFill>
            <a:srgbClr val="D9D9D9"/>
          </a:solidFill>
          <a:ln w="9525">
            <a:solidFill>
              <a:srgbClr val="D9D9D9"/>
            </a:solidFill>
            <a:prstDash val="solid"/>
          </a:ln>
        </p:spPr>
      </p:sp>
      <p:pic>
        <p:nvPicPr>
          <p:cNvPr id="11" name="img Pump_Vacuum.png" descr="Pump Vacuum template">    </p:cNvPr>
          <p:cNvPicPr>
            <a:picLocks noChangeAspect="1"/>
          </p:cNvPicPr>
          <p:nvPr/>
        </p:nvPicPr>
        <p:blipFill>
          <a:blip r:embed="rId3"/>
          <a:stretch>
            <a:fillRect/>
          </a:stretch>
        </p:blipFill>
        <p:spPr>
          <a:xfrm>
            <a:off x="3694176" y="1465936"/>
            <a:ext cx="1271016" cy="1228649"/>
          </a:xfrm>
          <a:prstGeom prst="rect">
            <a:avLst/>
          </a:prstGeom>
        </p:spPr>
      </p:pic>
      <p:sp>
        <p:nvSpPr>
          <p:cNvPr id="12" name="Text 7"/>
          <p:cNvSpPr txBox="1"/>
          <p:nvPr/>
        </p:nvSpPr>
        <p:spPr>
          <a:xfrm>
            <a:off x="3648456"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Pump Vacuum</a:t>
            </a:r>
            <a:endParaRPr lang="en-US" sz="1000" dirty="0"/>
          </a:p>
        </p:txBody>
      </p:sp>
      <p:sp>
        <p:nvSpPr>
          <p:cNvPr id="13" name="tile Pump PD Rotary"/>
          <p:cNvSpPr/>
          <p:nvPr/>
        </p:nvSpPr>
        <p:spPr>
          <a:xfrm>
            <a:off x="5157216" y="1417320"/>
            <a:ext cx="1417320" cy="1691640"/>
          </a:xfrm>
          <a:prstGeom prst="rect">
            <a:avLst/>
          </a:prstGeom>
          <a:solidFill>
            <a:srgbClr val="D9D9D9"/>
          </a:solidFill>
          <a:ln w="9525">
            <a:solidFill>
              <a:srgbClr val="D9D9D9"/>
            </a:solidFill>
            <a:prstDash val="solid"/>
          </a:ln>
        </p:spPr>
      </p:sp>
      <p:pic>
        <p:nvPicPr>
          <p:cNvPr id="14" name="img Pump_PD_Rotary.png" descr="Pump PD Rotary template">    </p:cNvPr>
          <p:cNvPicPr>
            <a:picLocks noChangeAspect="1"/>
          </p:cNvPicPr>
          <p:nvPr/>
        </p:nvPicPr>
        <p:blipFill>
          <a:blip r:embed="rId4"/>
          <a:stretch>
            <a:fillRect/>
          </a:stretch>
        </p:blipFill>
        <p:spPr>
          <a:xfrm>
            <a:off x="5230368" y="1465936"/>
            <a:ext cx="1271016" cy="1228649"/>
          </a:xfrm>
          <a:prstGeom prst="rect">
            <a:avLst/>
          </a:prstGeom>
        </p:spPr>
      </p:pic>
      <p:sp>
        <p:nvSpPr>
          <p:cNvPr id="15" name="Text 9"/>
          <p:cNvSpPr txBox="1"/>
          <p:nvPr/>
        </p:nvSpPr>
        <p:spPr>
          <a:xfrm>
            <a:off x="5184648"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Pump PD Rotary</a:t>
            </a:r>
            <a:endParaRPr lang="en-US" sz="1000" dirty="0"/>
          </a:p>
        </p:txBody>
      </p:sp>
      <p:sp>
        <p:nvSpPr>
          <p:cNvPr id="16" name="tile Pump Diaphragm"/>
          <p:cNvSpPr/>
          <p:nvPr/>
        </p:nvSpPr>
        <p:spPr>
          <a:xfrm>
            <a:off x="6693408" y="1417320"/>
            <a:ext cx="1417320" cy="1691640"/>
          </a:xfrm>
          <a:prstGeom prst="rect">
            <a:avLst/>
          </a:prstGeom>
          <a:solidFill>
            <a:srgbClr val="D9D9D9"/>
          </a:solidFill>
          <a:ln w="9525">
            <a:solidFill>
              <a:srgbClr val="D9D9D9"/>
            </a:solidFill>
            <a:prstDash val="solid"/>
          </a:ln>
        </p:spPr>
      </p:sp>
      <p:pic>
        <p:nvPicPr>
          <p:cNvPr id="17" name="img Pump_Diaphragm.png" descr="Pump Diaphragm template">    </p:cNvPr>
          <p:cNvPicPr>
            <a:picLocks noChangeAspect="1"/>
          </p:cNvPicPr>
          <p:nvPr/>
        </p:nvPicPr>
        <p:blipFill>
          <a:blip r:embed="rId5"/>
          <a:stretch>
            <a:fillRect/>
          </a:stretch>
        </p:blipFill>
        <p:spPr>
          <a:xfrm>
            <a:off x="6766560" y="1465936"/>
            <a:ext cx="1271016" cy="1228649"/>
          </a:xfrm>
          <a:prstGeom prst="rect">
            <a:avLst/>
          </a:prstGeom>
        </p:spPr>
      </p:pic>
      <p:sp>
        <p:nvSpPr>
          <p:cNvPr id="18" name="Text 11"/>
          <p:cNvSpPr txBox="1"/>
          <p:nvPr/>
        </p:nvSpPr>
        <p:spPr>
          <a:xfrm>
            <a:off x="6720840"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Pump Diaphragm</a:t>
            </a:r>
            <a:endParaRPr lang="en-US" sz="1000" dirty="0"/>
          </a:p>
        </p:txBody>
      </p:sp>
      <p:sp>
        <p:nvSpPr>
          <p:cNvPr id="19" name="tile Pump Reciprocating"/>
          <p:cNvSpPr/>
          <p:nvPr/>
        </p:nvSpPr>
        <p:spPr>
          <a:xfrm>
            <a:off x="8229600" y="1417320"/>
            <a:ext cx="1417320" cy="1691640"/>
          </a:xfrm>
          <a:prstGeom prst="rect">
            <a:avLst/>
          </a:prstGeom>
          <a:solidFill>
            <a:srgbClr val="D9D9D9"/>
          </a:solidFill>
          <a:ln w="9525">
            <a:solidFill>
              <a:srgbClr val="D9D9D9"/>
            </a:solidFill>
            <a:prstDash val="solid"/>
          </a:ln>
        </p:spPr>
      </p:sp>
      <p:pic>
        <p:nvPicPr>
          <p:cNvPr id="20" name="img Pump_Reciprocating.png" descr="Pump Reciprocating template">    </p:cNvPr>
          <p:cNvPicPr>
            <a:picLocks noChangeAspect="1"/>
          </p:cNvPicPr>
          <p:nvPr/>
        </p:nvPicPr>
        <p:blipFill>
          <a:blip r:embed="rId6"/>
          <a:stretch>
            <a:fillRect/>
          </a:stretch>
        </p:blipFill>
        <p:spPr>
          <a:xfrm>
            <a:off x="8302752" y="1465936"/>
            <a:ext cx="1271016" cy="1228649"/>
          </a:xfrm>
          <a:prstGeom prst="rect">
            <a:avLst/>
          </a:prstGeom>
        </p:spPr>
      </p:pic>
      <p:sp>
        <p:nvSpPr>
          <p:cNvPr id="21" name="Text 13"/>
          <p:cNvSpPr txBox="1"/>
          <p:nvPr/>
        </p:nvSpPr>
        <p:spPr>
          <a:xfrm>
            <a:off x="8257032" y="271576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Pump Reciprocating</a:t>
            </a:r>
            <a:endParaRPr lang="en-US" sz="1000" dirty="0"/>
          </a:p>
        </p:txBody>
      </p:sp>
      <p:sp>
        <p:nvSpPr>
          <p:cNvPr id="22" name="tile Compressor Centrifugal"/>
          <p:cNvSpPr/>
          <p:nvPr/>
        </p:nvSpPr>
        <p:spPr>
          <a:xfrm>
            <a:off x="548640" y="3291840"/>
            <a:ext cx="1417320" cy="1691640"/>
          </a:xfrm>
          <a:prstGeom prst="rect">
            <a:avLst/>
          </a:prstGeom>
          <a:solidFill>
            <a:srgbClr val="D9D9D9"/>
          </a:solidFill>
          <a:ln w="9525">
            <a:solidFill>
              <a:srgbClr val="D9D9D9"/>
            </a:solidFill>
            <a:prstDash val="solid"/>
          </a:ln>
        </p:spPr>
      </p:sp>
      <p:pic>
        <p:nvPicPr>
          <p:cNvPr id="23" name="img Compressor_Centrifugal.png" descr="Compressor Centrifugal template">    </p:cNvPr>
          <p:cNvPicPr>
            <a:picLocks noChangeAspect="1"/>
          </p:cNvPicPr>
          <p:nvPr/>
        </p:nvPicPr>
        <p:blipFill>
          <a:blip r:embed="rId7"/>
          <a:stretch>
            <a:fillRect/>
          </a:stretch>
        </p:blipFill>
        <p:spPr>
          <a:xfrm>
            <a:off x="621792" y="3340456"/>
            <a:ext cx="1271016" cy="1228649"/>
          </a:xfrm>
          <a:prstGeom prst="rect">
            <a:avLst/>
          </a:prstGeom>
        </p:spPr>
      </p:pic>
      <p:sp>
        <p:nvSpPr>
          <p:cNvPr id="24" name="Text 15"/>
          <p:cNvSpPr txBox="1"/>
          <p:nvPr/>
        </p:nvSpPr>
        <p:spPr>
          <a:xfrm>
            <a:off x="576072"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Compressor Centrifugal</a:t>
            </a:r>
            <a:endParaRPr lang="en-US" sz="1000" dirty="0"/>
          </a:p>
        </p:txBody>
      </p:sp>
      <p:sp>
        <p:nvSpPr>
          <p:cNvPr id="25" name="tile Compressor Diaphragm"/>
          <p:cNvSpPr/>
          <p:nvPr/>
        </p:nvSpPr>
        <p:spPr>
          <a:xfrm>
            <a:off x="2084832" y="3291840"/>
            <a:ext cx="1417320" cy="1691640"/>
          </a:xfrm>
          <a:prstGeom prst="rect">
            <a:avLst/>
          </a:prstGeom>
          <a:solidFill>
            <a:srgbClr val="D9D9D9"/>
          </a:solidFill>
          <a:ln w="9525">
            <a:solidFill>
              <a:srgbClr val="D9D9D9"/>
            </a:solidFill>
            <a:prstDash val="solid"/>
          </a:ln>
        </p:spPr>
      </p:sp>
      <p:pic>
        <p:nvPicPr>
          <p:cNvPr id="26" name="img Compressor_Diaphragm.png" descr="Compressor Diaphragm template">    </p:cNvPr>
          <p:cNvPicPr>
            <a:picLocks noChangeAspect="1"/>
          </p:cNvPicPr>
          <p:nvPr/>
        </p:nvPicPr>
        <p:blipFill>
          <a:blip r:embed="rId8"/>
          <a:stretch>
            <a:fillRect/>
          </a:stretch>
        </p:blipFill>
        <p:spPr>
          <a:xfrm>
            <a:off x="2157984" y="3340456"/>
            <a:ext cx="1271016" cy="1228649"/>
          </a:xfrm>
          <a:prstGeom prst="rect">
            <a:avLst/>
          </a:prstGeom>
        </p:spPr>
      </p:pic>
      <p:sp>
        <p:nvSpPr>
          <p:cNvPr id="27" name="Text 17"/>
          <p:cNvSpPr txBox="1"/>
          <p:nvPr/>
        </p:nvSpPr>
        <p:spPr>
          <a:xfrm>
            <a:off x="2112264"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Compressor Diaphragm</a:t>
            </a:r>
            <a:endParaRPr lang="en-US" sz="1000" dirty="0"/>
          </a:p>
        </p:txBody>
      </p:sp>
      <p:sp>
        <p:nvSpPr>
          <p:cNvPr id="28" name="tile Blower"/>
          <p:cNvSpPr/>
          <p:nvPr/>
        </p:nvSpPr>
        <p:spPr>
          <a:xfrm>
            <a:off x="3621024" y="3291840"/>
            <a:ext cx="1417320" cy="1691640"/>
          </a:xfrm>
          <a:prstGeom prst="rect">
            <a:avLst/>
          </a:prstGeom>
          <a:solidFill>
            <a:srgbClr val="D9D9D9"/>
          </a:solidFill>
          <a:ln w="9525">
            <a:solidFill>
              <a:srgbClr val="D9D9D9"/>
            </a:solidFill>
            <a:prstDash val="solid"/>
          </a:ln>
        </p:spPr>
      </p:sp>
      <p:pic>
        <p:nvPicPr>
          <p:cNvPr id="29" name="img Blower.png" descr="Blower template">    </p:cNvPr>
          <p:cNvPicPr>
            <a:picLocks noChangeAspect="1"/>
          </p:cNvPicPr>
          <p:nvPr/>
        </p:nvPicPr>
        <p:blipFill>
          <a:blip r:embed="rId9"/>
          <a:stretch>
            <a:fillRect/>
          </a:stretch>
        </p:blipFill>
        <p:spPr>
          <a:xfrm>
            <a:off x="3694176" y="3340456"/>
            <a:ext cx="1271016" cy="1228649"/>
          </a:xfrm>
          <a:prstGeom prst="rect">
            <a:avLst/>
          </a:prstGeom>
        </p:spPr>
      </p:pic>
      <p:sp>
        <p:nvSpPr>
          <p:cNvPr id="30" name="Text 19"/>
          <p:cNvSpPr txBox="1"/>
          <p:nvPr/>
        </p:nvSpPr>
        <p:spPr>
          <a:xfrm>
            <a:off x="3648456"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Blower</a:t>
            </a:r>
            <a:endParaRPr lang="en-US" sz="1000" dirty="0"/>
          </a:p>
        </p:txBody>
      </p:sp>
      <p:sp>
        <p:nvSpPr>
          <p:cNvPr id="31" name="tile Agitator"/>
          <p:cNvSpPr/>
          <p:nvPr/>
        </p:nvSpPr>
        <p:spPr>
          <a:xfrm>
            <a:off x="5157216" y="3291840"/>
            <a:ext cx="1417320" cy="1691640"/>
          </a:xfrm>
          <a:prstGeom prst="rect">
            <a:avLst/>
          </a:prstGeom>
          <a:solidFill>
            <a:srgbClr val="D9D9D9"/>
          </a:solidFill>
          <a:ln w="9525">
            <a:solidFill>
              <a:srgbClr val="D9D9D9"/>
            </a:solidFill>
            <a:prstDash val="solid"/>
          </a:ln>
        </p:spPr>
      </p:sp>
      <p:pic>
        <p:nvPicPr>
          <p:cNvPr id="32" name="img Agitator.png" descr="Agitator template">    </p:cNvPr>
          <p:cNvPicPr>
            <a:picLocks noChangeAspect="1"/>
          </p:cNvPicPr>
          <p:nvPr/>
        </p:nvPicPr>
        <p:blipFill>
          <a:blip r:embed="rId10"/>
          <a:stretch>
            <a:fillRect/>
          </a:stretch>
        </p:blipFill>
        <p:spPr>
          <a:xfrm>
            <a:off x="5230368" y="3340456"/>
            <a:ext cx="1271016" cy="1228649"/>
          </a:xfrm>
          <a:prstGeom prst="rect">
            <a:avLst/>
          </a:prstGeom>
        </p:spPr>
      </p:pic>
      <p:sp>
        <p:nvSpPr>
          <p:cNvPr id="33" name="Text 21"/>
          <p:cNvSpPr txBox="1"/>
          <p:nvPr/>
        </p:nvSpPr>
        <p:spPr>
          <a:xfrm>
            <a:off x="5184648"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Agitator</a:t>
            </a:r>
            <a:endParaRPr lang="en-US" sz="1000" dirty="0"/>
          </a:p>
        </p:txBody>
      </p:sp>
      <p:sp>
        <p:nvSpPr>
          <p:cNvPr id="34" name="tile HX AirCooled"/>
          <p:cNvSpPr/>
          <p:nvPr/>
        </p:nvSpPr>
        <p:spPr>
          <a:xfrm>
            <a:off x="6693408" y="3291840"/>
            <a:ext cx="1417320" cy="1691640"/>
          </a:xfrm>
          <a:prstGeom prst="rect">
            <a:avLst/>
          </a:prstGeom>
          <a:solidFill>
            <a:srgbClr val="D9D9D9"/>
          </a:solidFill>
          <a:ln w="9525">
            <a:solidFill>
              <a:srgbClr val="D9D9D9"/>
            </a:solidFill>
            <a:prstDash val="solid"/>
          </a:ln>
        </p:spPr>
      </p:sp>
      <p:pic>
        <p:nvPicPr>
          <p:cNvPr id="35" name="img HX_AirCooled.png" descr="HX AirCooled template">    </p:cNvPr>
          <p:cNvPicPr>
            <a:picLocks noChangeAspect="1"/>
          </p:cNvPicPr>
          <p:nvPr/>
        </p:nvPicPr>
        <p:blipFill>
          <a:blip r:embed="rId11"/>
          <a:stretch>
            <a:fillRect/>
          </a:stretch>
        </p:blipFill>
        <p:spPr>
          <a:xfrm>
            <a:off x="6766560" y="3340456"/>
            <a:ext cx="1271016" cy="1228649"/>
          </a:xfrm>
          <a:prstGeom prst="rect">
            <a:avLst/>
          </a:prstGeom>
        </p:spPr>
      </p:pic>
      <p:sp>
        <p:nvSpPr>
          <p:cNvPr id="36" name="Text 23"/>
          <p:cNvSpPr txBox="1"/>
          <p:nvPr/>
        </p:nvSpPr>
        <p:spPr>
          <a:xfrm>
            <a:off x="6720840"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HX AirCooled</a:t>
            </a:r>
            <a:endParaRPr lang="en-US" sz="1000" dirty="0"/>
          </a:p>
        </p:txBody>
      </p:sp>
      <p:sp>
        <p:nvSpPr>
          <p:cNvPr id="37" name="tile Heater Electric"/>
          <p:cNvSpPr/>
          <p:nvPr/>
        </p:nvSpPr>
        <p:spPr>
          <a:xfrm>
            <a:off x="8229600" y="3291840"/>
            <a:ext cx="1417320" cy="1691640"/>
          </a:xfrm>
          <a:prstGeom prst="rect">
            <a:avLst/>
          </a:prstGeom>
          <a:solidFill>
            <a:srgbClr val="D9D9D9"/>
          </a:solidFill>
          <a:ln w="9525">
            <a:solidFill>
              <a:srgbClr val="D9D9D9"/>
            </a:solidFill>
            <a:prstDash val="solid"/>
          </a:ln>
        </p:spPr>
      </p:sp>
      <p:pic>
        <p:nvPicPr>
          <p:cNvPr id="38" name="img Heater_Electric.png" descr="Heater Electric template">    </p:cNvPr>
          <p:cNvPicPr>
            <a:picLocks noChangeAspect="1"/>
          </p:cNvPicPr>
          <p:nvPr/>
        </p:nvPicPr>
        <p:blipFill>
          <a:blip r:embed="rId12"/>
          <a:stretch>
            <a:fillRect/>
          </a:stretch>
        </p:blipFill>
        <p:spPr>
          <a:xfrm>
            <a:off x="8302752" y="3340456"/>
            <a:ext cx="1271016" cy="1228649"/>
          </a:xfrm>
          <a:prstGeom prst="rect">
            <a:avLst/>
          </a:prstGeom>
        </p:spPr>
      </p:pic>
      <p:sp>
        <p:nvSpPr>
          <p:cNvPr id="39" name="Text 25"/>
          <p:cNvSpPr txBox="1"/>
          <p:nvPr/>
        </p:nvSpPr>
        <p:spPr>
          <a:xfrm>
            <a:off x="8257032" y="4590288"/>
            <a:ext cx="1371600" cy="365760"/>
          </a:xfrm>
          <a:prstGeom prst="rect">
            <a:avLst/>
          </a:prstGeom>
          <a:noFill/>
          <a:ln/>
        </p:spPr>
        <p:txBody>
          <a:bodyPr wrap="square" lIns="0" tIns="0" rIns="0" bIns="0" rtlCol="0" anchor="t"/>
          <a:lstStyle/>
          <a:p>
            <a:pPr algn="ctr" indent="0" marL="0">
              <a:buNone/>
            </a:pPr>
            <a:r>
              <a:rPr lang="en-US" sz="1000" dirty="0">
                <a:solidFill>
                  <a:srgbClr val="4D4D4D"/>
                </a:solidFill>
              </a:rPr>
              <a:t>Heater Electric</a:t>
            </a:r>
            <a:endParaRPr lang="en-US" sz="1000" dirty="0"/>
          </a:p>
        </p:txBody>
      </p:sp>
      <p:sp>
        <p:nvSpPr>
          <p:cNvPr id="40" name="type card"/>
          <p:cNvSpPr/>
          <p:nvPr/>
        </p:nvSpPr>
        <p:spPr>
          <a:xfrm>
            <a:off x="9921240" y="1417320"/>
            <a:ext cx="1691640" cy="3611880"/>
          </a:xfrm>
          <a:prstGeom prst="rect">
            <a:avLst/>
          </a:prstGeom>
          <a:solidFill>
            <a:srgbClr val="F0F0F0"/>
          </a:solidFill>
          <a:ln w="9525">
            <a:solidFill>
              <a:srgbClr val="D0D0D0"/>
            </a:solidFill>
            <a:prstDash val="solid"/>
          </a:ln>
        </p:spPr>
      </p:sp>
      <p:sp>
        <p:nvSpPr>
          <p:cNvPr id="41" name="Text 27"/>
          <p:cNvSpPr txBox="1"/>
          <p:nvPr/>
        </p:nvSpPr>
        <p:spPr>
          <a:xfrm>
            <a:off x="10058400" y="1554480"/>
            <a:ext cx="1463040" cy="3383280"/>
          </a:xfrm>
          <a:prstGeom prst="rect">
            <a:avLst/>
          </a:prstGeom>
          <a:noFill/>
          <a:ln/>
        </p:spPr>
        <p:txBody>
          <a:bodyPr wrap="square" lIns="0" tIns="0" rIns="0" bIns="0" rtlCol="0" anchor="t"/>
          <a:lstStyle/>
          <a:p>
            <a:pPr indent="0" marL="0">
              <a:buNone/>
            </a:pPr>
            <a:r>
              <a:rPr lang="en-US" sz="1300" b="1" dirty="0">
                <a:solidFill>
                  <a:schemeClr val="tx1"/>
                </a:solidFill>
              </a:rPr>
              <a:t>Bound type</a:t>
            </a:r>
            <a:endParaRPr lang="en-US" sz="1300" dirty="0"/>
          </a:p>
          <a:p>
            <a:pPr indent="0" marL="0">
              <a:buNone/>
            </a:pPr>
            <a:r>
              <a:rPr lang="en-US" sz="1300" dirty="0">
                <a:solidFill>
                  <a:schemeClr val="tx1"/>
                </a:solidFill>
              </a:rPr>
              <a:t>T_Motor by default</a:t>
            </a:r>
            <a:endParaRPr lang="en-US" sz="1300" dirty="0"/>
          </a:p>
          <a:p>
            <a:pPr indent="0" marL="0">
              <a:buNone/>
            </a:pPr>
            <a:r>
              <a:rPr lang="en-US" sz="1300" dirty="0">
                <a:solidFill>
                  <a:schemeClr val="tx1"/>
                </a:solidFill>
              </a:rPr>
              <a:t> </a:t>
            </a:r>
            <a:endParaRPr lang="en-US" sz="1300" dirty="0"/>
          </a:p>
          <a:p>
            <a:pPr indent="0" marL="0">
              <a:buNone/>
            </a:pPr>
            <a:r>
              <a:rPr lang="en-US" sz="1300" b="1" dirty="0">
                <a:solidFill>
                  <a:schemeClr val="tx1"/>
                </a:solidFill>
              </a:rPr>
              <a:t>tType = T_VFD</a:t>
            </a:r>
            <a:endParaRPr lang="en-US" sz="1300" dirty="0"/>
          </a:p>
          <a:p>
            <a:pPr indent="0" marL="0">
              <a:buNone/>
            </a:pPr>
            <a:r>
              <a:rPr lang="en-US" sz="1300" dirty="0">
                <a:solidFill>
                  <a:srgbClr val="4D4D4D"/>
                </a:solidFill>
              </a:rPr>
              <a:t>for agitators and compressors on a drive</a:t>
            </a:r>
            <a:endParaRPr lang="en-US" sz="1300" dirty="0"/>
          </a:p>
          <a:p>
            <a:pPr indent="0" marL="0">
              <a:buNone/>
            </a:pPr>
            <a:r>
              <a:rPr lang="en-US" sz="1300" dirty="0">
                <a:solidFill>
                  <a:schemeClr val="tx1"/>
                </a:solidFill>
              </a:rPr>
              <a:t> </a:t>
            </a:r>
            <a:endParaRPr lang="en-US" sz="1300" dirty="0"/>
          </a:p>
          <a:p>
            <a:pPr indent="0" marL="0">
              <a:buNone/>
            </a:pPr>
            <a:r>
              <a:rPr lang="en-US" sz="1300" b="1" dirty="0">
                <a:solidFill>
                  <a:schemeClr val="tx1"/>
                </a:solidFill>
              </a:rPr>
              <a:t>Heater = T_Heater</a:t>
            </a:r>
            <a:endParaRPr lang="en-US" sz="1300" dirty="0"/>
          </a:p>
          <a:p>
            <a:pPr indent="0" marL="0">
              <a:buNone/>
            </a:pPr>
            <a:r>
              <a:rPr lang="en-US" sz="1300" dirty="0">
                <a:solidFill>
                  <a:srgbClr val="4D4D4D"/>
                </a:solidFill>
              </a:rPr>
              <a:t>contactor, SSR or SCR</a:t>
            </a:r>
            <a:endParaRPr lang="en-US" sz="1300" dirty="0"/>
          </a:p>
        </p:txBody>
      </p:sp>
      <p:sp>
        <p:nvSpPr>
          <p:cNvPr id="42" name="Text 28"/>
          <p:cNvSpPr txBox="1"/>
          <p:nvPr/>
        </p:nvSpPr>
        <p:spPr>
          <a:xfrm>
            <a:off x="548640" y="5257800"/>
            <a:ext cx="11064240" cy="914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Same layout on all of them: tag above, status below, P above the left port, I above the right port</a:t>
            </a:r>
            <a:endParaRPr lang="en-US" sz="1400" dirty="0"/>
          </a:p>
          <a:p>
            <a:pPr marL="177800" indent="-177800">
              <a:spcAft>
                <a:spcPts val="600"/>
              </a:spcAft>
              <a:buSzPct val="100000"/>
              <a:buChar char="•"/>
            </a:pPr>
            <a:r>
              <a:rPr lang="en-US" sz="1400" dirty="0">
                <a:solidFill>
                  <a:schemeClr val="tx1"/>
                </a:solidFill>
              </a:rPr>
              <a:t>Centrifugal pump and blower drop the I badge to lower right so it clears the top discharge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Manual mode and commanding from the symbol</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BEHAVIOUR</a:t>
            </a:r>
            <a:endParaRPr lang="en-US" sz="1000" dirty="0"/>
          </a:p>
        </p:txBody>
      </p:sp>
      <p:sp>
        <p:nvSpPr>
          <p:cNvPr id="4" name="useButton true"/>
          <p:cNvSpPr/>
          <p:nvPr/>
        </p:nvSpPr>
        <p:spPr>
          <a:xfrm>
            <a:off x="548640" y="1463040"/>
            <a:ext cx="3291840" cy="2651760"/>
          </a:xfrm>
          <a:prstGeom prst="rect">
            <a:avLst/>
          </a:prstGeom>
          <a:solidFill>
            <a:srgbClr val="D9D9D9"/>
          </a:solidFill>
          <a:ln w="9525">
            <a:solidFill>
              <a:srgbClr val="D9D9D9"/>
            </a:solidFill>
            <a:prstDash val="solid"/>
          </a:ln>
        </p:spPr>
      </p:sp>
      <p:pic>
        <p:nvPicPr>
          <p:cNvPr id="5" name="img xv102.png" descr="xv102.png">    </p:cNvPr>
          <p:cNvPicPr>
            <a:picLocks noChangeAspect="1"/>
          </p:cNvPicPr>
          <p:nvPr/>
        </p:nvPicPr>
        <p:blipFill>
          <a:blip r:embed="rId1"/>
          <a:stretch>
            <a:fillRect/>
          </a:stretch>
        </p:blipFill>
        <p:spPr>
          <a:xfrm>
            <a:off x="714267" y="1554480"/>
            <a:ext cx="2960586" cy="2011680"/>
          </a:xfrm>
          <a:prstGeom prst="rect">
            <a:avLst/>
          </a:prstGeom>
        </p:spPr>
      </p:pic>
      <p:sp>
        <p:nvSpPr>
          <p:cNvPr id="6" name="Text 3"/>
          <p:cNvSpPr txBox="1"/>
          <p:nvPr/>
        </p:nvSpPr>
        <p:spPr>
          <a:xfrm>
            <a:off x="548640" y="3657600"/>
            <a:ext cx="3291840" cy="365760"/>
          </a:xfrm>
          <a:prstGeom prst="rect">
            <a:avLst/>
          </a:prstGeom>
          <a:noFill/>
          <a:ln/>
        </p:spPr>
        <p:txBody>
          <a:bodyPr wrap="square" lIns="0" tIns="0" rIns="0" bIns="0" rtlCol="0" anchor="t"/>
          <a:lstStyle/>
          <a:p>
            <a:pPr algn="ctr" indent="0" marL="0">
              <a:buNone/>
            </a:pPr>
            <a:r>
              <a:rPr lang="en-US" sz="1500" b="1" dirty="0">
                <a:solidFill>
                  <a:schemeClr val="tx1"/>
                </a:solidFill>
              </a:rPr>
              <a:t>useButton = true</a:t>
            </a:r>
            <a:endParaRPr lang="en-US" sz="1500" dirty="0"/>
          </a:p>
        </p:txBody>
      </p:sp>
      <p:sp>
        <p:nvSpPr>
          <p:cNvPr id="7" name="useButton false"/>
          <p:cNvSpPr/>
          <p:nvPr/>
        </p:nvSpPr>
        <p:spPr>
          <a:xfrm>
            <a:off x="4114800" y="1463040"/>
            <a:ext cx="3291840" cy="2651760"/>
          </a:xfrm>
          <a:prstGeom prst="rect">
            <a:avLst/>
          </a:prstGeom>
          <a:solidFill>
            <a:srgbClr val="D9D9D9"/>
          </a:solidFill>
          <a:ln w="9525">
            <a:solidFill>
              <a:srgbClr val="D9D9D9"/>
            </a:solidFill>
            <a:prstDash val="solid"/>
          </a:ln>
        </p:spPr>
      </p:sp>
      <p:pic>
        <p:nvPicPr>
          <p:cNvPr id="8" name="img xv103.png" descr="xv103.png">    </p:cNvPr>
          <p:cNvPicPr>
            <a:picLocks noChangeAspect="1"/>
          </p:cNvPicPr>
          <p:nvPr/>
        </p:nvPicPr>
        <p:blipFill>
          <a:blip r:embed="rId2"/>
          <a:stretch>
            <a:fillRect/>
          </a:stretch>
        </p:blipFill>
        <p:spPr>
          <a:xfrm>
            <a:off x="4318383" y="1554480"/>
            <a:ext cx="2884673" cy="2011680"/>
          </a:xfrm>
          <a:prstGeom prst="rect">
            <a:avLst/>
          </a:prstGeom>
        </p:spPr>
      </p:pic>
      <p:sp>
        <p:nvSpPr>
          <p:cNvPr id="9" name="Text 5"/>
          <p:cNvSpPr txBox="1"/>
          <p:nvPr/>
        </p:nvSpPr>
        <p:spPr>
          <a:xfrm>
            <a:off x="4114800" y="3657600"/>
            <a:ext cx="3291840" cy="365760"/>
          </a:xfrm>
          <a:prstGeom prst="rect">
            <a:avLst/>
          </a:prstGeom>
          <a:noFill/>
          <a:ln/>
        </p:spPr>
        <p:txBody>
          <a:bodyPr wrap="square" lIns="0" tIns="0" rIns="0" bIns="0" rtlCol="0" anchor="t"/>
          <a:lstStyle/>
          <a:p>
            <a:pPr algn="ctr" indent="0" marL="0">
              <a:buNone/>
            </a:pPr>
            <a:r>
              <a:rPr lang="en-US" sz="1500" b="1" dirty="0">
                <a:solidFill>
                  <a:schemeClr val="tx1"/>
                </a:solidFill>
              </a:rPr>
              <a:t>useButton = false (touch)</a:t>
            </a:r>
            <a:endParaRPr lang="en-US" sz="1500" dirty="0"/>
          </a:p>
        </p:txBody>
      </p:sp>
      <p:sp>
        <p:nvSpPr>
          <p:cNvPr id="10" name="Text 6"/>
          <p:cNvSpPr txBox="1"/>
          <p:nvPr/>
        </p:nvSpPr>
        <p:spPr>
          <a:xfrm>
            <a:off x="548640" y="4297680"/>
            <a:ext cx="6858000" cy="914400"/>
          </a:xfrm>
          <a:prstGeom prst="rect">
            <a:avLst/>
          </a:prstGeom>
          <a:noFill/>
          <a:ln/>
        </p:spPr>
        <p:txBody>
          <a:bodyPr wrap="square" lIns="0" tIns="0" rIns="0" bIns="0" rtlCol="0" anchor="t"/>
          <a:lstStyle/>
          <a:p>
            <a:pPr indent="0" marL="0">
              <a:buNone/>
            </a:pPr>
            <a:r>
              <a:rPr lang="en-US" sz="1400" dirty="0">
                <a:solidFill>
                  <a:srgbClr val="4D4D4D"/>
                </a:solidFill>
              </a:rPr>
              <a:t>Button mode: a blank raised key appears only in Manual. Touch mode: no button; a yellow M joins the status and the symbol itself is the command target.</a:t>
            </a:r>
            <a:endParaRPr lang="en-US" sz="1400" dirty="0"/>
          </a:p>
        </p:txBody>
      </p:sp>
      <p:sp>
        <p:nvSpPr>
          <p:cNvPr id="11" name="rules card"/>
          <p:cNvSpPr/>
          <p:nvPr/>
        </p:nvSpPr>
        <p:spPr>
          <a:xfrm>
            <a:off x="7772400" y="1463040"/>
            <a:ext cx="3840480" cy="4526280"/>
          </a:xfrm>
          <a:prstGeom prst="rect">
            <a:avLst/>
          </a:prstGeom>
          <a:solidFill>
            <a:srgbClr val="FFFFFF"/>
          </a:solidFill>
          <a:ln w="9525">
            <a:solidFill>
              <a:srgbClr val="A6A6A6"/>
            </a:solidFill>
            <a:prstDash val="solid"/>
          </a:ln>
        </p:spPr>
      </p:sp>
      <p:sp>
        <p:nvSpPr>
          <p:cNvPr id="12" name="Text 8"/>
          <p:cNvSpPr txBox="1"/>
          <p:nvPr/>
        </p:nvSpPr>
        <p:spPr>
          <a:xfrm>
            <a:off x="8001000" y="1600200"/>
            <a:ext cx="3474720" cy="365760"/>
          </a:xfrm>
          <a:prstGeom prst="rect">
            <a:avLst/>
          </a:prstGeom>
          <a:noFill/>
          <a:ln/>
        </p:spPr>
        <p:txBody>
          <a:bodyPr wrap="square" lIns="0" tIns="0" rIns="0" bIns="0" rtlCol="0" anchor="t"/>
          <a:lstStyle/>
          <a:p>
            <a:pPr indent="0" marL="0">
              <a:buNone/>
            </a:pPr>
            <a:r>
              <a:rPr lang="en-US" sz="1600" b="1" dirty="0">
                <a:solidFill>
                  <a:schemeClr val="tx1"/>
                </a:solidFill>
              </a:rPr>
              <a:t>Command rules</a:t>
            </a:r>
            <a:endParaRPr lang="en-US" sz="1600" dirty="0"/>
          </a:p>
        </p:txBody>
      </p:sp>
      <p:sp>
        <p:nvSpPr>
          <p:cNvPr id="13" name="Text 9"/>
          <p:cNvSpPr txBox="1"/>
          <p:nvPr/>
        </p:nvSpPr>
        <p:spPr>
          <a:xfrm>
            <a:off x="8001000" y="2057400"/>
            <a:ext cx="3474720" cy="3840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Click the symbol: opens its dynamic window</a:t>
            </a:r>
            <a:endParaRPr lang="en-US" sz="1400" dirty="0"/>
          </a:p>
          <a:p>
            <a:pPr marL="177800" indent="-177800">
              <a:spcAft>
                <a:spcPts val="600"/>
              </a:spcAft>
              <a:buSzPct val="100000"/>
              <a:buChar char="•"/>
            </a:pPr>
            <a:r>
              <a:rPr lang="en-US" sz="1400" dirty="0">
                <a:solidFill>
                  <a:schemeClr val="tx1"/>
                </a:solidFill>
              </a:rPr>
              <a:t>Double-tap: commands T_DValve / T_Motor only</a:t>
            </a:r>
            <a:endParaRPr lang="en-US" sz="1400" dirty="0"/>
          </a:p>
          <a:p>
            <a:pPr marL="177800" indent="-177800">
              <a:spcAft>
                <a:spcPts val="600"/>
              </a:spcAft>
              <a:buSzPct val="100000"/>
              <a:buChar char="•"/>
            </a:pPr>
            <a:r>
              <a:rPr lang="en-US" sz="1400" dirty="0">
                <a:solidFill>
                  <a:schemeClr val="tx1"/>
                </a:solidFill>
              </a:rPr>
              <a:t>Only when in Manual, available, not interlocked, not blocked by a permissive, not Local, not faulted</a:t>
            </a:r>
            <a:endParaRPr lang="en-US" sz="1400" dirty="0"/>
          </a:p>
          <a:p>
            <a:pPr marL="177800" indent="-177800">
              <a:spcAft>
                <a:spcPts val="600"/>
              </a:spcAft>
              <a:buSzPct val="100000"/>
              <a:buChar char="•"/>
            </a:pPr>
            <a:r>
              <a:rPr lang="en-US" sz="1400" dirty="0">
                <a:solidFill>
                  <a:schemeClr val="tx1"/>
                </a:solidFill>
              </a:rPr>
              <a:t>Opening or starting is blocked by P or I; from the symbol button, closing or stopping is always allowed</a:t>
            </a:r>
            <a:endParaRPr lang="en-US" sz="1400" dirty="0"/>
          </a:p>
          <a:p>
            <a:pPr marL="177800" indent="-177800">
              <a:spcAft>
                <a:spcPts val="600"/>
              </a:spcAft>
              <a:buSzPct val="100000"/>
              <a:buChar char="•"/>
            </a:pPr>
            <a:r>
              <a:rPr lang="en-US" sz="1400" dirty="0">
                <a:solidFill>
                  <a:schemeClr val="tx1"/>
                </a:solidFill>
              </a:rPr>
              <a:t>Hand cursor only when a click would act</a:t>
            </a:r>
            <a:endParaRPr lang="en-US" sz="1400" dirty="0"/>
          </a:p>
          <a:p>
            <a:pPr marL="177800" indent="-177800">
              <a:spcAft>
                <a:spcPts val="600"/>
              </a:spcAft>
              <a:buSzPct val="100000"/>
              <a:buChar char="•"/>
            </a:pPr>
            <a:r>
              <a:rPr lang="en-US" sz="1400" dirty="0">
                <a:solidFill>
                  <a:schemeClr val="tx1"/>
                </a:solidFill>
              </a:rPr>
              <a:t>The PLC still enforces every rule</a:t>
            </a:r>
            <a:endParaRPr lang="en-US" sz="1400" dirty="0"/>
          </a:p>
        </p:txBody>
      </p:sp>
      <p:sp>
        <p:nvSpPr>
          <p:cNvPr id="14" name="Text 10"/>
          <p:cNvSpPr txBox="1"/>
          <p:nvPr/>
        </p:nvSpPr>
        <p:spPr>
          <a:xfrm>
            <a:off x="548640" y="5394960"/>
            <a:ext cx="6858000" cy="365760"/>
          </a:xfrm>
          <a:prstGeom prst="rect">
            <a:avLst/>
          </a:prstGeom>
          <a:noFill/>
          <a:ln/>
        </p:spPr>
        <p:txBody>
          <a:bodyPr wrap="square" lIns="0" tIns="0" rIns="0" bIns="0" rtlCol="0" anchor="t"/>
          <a:lstStyle/>
          <a:p>
            <a:pPr indent="0" marL="0">
              <a:buNone/>
            </a:pPr>
            <a:r>
              <a:rPr lang="en-US" sz="1400" i="1" dirty="0">
                <a:solidFill>
                  <a:schemeClr val="tx1"/>
                </a:solidFill>
              </a:rPr>
              <a:t>Auto shows no marker: only abnormal modes are flagged.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Alarms, faults and bad data on a symbol</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BEHAVIOUR</a:t>
            </a:r>
            <a:endParaRPr lang="en-US" sz="1000" dirty="0"/>
          </a:p>
        </p:txBody>
      </p:sp>
      <p:sp>
        <p:nvSpPr>
          <p:cNvPr id="4" name="example Interlock active"/>
          <p:cNvSpPr/>
          <p:nvPr/>
        </p:nvSpPr>
        <p:spPr>
          <a:xfrm>
            <a:off x="548640" y="1463040"/>
            <a:ext cx="1828800" cy="2103120"/>
          </a:xfrm>
          <a:prstGeom prst="rect">
            <a:avLst/>
          </a:prstGeom>
          <a:solidFill>
            <a:srgbClr val="D9D9D9"/>
          </a:solidFill>
          <a:ln w="9525">
            <a:solidFill>
              <a:srgbClr val="D9D9D9"/>
            </a:solidFill>
            <a:prstDash val="solid"/>
          </a:ln>
        </p:spPr>
      </p:sp>
      <p:pic>
        <p:nvPicPr>
          <p:cNvPr id="5" name="img xv104.png" descr="xv104.png">    </p:cNvPr>
          <p:cNvPicPr>
            <a:picLocks noChangeAspect="1"/>
          </p:cNvPicPr>
          <p:nvPr/>
        </p:nvPicPr>
        <p:blipFill>
          <a:blip r:embed="rId1"/>
          <a:stretch>
            <a:fillRect/>
          </a:stretch>
        </p:blipFill>
        <p:spPr>
          <a:xfrm>
            <a:off x="640080" y="1786652"/>
            <a:ext cx="1645920" cy="1135856"/>
          </a:xfrm>
          <a:prstGeom prst="rect">
            <a:avLst/>
          </a:prstGeom>
        </p:spPr>
      </p:pic>
      <p:sp>
        <p:nvSpPr>
          <p:cNvPr id="6" name="Text 3"/>
          <p:cNvSpPr txBox="1"/>
          <p:nvPr/>
        </p:nvSpPr>
        <p:spPr>
          <a:xfrm>
            <a:off x="548640" y="3200400"/>
            <a:ext cx="1828800" cy="320040"/>
          </a:xfrm>
          <a:prstGeom prst="rect">
            <a:avLst/>
          </a:prstGeom>
          <a:noFill/>
          <a:ln/>
        </p:spPr>
        <p:txBody>
          <a:bodyPr wrap="square" lIns="0" tIns="0" rIns="0" bIns="0" rtlCol="0" anchor="t"/>
          <a:lstStyle/>
          <a:p>
            <a:pPr algn="ctr" indent="0" marL="0">
              <a:buNone/>
            </a:pPr>
            <a:r>
              <a:rPr lang="en-US" sz="1200" b="1" dirty="0">
                <a:solidFill>
                  <a:schemeClr val="tx1"/>
                </a:solidFill>
              </a:rPr>
              <a:t>Interlock active</a:t>
            </a:r>
            <a:endParaRPr lang="en-US" sz="1200" dirty="0"/>
          </a:p>
        </p:txBody>
      </p:sp>
      <p:sp>
        <p:nvSpPr>
          <p:cNvPr id="7" name="example Permissive + interlock"/>
          <p:cNvSpPr/>
          <p:nvPr/>
        </p:nvSpPr>
        <p:spPr>
          <a:xfrm>
            <a:off x="2514600" y="1463040"/>
            <a:ext cx="1828800" cy="2103120"/>
          </a:xfrm>
          <a:prstGeom prst="rect">
            <a:avLst/>
          </a:prstGeom>
          <a:solidFill>
            <a:srgbClr val="D9D9D9"/>
          </a:solidFill>
          <a:ln w="9525">
            <a:solidFill>
              <a:srgbClr val="D9D9D9"/>
            </a:solidFill>
            <a:prstDash val="solid"/>
          </a:ln>
        </p:spPr>
      </p:sp>
      <p:pic>
        <p:nvPicPr>
          <p:cNvPr id="8" name="img p102.png" descr="p102.png">    </p:cNvPr>
          <p:cNvPicPr>
            <a:picLocks noChangeAspect="1"/>
          </p:cNvPicPr>
          <p:nvPr/>
        </p:nvPicPr>
        <p:blipFill>
          <a:blip r:embed="rId2"/>
          <a:stretch>
            <a:fillRect/>
          </a:stretch>
        </p:blipFill>
        <p:spPr>
          <a:xfrm>
            <a:off x="2606040" y="1623774"/>
            <a:ext cx="1645920" cy="1461611"/>
          </a:xfrm>
          <a:prstGeom prst="rect">
            <a:avLst/>
          </a:prstGeom>
        </p:spPr>
      </p:pic>
      <p:sp>
        <p:nvSpPr>
          <p:cNvPr id="9" name="Text 5"/>
          <p:cNvSpPr txBox="1"/>
          <p:nvPr/>
        </p:nvSpPr>
        <p:spPr>
          <a:xfrm>
            <a:off x="2514600" y="3200400"/>
            <a:ext cx="1828800" cy="320040"/>
          </a:xfrm>
          <a:prstGeom prst="rect">
            <a:avLst/>
          </a:prstGeom>
          <a:noFill/>
          <a:ln/>
        </p:spPr>
        <p:txBody>
          <a:bodyPr wrap="square" lIns="0" tIns="0" rIns="0" bIns="0" rtlCol="0" anchor="t"/>
          <a:lstStyle/>
          <a:p>
            <a:pPr algn="ctr" indent="0" marL="0">
              <a:buNone/>
            </a:pPr>
            <a:r>
              <a:rPr lang="en-US" sz="1200" b="1" dirty="0">
                <a:solidFill>
                  <a:schemeClr val="tx1"/>
                </a:solidFill>
              </a:rPr>
              <a:t>Permissive + interlock</a:t>
            </a:r>
            <a:endParaRPr lang="en-US" sz="1200" dirty="0"/>
          </a:p>
        </p:txBody>
      </p:sp>
      <p:sp>
        <p:nvSpPr>
          <p:cNvPr id="10" name="example Fault (valve)"/>
          <p:cNvSpPr/>
          <p:nvPr/>
        </p:nvSpPr>
        <p:spPr>
          <a:xfrm>
            <a:off x="4480560" y="1463040"/>
            <a:ext cx="1828800" cy="2103120"/>
          </a:xfrm>
          <a:prstGeom prst="rect">
            <a:avLst/>
          </a:prstGeom>
          <a:solidFill>
            <a:srgbClr val="D9D9D9"/>
          </a:solidFill>
          <a:ln w="9525">
            <a:solidFill>
              <a:srgbClr val="D9D9D9"/>
            </a:solidFill>
            <a:prstDash val="solid"/>
          </a:ln>
        </p:spPr>
      </p:sp>
      <p:pic>
        <p:nvPicPr>
          <p:cNvPr id="11" name="img xv105.png" descr="xv105.png">    </p:cNvPr>
          <p:cNvPicPr>
            <a:picLocks noChangeAspect="1"/>
          </p:cNvPicPr>
          <p:nvPr/>
        </p:nvPicPr>
        <p:blipFill>
          <a:blip r:embed="rId3"/>
          <a:stretch>
            <a:fillRect/>
          </a:stretch>
        </p:blipFill>
        <p:spPr>
          <a:xfrm>
            <a:off x="4572000" y="1786652"/>
            <a:ext cx="1645920" cy="1135856"/>
          </a:xfrm>
          <a:prstGeom prst="rect">
            <a:avLst/>
          </a:prstGeom>
        </p:spPr>
      </p:pic>
      <p:sp>
        <p:nvSpPr>
          <p:cNvPr id="12" name="Text 7"/>
          <p:cNvSpPr txBox="1"/>
          <p:nvPr/>
        </p:nvSpPr>
        <p:spPr>
          <a:xfrm>
            <a:off x="4480560" y="3200400"/>
            <a:ext cx="1828800" cy="320040"/>
          </a:xfrm>
          <a:prstGeom prst="rect">
            <a:avLst/>
          </a:prstGeom>
          <a:noFill/>
          <a:ln/>
        </p:spPr>
        <p:txBody>
          <a:bodyPr wrap="square" lIns="0" tIns="0" rIns="0" bIns="0" rtlCol="0" anchor="t"/>
          <a:lstStyle/>
          <a:p>
            <a:pPr algn="ctr" indent="0" marL="0">
              <a:buNone/>
            </a:pPr>
            <a:r>
              <a:rPr lang="en-US" sz="1200" b="1" dirty="0">
                <a:solidFill>
                  <a:schemeClr val="tx1"/>
                </a:solidFill>
              </a:rPr>
              <a:t>Fault (valve)</a:t>
            </a:r>
            <a:endParaRPr lang="en-US" sz="1200" dirty="0"/>
          </a:p>
        </p:txBody>
      </p:sp>
      <p:sp>
        <p:nvSpPr>
          <p:cNvPr id="13" name="example Fault (compressor)"/>
          <p:cNvSpPr/>
          <p:nvPr/>
        </p:nvSpPr>
        <p:spPr>
          <a:xfrm>
            <a:off x="6446520" y="1463040"/>
            <a:ext cx="1828800" cy="2103120"/>
          </a:xfrm>
          <a:prstGeom prst="rect">
            <a:avLst/>
          </a:prstGeom>
          <a:solidFill>
            <a:srgbClr val="D9D9D9"/>
          </a:solidFill>
          <a:ln w="9525">
            <a:solidFill>
              <a:srgbClr val="D9D9D9"/>
            </a:solidFill>
            <a:prstDash val="solid"/>
          </a:ln>
        </p:spPr>
      </p:sp>
      <p:pic>
        <p:nvPicPr>
          <p:cNvPr id="14" name="img k202.png" descr="k202.png">    </p:cNvPr>
          <p:cNvPicPr>
            <a:picLocks noChangeAspect="1"/>
          </p:cNvPicPr>
          <p:nvPr/>
        </p:nvPicPr>
        <p:blipFill>
          <a:blip r:embed="rId4"/>
          <a:stretch>
            <a:fillRect/>
          </a:stretch>
        </p:blipFill>
        <p:spPr>
          <a:xfrm>
            <a:off x="6537960" y="1654009"/>
            <a:ext cx="1645920" cy="1401142"/>
          </a:xfrm>
          <a:prstGeom prst="rect">
            <a:avLst/>
          </a:prstGeom>
        </p:spPr>
      </p:pic>
      <p:sp>
        <p:nvSpPr>
          <p:cNvPr id="15" name="Text 9"/>
          <p:cNvSpPr txBox="1"/>
          <p:nvPr/>
        </p:nvSpPr>
        <p:spPr>
          <a:xfrm>
            <a:off x="6446520" y="3200400"/>
            <a:ext cx="1828800" cy="320040"/>
          </a:xfrm>
          <a:prstGeom prst="rect">
            <a:avLst/>
          </a:prstGeom>
          <a:noFill/>
          <a:ln/>
        </p:spPr>
        <p:txBody>
          <a:bodyPr wrap="square" lIns="0" tIns="0" rIns="0" bIns="0" rtlCol="0" anchor="t"/>
          <a:lstStyle/>
          <a:p>
            <a:pPr algn="ctr" indent="0" marL="0">
              <a:buNone/>
            </a:pPr>
            <a:r>
              <a:rPr lang="en-US" sz="1200" b="1" dirty="0">
                <a:solidFill>
                  <a:schemeClr val="tx1"/>
                </a:solidFill>
              </a:rPr>
              <a:t>Fault (compressor)</a:t>
            </a:r>
            <a:endParaRPr lang="en-US" sz="1200" dirty="0"/>
          </a:p>
        </p:txBody>
      </p:sp>
      <p:sp>
        <p:nvSpPr>
          <p:cNvPr id="16" name="Text 10"/>
          <p:cNvSpPr txBox="1"/>
          <p:nvPr/>
        </p:nvSpPr>
        <p:spPr>
          <a:xfrm>
            <a:off x="8595360" y="1463040"/>
            <a:ext cx="3017520" cy="365760"/>
          </a:xfrm>
          <a:prstGeom prst="rect">
            <a:avLst/>
          </a:prstGeom>
          <a:noFill/>
          <a:ln/>
        </p:spPr>
        <p:txBody>
          <a:bodyPr wrap="square" lIns="0" tIns="0" rIns="0" bIns="0" rtlCol="0" anchor="t"/>
          <a:lstStyle/>
          <a:p>
            <a:pPr indent="0" marL="0">
              <a:buNone/>
            </a:pPr>
            <a:r>
              <a:rPr lang="en-US" sz="1600" b="1" dirty="0">
                <a:solidFill>
                  <a:schemeClr val="tx1"/>
                </a:solidFill>
              </a:rPr>
              <a:t>Outline precedence</a:t>
            </a:r>
            <a:endParaRPr lang="en-US" sz="1600" dirty="0"/>
          </a:p>
        </p:txBody>
      </p:sp>
      <p:sp>
        <p:nvSpPr>
          <p:cNvPr id="17" name="ladder 0"/>
          <p:cNvSpPr txBox="1"/>
          <p:nvPr/>
        </p:nvSpPr>
        <p:spPr>
          <a:xfrm>
            <a:off x="8595360" y="1920240"/>
            <a:ext cx="3017520" cy="457200"/>
          </a:xfrm>
          <a:prstGeom prst="rect">
            <a:avLst/>
          </a:prstGeom>
          <a:solidFill>
            <a:srgbClr val="D50000"/>
          </a:solidFill>
          <a:ln/>
        </p:spPr>
        <p:txBody>
          <a:bodyPr wrap="square" lIns="76200" tIns="76200" rIns="76200" bIns="76200" rtlCol="0" anchor="ctr"/>
          <a:lstStyle/>
          <a:p>
            <a:pPr indent="0" marL="0">
              <a:buNone/>
            </a:pPr>
            <a:r>
              <a:rPr lang="en-US" sz="1200" b="1" dirty="0">
                <a:solidFill>
                  <a:srgbClr val="FFFFFF"/>
                </a:solidFill>
              </a:rPr>
              <a:t>Fault: red 3 px border</a:t>
            </a:r>
            <a:endParaRPr lang="en-US" sz="1200" dirty="0"/>
          </a:p>
        </p:txBody>
      </p:sp>
      <p:sp>
        <p:nvSpPr>
          <p:cNvPr id="18" name="ladder 1"/>
          <p:cNvSpPr txBox="1"/>
          <p:nvPr/>
        </p:nvSpPr>
        <p:spPr>
          <a:xfrm>
            <a:off x="8778240" y="2487168"/>
            <a:ext cx="2834640" cy="457200"/>
          </a:xfrm>
          <a:prstGeom prst="rect">
            <a:avLst/>
          </a:prstGeom>
          <a:solidFill>
            <a:srgbClr val="FF7A00"/>
          </a:solidFill>
          <a:ln/>
        </p:spPr>
        <p:txBody>
          <a:bodyPr wrap="square" lIns="76200" tIns="76200" rIns="76200" bIns="76200" rtlCol="0" anchor="ctr"/>
          <a:lstStyle/>
          <a:p>
            <a:pPr indent="0" marL="0">
              <a:buNone/>
            </a:pPr>
            <a:r>
              <a:rPr lang="en-US" sz="1200" b="1" dirty="0">
                <a:solidFill>
                  <a:srgbClr val="1F1F1F"/>
                </a:solidFill>
              </a:rPr>
              <a:t>Highest active alarm priority</a:t>
            </a:r>
            <a:endParaRPr lang="en-US" sz="1200" dirty="0"/>
          </a:p>
        </p:txBody>
      </p:sp>
      <p:sp>
        <p:nvSpPr>
          <p:cNvPr id="19" name="ladder 2"/>
          <p:cNvSpPr txBox="1"/>
          <p:nvPr/>
        </p:nvSpPr>
        <p:spPr>
          <a:xfrm>
            <a:off x="8961120" y="3054096"/>
            <a:ext cx="2651760" cy="457200"/>
          </a:xfrm>
          <a:prstGeom prst="rect">
            <a:avLst/>
          </a:prstGeom>
          <a:solidFill>
            <a:srgbClr val="9E9E9E"/>
          </a:solidFill>
          <a:ln/>
        </p:spPr>
        <p:txBody>
          <a:bodyPr wrap="square" lIns="76200" tIns="76200" rIns="76200" bIns="76200" rtlCol="0" anchor="ctr"/>
          <a:lstStyle/>
          <a:p>
            <a:pPr indent="0" marL="0">
              <a:buNone/>
            </a:pPr>
            <a:r>
              <a:rPr lang="en-US" sz="1200" b="1" dirty="0">
                <a:solidFill>
                  <a:srgbClr val="1F1F1F"/>
                </a:solidFill>
              </a:rPr>
              <a:t>No alarm: normal 1.5 px outline</a:t>
            </a:r>
            <a:endParaRPr lang="en-US" sz="1200" dirty="0"/>
          </a:p>
        </p:txBody>
      </p:sp>
      <p:sp>
        <p:nvSpPr>
          <p:cNvPr id="20" name="Text 14"/>
          <p:cNvSpPr txBox="1"/>
          <p:nvPr/>
        </p:nvSpPr>
        <p:spPr>
          <a:xfrm>
            <a:off x="8595360" y="3657600"/>
            <a:ext cx="3017520" cy="274320"/>
          </a:xfrm>
          <a:prstGeom prst="rect">
            <a:avLst/>
          </a:prstGeom>
          <a:noFill/>
          <a:ln/>
        </p:spPr>
        <p:txBody>
          <a:bodyPr wrap="square" lIns="0" tIns="0" rIns="0" bIns="0" rtlCol="0" anchor="t"/>
          <a:lstStyle/>
          <a:p>
            <a:pPr indent="0" marL="0">
              <a:buNone/>
            </a:pPr>
            <a:r>
              <a:rPr lang="en-US" sz="1100" i="1" dirty="0">
                <a:solidFill>
                  <a:srgbClr val="4D4D4D"/>
                </a:solidFill>
              </a:rPr>
              <a:t>wins over</a:t>
            </a:r>
            <a:endParaRPr lang="en-US" sz="1100" dirty="0"/>
          </a:p>
        </p:txBody>
      </p:sp>
      <p:sp>
        <p:nvSpPr>
          <p:cNvPr id="21" name="Text 15"/>
          <p:cNvSpPr txBox="1"/>
          <p:nvPr/>
        </p:nvSpPr>
        <p:spPr>
          <a:xfrm>
            <a:off x="548640" y="3977640"/>
            <a:ext cx="11064240" cy="210312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Alarm outline: </a:t>
            </a:r>
            <a:pPr indent="0" marL="0">
              <a:buNone/>
            </a:pPr>
            <a:r>
              <a:rPr lang="en-US" sz="1400" dirty="0">
                <a:solidFill>
                  <a:schemeClr val="tx1"/>
                </a:solidFill>
              </a:rPr>
              <a:t>the highest active priority on any member of the instance; shelved alarms are ignored</a:t>
            </a:r>
            <a:endParaRPr lang="en-US" sz="1400" dirty="0"/>
          </a:p>
          <a:p>
            <a:pPr marL="177800" indent="-177800">
              <a:spcAft>
                <a:spcPts val="600"/>
              </a:spcAft>
              <a:buSzPct val="100000"/>
              <a:buChar char="•"/>
            </a:pPr>
            <a:r>
              <a:rPr lang="en-US" sz="1400" b="1" dirty="0">
                <a:solidFill>
                  <a:schemeClr val="tx1"/>
                </a:solidFill>
              </a:rPr>
              <a:t>Fault: </a:t>
            </a:r>
            <a:pPr indent="0" marL="0">
              <a:buNone/>
            </a:pPr>
            <a:r>
              <a:rPr lang="en-US" sz="1400" dirty="0">
                <a:solidFill>
                  <a:schemeClr val="tx1"/>
                </a:solidFill>
              </a:rPr>
              <a:t>dark fill + red border + FAULT text, so it reads without color</a:t>
            </a:r>
            <a:endParaRPr lang="en-US" sz="1400" dirty="0"/>
          </a:p>
          <a:p>
            <a:pPr marL="177800" indent="-177800">
              <a:spcAft>
                <a:spcPts val="600"/>
              </a:spcAft>
              <a:buSzPct val="100000"/>
              <a:buChar char="•"/>
            </a:pPr>
            <a:r>
              <a:rPr lang="en-US" sz="1400" b="1" dirty="0">
                <a:solidFill>
                  <a:schemeClr val="tx1"/>
                </a:solidFill>
              </a:rPr>
              <a:t>Missing or bad tag: </a:t>
            </a:r>
            <a:pPr indent="0" marL="0">
              <a:buNone/>
            </a:pPr>
            <a:r>
              <a:rPr lang="en-US" sz="1400" dirty="0">
                <a:solidFill>
                  <a:schemeClr val="tx1"/>
                </a:solidFill>
              </a:rPr>
              <a:t>every read is wrapped in coalesce() with safe defaults (not interlocked, not manual), and the alarm lookup is quality-guarded so a bad member cannot turn the whole symbol red</a:t>
            </a:r>
            <a:endParaRPr lang="en-US" sz="1400" dirty="0"/>
          </a:p>
          <a:p>
            <a:pPr marL="177800" indent="-177800">
              <a:spcAft>
                <a:spcPts val="600"/>
              </a:spcAft>
              <a:buSzPct val="100000"/>
              <a:buChar char="•"/>
            </a:pPr>
            <a:r>
              <a:rPr lang="en-US" sz="1400" b="1" dirty="0">
                <a:solidFill>
                  <a:schemeClr val="tx1"/>
                </a:solidFill>
              </a:rPr>
              <a:t>Simulated / bad quality: </a:t>
            </a:r>
            <a:pPr indent="0" marL="0">
              <a:buNone/>
            </a:pPr>
            <a:r>
              <a:rPr lang="en-US" sz="1400" dirty="0">
                <a:solidFill>
                  <a:schemeClr val="tx1"/>
                </a:solidFill>
              </a:rPr>
              <a:t>flagged in the dynamic window (teal SIM chip, magenta bad-quality state), not by recoloring the symbol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Process value cards (T_AI)</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VALUES</a:t>
            </a:r>
            <a:endParaRPr lang="en-US" sz="1000" dirty="0"/>
          </a:p>
        </p:txBody>
      </p:sp>
      <p:sp>
        <p:nvSpPr>
          <p:cNvPr id="4" name="pv stage"/>
          <p:cNvSpPr/>
          <p:nvPr/>
        </p:nvSpPr>
        <p:spPr>
          <a:xfrm>
            <a:off x="548640" y="1463040"/>
            <a:ext cx="4937760" cy="2926080"/>
          </a:xfrm>
          <a:prstGeom prst="rect">
            <a:avLst/>
          </a:prstGeom>
          <a:solidFill>
            <a:srgbClr val="D9D9D9"/>
          </a:solidFill>
          <a:ln w="9525">
            <a:solidFill>
              <a:srgbClr val="D9D9D9"/>
            </a:solidFill>
            <a:prstDash val="solid"/>
          </a:ln>
        </p:spPr>
      </p:sp>
      <p:pic>
        <p:nvPicPr>
          <p:cNvPr id="5" name="img PV_StatusStrip.png" descr="PV_StatusStrip.png">    </p:cNvPr>
          <p:cNvPicPr>
            <a:picLocks noChangeAspect="1"/>
          </p:cNvPicPr>
          <p:nvPr/>
        </p:nvPicPr>
        <p:blipFill>
          <a:blip r:embed="rId1"/>
          <a:stretch>
            <a:fillRect/>
          </a:stretch>
        </p:blipFill>
        <p:spPr>
          <a:xfrm>
            <a:off x="777240" y="1691640"/>
            <a:ext cx="2194560" cy="1139483"/>
          </a:xfrm>
          <a:prstGeom prst="rect">
            <a:avLst/>
          </a:prstGeom>
        </p:spPr>
      </p:pic>
      <p:pic>
        <p:nvPicPr>
          <p:cNvPr id="6" name="img PV_RangeBar.png" descr="PV_RangeBar.png">    </p:cNvPr>
          <p:cNvPicPr>
            <a:picLocks noChangeAspect="1"/>
          </p:cNvPicPr>
          <p:nvPr/>
        </p:nvPicPr>
        <p:blipFill>
          <a:blip r:embed="rId2"/>
          <a:stretch>
            <a:fillRect/>
          </a:stretch>
        </p:blipFill>
        <p:spPr>
          <a:xfrm>
            <a:off x="3108960" y="1691640"/>
            <a:ext cx="2194560" cy="1139483"/>
          </a:xfrm>
          <a:prstGeom prst="rect">
            <a:avLst/>
          </a:prstGeom>
        </p:spPr>
      </p:pic>
      <p:sp>
        <p:nvSpPr>
          <p:cNvPr id="7" name="Text 3"/>
          <p:cNvSpPr txBox="1"/>
          <p:nvPr/>
        </p:nvSpPr>
        <p:spPr>
          <a:xfrm>
            <a:off x="777240" y="2880360"/>
            <a:ext cx="2194560" cy="320040"/>
          </a:xfrm>
          <a:prstGeom prst="rect">
            <a:avLst/>
          </a:prstGeom>
          <a:noFill/>
          <a:ln/>
        </p:spPr>
        <p:txBody>
          <a:bodyPr wrap="square" lIns="0" tIns="0" rIns="0" bIns="0" rtlCol="0" anchor="t"/>
          <a:lstStyle/>
          <a:p>
            <a:pPr algn="ctr" indent="0" marL="0">
              <a:buNone/>
            </a:pPr>
            <a:r>
              <a:rPr lang="en-US" sz="1300" b="1" dirty="0">
                <a:solidFill>
                  <a:schemeClr val="tx1"/>
                </a:solidFill>
              </a:rPr>
              <a:t>PV_StatusStrip</a:t>
            </a:r>
            <a:endParaRPr lang="en-US" sz="1300" dirty="0"/>
          </a:p>
        </p:txBody>
      </p:sp>
      <p:sp>
        <p:nvSpPr>
          <p:cNvPr id="8" name="Text 4"/>
          <p:cNvSpPr txBox="1"/>
          <p:nvPr/>
        </p:nvSpPr>
        <p:spPr>
          <a:xfrm>
            <a:off x="3108960" y="2880360"/>
            <a:ext cx="2194560" cy="320040"/>
          </a:xfrm>
          <a:prstGeom prst="rect">
            <a:avLst/>
          </a:prstGeom>
          <a:noFill/>
          <a:ln/>
        </p:spPr>
        <p:txBody>
          <a:bodyPr wrap="square" lIns="0" tIns="0" rIns="0" bIns="0" rtlCol="0" anchor="t"/>
          <a:lstStyle/>
          <a:p>
            <a:pPr algn="ctr" indent="0" marL="0">
              <a:buNone/>
            </a:pPr>
            <a:r>
              <a:rPr lang="en-US" sz="1300" b="1" dirty="0">
                <a:solidFill>
                  <a:schemeClr val="tx1"/>
                </a:solidFill>
              </a:rPr>
              <a:t>PV_RangeBar</a:t>
            </a:r>
            <a:endParaRPr lang="en-US" sz="1300" dirty="0"/>
          </a:p>
        </p:txBody>
      </p:sp>
      <p:sp>
        <p:nvSpPr>
          <p:cNvPr id="9" name="Text 5"/>
          <p:cNvSpPr txBox="1"/>
          <p:nvPr/>
        </p:nvSpPr>
        <p:spPr>
          <a:xfrm>
            <a:off x="777240" y="3383280"/>
            <a:ext cx="4572000" cy="731520"/>
          </a:xfrm>
          <a:prstGeom prst="rect">
            <a:avLst/>
          </a:prstGeom>
          <a:noFill/>
          <a:ln/>
        </p:spPr>
        <p:txBody>
          <a:bodyPr wrap="square" lIns="0" tIns="0" rIns="0" bIns="0" rtlCol="0" anchor="t"/>
          <a:lstStyle/>
          <a:p>
            <a:pPr indent="0" marL="0">
              <a:buNone/>
            </a:pPr>
            <a:r>
              <a:rPr lang="en-US" sz="1300" dirty="0">
                <a:solidFill>
                  <a:srgbClr val="4D4D4D"/>
                </a:solidFill>
              </a:rPr>
              <a:t>100 x 50 cards, vh-scaled. Click opens dw_ProcessValue.</a:t>
            </a:r>
            <a:endParaRPr lang="en-US" sz="1300" dirty="0"/>
          </a:p>
        </p:txBody>
      </p:sp>
      <p:sp>
        <p:nvSpPr>
          <p:cNvPr id="10" name="Text 6"/>
          <p:cNvSpPr txBox="1"/>
          <p:nvPr/>
        </p:nvSpPr>
        <p:spPr>
          <a:xfrm>
            <a:off x="5852160" y="1463040"/>
            <a:ext cx="5760720" cy="365760"/>
          </a:xfrm>
          <a:prstGeom prst="rect">
            <a:avLst/>
          </a:prstGeom>
          <a:noFill/>
          <a:ln/>
        </p:spPr>
        <p:txBody>
          <a:bodyPr wrap="square" lIns="0" tIns="0" rIns="0" bIns="0" rtlCol="0" anchor="t"/>
          <a:lstStyle/>
          <a:p>
            <a:pPr indent="0" marL="0">
              <a:buNone/>
            </a:pPr>
            <a:r>
              <a:rPr lang="en-US" sz="1600" b="1" dirty="0">
                <a:solidFill>
                  <a:schemeClr val="tx1"/>
                </a:solidFill>
              </a:rPr>
              <a:t>Alarm letters, in fixed order</a:t>
            </a:r>
            <a:endParaRPr lang="en-US" sz="1600" dirty="0"/>
          </a:p>
        </p:txBody>
      </p:sp>
      <p:sp>
        <p:nvSpPr>
          <p:cNvPr id="11" name="chip FLT"/>
          <p:cNvSpPr txBox="1"/>
          <p:nvPr/>
        </p:nvSpPr>
        <p:spPr>
          <a:xfrm>
            <a:off x="5852160" y="1920240"/>
            <a:ext cx="621792" cy="384048"/>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FLT</a:t>
            </a:r>
            <a:endParaRPr lang="en-US" sz="1100" dirty="0"/>
          </a:p>
        </p:txBody>
      </p:sp>
      <p:sp>
        <p:nvSpPr>
          <p:cNvPr id="12" name="chip HH"/>
          <p:cNvSpPr txBox="1"/>
          <p:nvPr/>
        </p:nvSpPr>
        <p:spPr>
          <a:xfrm>
            <a:off x="6547104" y="1920240"/>
            <a:ext cx="621792" cy="384048"/>
          </a:xfrm>
          <a:prstGeom prst="rect">
            <a:avLst/>
          </a:prstGeom>
          <a:solidFill>
            <a:srgbClr val="D50000"/>
          </a:solidFill>
          <a:ln w="12700">
            <a:solidFill>
              <a:srgbClr val="D50000"/>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HH</a:t>
            </a:r>
            <a:endParaRPr lang="en-US" sz="1100" dirty="0"/>
          </a:p>
        </p:txBody>
      </p:sp>
      <p:sp>
        <p:nvSpPr>
          <p:cNvPr id="13" name="chip H"/>
          <p:cNvSpPr txBox="1"/>
          <p:nvPr/>
        </p:nvSpPr>
        <p:spPr>
          <a:xfrm>
            <a:off x="7242048" y="1920240"/>
            <a:ext cx="621792" cy="384048"/>
          </a:xfrm>
          <a:prstGeom prst="rect">
            <a:avLst/>
          </a:prstGeom>
          <a:solidFill>
            <a:srgbClr val="FF7A00"/>
          </a:solidFill>
          <a:ln w="12700">
            <a:solidFill>
              <a:srgbClr val="FF7A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H</a:t>
            </a:r>
            <a:endParaRPr lang="en-US" sz="1100" dirty="0"/>
          </a:p>
        </p:txBody>
      </p:sp>
      <p:sp>
        <p:nvSpPr>
          <p:cNvPr id="14" name="chip L"/>
          <p:cNvSpPr txBox="1"/>
          <p:nvPr/>
        </p:nvSpPr>
        <p:spPr>
          <a:xfrm>
            <a:off x="7936992" y="1920240"/>
            <a:ext cx="621792" cy="384048"/>
          </a:xfrm>
          <a:prstGeom prst="rect">
            <a:avLst/>
          </a:prstGeom>
          <a:solidFill>
            <a:srgbClr val="FF7A00"/>
          </a:solidFill>
          <a:ln w="12700">
            <a:solidFill>
              <a:srgbClr val="FF7A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L</a:t>
            </a:r>
            <a:endParaRPr lang="en-US" sz="1100" dirty="0"/>
          </a:p>
        </p:txBody>
      </p:sp>
      <p:sp>
        <p:nvSpPr>
          <p:cNvPr id="15" name="chip LL"/>
          <p:cNvSpPr txBox="1"/>
          <p:nvPr/>
        </p:nvSpPr>
        <p:spPr>
          <a:xfrm>
            <a:off x="8631936" y="1920240"/>
            <a:ext cx="621792" cy="384048"/>
          </a:xfrm>
          <a:prstGeom prst="rect">
            <a:avLst/>
          </a:prstGeom>
          <a:solidFill>
            <a:srgbClr val="D50000"/>
          </a:solidFill>
          <a:ln w="12700">
            <a:solidFill>
              <a:srgbClr val="D50000"/>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LL</a:t>
            </a:r>
            <a:endParaRPr lang="en-US" sz="1100" dirty="0"/>
          </a:p>
        </p:txBody>
      </p:sp>
      <p:sp>
        <p:nvSpPr>
          <p:cNvPr id="16" name="chip OVR"/>
          <p:cNvSpPr txBox="1"/>
          <p:nvPr/>
        </p:nvSpPr>
        <p:spPr>
          <a:xfrm>
            <a:off x="9326880" y="1920240"/>
            <a:ext cx="621792" cy="384048"/>
          </a:xfrm>
          <a:prstGeom prst="rect">
            <a:avLst/>
          </a:prstGeom>
          <a:solidFill>
            <a:srgbClr val="FFD200"/>
          </a:solidFill>
          <a:ln w="12700">
            <a:solidFill>
              <a:srgbClr val="FFD2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OVR</a:t>
            </a:r>
            <a:endParaRPr lang="en-US" sz="1100" dirty="0"/>
          </a:p>
        </p:txBody>
      </p:sp>
      <p:sp>
        <p:nvSpPr>
          <p:cNvPr id="17" name="chip UNR"/>
          <p:cNvSpPr txBox="1"/>
          <p:nvPr/>
        </p:nvSpPr>
        <p:spPr>
          <a:xfrm>
            <a:off x="10021824" y="1920240"/>
            <a:ext cx="621792" cy="384048"/>
          </a:xfrm>
          <a:prstGeom prst="rect">
            <a:avLst/>
          </a:prstGeom>
          <a:solidFill>
            <a:srgbClr val="FFD200"/>
          </a:solidFill>
          <a:ln w="12700">
            <a:solidFill>
              <a:srgbClr val="FFD200"/>
            </a:solidFill>
            <a:prstDash val="solid"/>
          </a:ln>
        </p:spPr>
        <p:txBody>
          <a:bodyPr wrap="square" lIns="0" tIns="0" rIns="0" bIns="0" rtlCol="0" anchor="ctr"/>
          <a:lstStyle/>
          <a:p>
            <a:pPr algn="ctr" indent="0" marL="0">
              <a:buNone/>
            </a:pPr>
            <a:r>
              <a:rPr lang="en-US" sz="1100" b="1" spc="100" kern="0" dirty="0">
                <a:solidFill>
                  <a:srgbClr val="1F1F1F"/>
                </a:solidFill>
                <a:latin typeface="Arial" pitchFamily="34" charset="0"/>
                <a:ea typeface="Arial" pitchFamily="34" charset="-122"/>
                <a:cs typeface="Arial" pitchFamily="34" charset="-120"/>
              </a:rPr>
              <a:t>UNR</a:t>
            </a:r>
            <a:endParaRPr lang="en-US" sz="1100" dirty="0"/>
          </a:p>
        </p:txBody>
      </p:sp>
      <p:sp>
        <p:nvSpPr>
          <p:cNvPr id="18" name="chip INH"/>
          <p:cNvSpPr txBox="1"/>
          <p:nvPr/>
        </p:nvSpPr>
        <p:spPr>
          <a:xfrm>
            <a:off x="10716768" y="1920240"/>
            <a:ext cx="621792" cy="384048"/>
          </a:xfrm>
          <a:prstGeom prst="rect">
            <a:avLst/>
          </a:prstGeom>
          <a:solidFill>
            <a:srgbClr val="6E6E6E"/>
          </a:solidFill>
          <a:ln w="12700">
            <a:solidFill>
              <a:srgbClr val="6E6E6E"/>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INH</a:t>
            </a:r>
            <a:endParaRPr lang="en-US" sz="1100" dirty="0"/>
          </a:p>
        </p:txBody>
      </p:sp>
      <p:sp>
        <p:nvSpPr>
          <p:cNvPr id="19" name="Text 15"/>
          <p:cNvSpPr txBox="1"/>
          <p:nvPr/>
        </p:nvSpPr>
        <p:spPr>
          <a:xfrm>
            <a:off x="5852160" y="2377440"/>
            <a:ext cx="5760720" cy="320040"/>
          </a:xfrm>
          <a:prstGeom prst="rect">
            <a:avLst/>
          </a:prstGeom>
          <a:noFill/>
          <a:ln/>
        </p:spPr>
        <p:txBody>
          <a:bodyPr wrap="square" lIns="0" tIns="0" rIns="0" bIns="0" rtlCol="0" anchor="t"/>
          <a:lstStyle/>
          <a:p>
            <a:pPr indent="0" marL="0">
              <a:buNone/>
            </a:pPr>
            <a:r>
              <a:rPr lang="en-US" sz="1100" i="1" dirty="0">
                <a:solidFill>
                  <a:srgbClr val="4D4D4D"/>
                </a:solidFill>
              </a:rPr>
              <a:t>Example priorities shown; each letter takes its configured priority color.</a:t>
            </a:r>
            <a:endParaRPr lang="en-US" sz="1100" dirty="0"/>
          </a:p>
        </p:txBody>
      </p:sp>
      <p:sp>
        <p:nvSpPr>
          <p:cNvPr id="20" name="Text 16"/>
          <p:cNvSpPr txBox="1"/>
          <p:nvPr/>
        </p:nvSpPr>
        <p:spPr>
          <a:xfrm>
            <a:off x="5852160" y="2834640"/>
            <a:ext cx="5760720"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At most 2 letters show; the rest collapse into +N with an "Also: ..." tooltip</a:t>
            </a:r>
            <a:endParaRPr lang="en-US" sz="1400" dirty="0"/>
          </a:p>
          <a:p>
            <a:pPr marL="177800" indent="-177800">
              <a:spcAft>
                <a:spcPts val="600"/>
              </a:spcAft>
              <a:buSzPct val="100000"/>
              <a:buChar char="•"/>
            </a:pPr>
            <a:r>
              <a:rPr lang="en-US" sz="1400" dirty="0">
                <a:solidFill>
                  <a:schemeClr val="tx1"/>
                </a:solidFill>
              </a:rPr>
              <a:t>+N blinks if a hidden letter is unacknowledged</a:t>
            </a:r>
            <a:endParaRPr lang="en-US" sz="1400" dirty="0"/>
          </a:p>
          <a:p>
            <a:pPr marL="177800" indent="-177800">
              <a:spcAft>
                <a:spcPts val="600"/>
              </a:spcAft>
              <a:buSzPct val="100000"/>
              <a:buChar char="•"/>
            </a:pPr>
            <a:r>
              <a:rPr lang="en-US" sz="1400" dirty="0">
                <a:solidFill>
                  <a:schemeClr val="tx1"/>
                </a:solidFill>
              </a:rPr>
              <a:t>Letter blinks while unacked, goes solid once acked, fades when cleared but unacked</a:t>
            </a:r>
            <a:endParaRPr lang="en-US" sz="1400" dirty="0"/>
          </a:p>
          <a:p>
            <a:pPr marL="177800" indent="-177800">
              <a:spcAft>
                <a:spcPts val="600"/>
              </a:spcAft>
              <a:buSzPct val="100000"/>
              <a:buChar char="•"/>
            </a:pPr>
            <a:r>
              <a:rPr lang="en-US" sz="1400" dirty="0">
                <a:solidFill>
                  <a:schemeClr val="tx1"/>
                </a:solidFill>
              </a:rPr>
              <a:t>Hardware fault gets its own High alarm and shows dark gray</a:t>
            </a:r>
            <a:endParaRPr lang="en-US" sz="1400" dirty="0"/>
          </a:p>
        </p:txBody>
      </p:sp>
      <p:sp>
        <p:nvSpPr>
          <p:cNvPr id="21" name="why card"/>
          <p:cNvSpPr/>
          <p:nvPr/>
        </p:nvSpPr>
        <p:spPr>
          <a:xfrm>
            <a:off x="548640" y="4663440"/>
            <a:ext cx="4937760" cy="1325880"/>
          </a:xfrm>
          <a:prstGeom prst="rect">
            <a:avLst/>
          </a:prstGeom>
          <a:solidFill>
            <a:srgbClr val="F0F0F0"/>
          </a:solidFill>
          <a:ln w="9525">
            <a:solidFill>
              <a:srgbClr val="D0D0D0"/>
            </a:solidFill>
            <a:prstDash val="solid"/>
          </a:ln>
        </p:spPr>
      </p:sp>
      <p:sp>
        <p:nvSpPr>
          <p:cNvPr id="22" name="Text 18"/>
          <p:cNvSpPr txBox="1"/>
          <p:nvPr/>
        </p:nvSpPr>
        <p:spPr>
          <a:xfrm>
            <a:off x="777240" y="4754880"/>
            <a:ext cx="4572000" cy="1188720"/>
          </a:xfrm>
          <a:prstGeom prst="rect">
            <a:avLst/>
          </a:prstGeom>
          <a:noFill/>
          <a:ln/>
        </p:spPr>
        <p:txBody>
          <a:bodyPr wrap="square" lIns="0" tIns="0" rIns="0" bIns="0" rtlCol="0" anchor="t"/>
          <a:lstStyle/>
          <a:p>
            <a:pPr indent="0" marL="0">
              <a:buNone/>
            </a:pPr>
            <a:r>
              <a:rPr lang="en-US" sz="1400" b="1" dirty="0">
                <a:solidFill>
                  <a:schemeClr val="tx1"/>
                </a:solidFill>
              </a:rPr>
              <a:t>Why letters and not just color?</a:t>
            </a:r>
            <a:endParaRPr lang="en-US" sz="1400" dirty="0"/>
          </a:p>
          <a:p>
            <a:pPr indent="0" marL="0">
              <a:buNone/>
            </a:pPr>
            <a:r>
              <a:rPr lang="en-US" sz="1400" dirty="0">
                <a:solidFill>
                  <a:srgbClr val="4D4D4D"/>
                </a:solidFill>
              </a:rPr>
              <a:t>ISA-101: color must be backed by text. HH vs H is readable by a color-blind operator.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Analog indicators A to D (T_KPI, proposed)</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VALUES</a:t>
            </a:r>
            <a:endParaRPr lang="en-US" sz="1000" dirty="0"/>
          </a:p>
        </p:txBody>
      </p:sp>
      <p:sp>
        <p:nvSpPr>
          <p:cNvPr id="4" name="indicator stage"/>
          <p:cNvSpPr/>
          <p:nvPr/>
        </p:nvSpPr>
        <p:spPr>
          <a:xfrm>
            <a:off x="548640" y="1463040"/>
            <a:ext cx="7315200" cy="4526280"/>
          </a:xfrm>
          <a:prstGeom prst="rect">
            <a:avLst/>
          </a:prstGeom>
          <a:solidFill>
            <a:srgbClr val="D9D9D9"/>
          </a:solidFill>
          <a:ln w="9525">
            <a:solidFill>
              <a:srgbClr val="D9D9D9"/>
            </a:solidFill>
            <a:prstDash val="solid"/>
          </a:ln>
        </p:spPr>
      </p:sp>
      <p:pic>
        <p:nvPicPr>
          <p:cNvPr id="5" name="img A_RangeBar.png" descr="A_RangeBar.png">    </p:cNvPr>
          <p:cNvPicPr>
            <a:picLocks noChangeAspect="1"/>
          </p:cNvPicPr>
          <p:nvPr/>
        </p:nvPicPr>
        <p:blipFill>
          <a:blip r:embed="rId1"/>
          <a:stretch>
            <a:fillRect/>
          </a:stretch>
        </p:blipFill>
        <p:spPr>
          <a:xfrm>
            <a:off x="777240" y="1691640"/>
            <a:ext cx="3657600" cy="1714500"/>
          </a:xfrm>
          <a:prstGeom prst="rect">
            <a:avLst/>
          </a:prstGeom>
        </p:spPr>
      </p:pic>
      <p:sp>
        <p:nvSpPr>
          <p:cNvPr id="6" name="Text 3"/>
          <p:cNvSpPr txBox="1"/>
          <p:nvPr/>
        </p:nvSpPr>
        <p:spPr>
          <a:xfrm>
            <a:off x="777240" y="3520440"/>
            <a:ext cx="3657600" cy="274320"/>
          </a:xfrm>
          <a:prstGeom prst="rect">
            <a:avLst/>
          </a:prstGeom>
          <a:noFill/>
          <a:ln/>
        </p:spPr>
        <p:txBody>
          <a:bodyPr wrap="square" lIns="0" tIns="0" rIns="0" bIns="0" rtlCol="0" anchor="t"/>
          <a:lstStyle/>
          <a:p>
            <a:pPr indent="0" marL="0">
              <a:buNone/>
            </a:pPr>
            <a:r>
              <a:rPr lang="en-US" sz="1300" b="1" dirty="0">
                <a:solidFill>
                  <a:schemeClr val="tx1"/>
                </a:solidFill>
              </a:rPr>
              <a:t>A  Range Bar</a:t>
            </a:r>
            <a:endParaRPr lang="en-US" sz="1300" dirty="0"/>
          </a:p>
        </p:txBody>
      </p:sp>
      <p:pic>
        <p:nvPicPr>
          <p:cNvPr id="7" name="img C_CompactRow.png" descr="C_CompactRow.png">    </p:cNvPr>
          <p:cNvPicPr>
            <a:picLocks noChangeAspect="1"/>
          </p:cNvPicPr>
          <p:nvPr/>
        </p:nvPicPr>
        <p:blipFill>
          <a:blip r:embed="rId2"/>
          <a:stretch>
            <a:fillRect/>
          </a:stretch>
        </p:blipFill>
        <p:spPr>
          <a:xfrm>
            <a:off x="777240" y="3977640"/>
            <a:ext cx="3657600" cy="841248"/>
          </a:xfrm>
          <a:prstGeom prst="rect">
            <a:avLst/>
          </a:prstGeom>
        </p:spPr>
      </p:pic>
      <p:sp>
        <p:nvSpPr>
          <p:cNvPr id="8" name="Text 4"/>
          <p:cNvSpPr txBox="1"/>
          <p:nvPr/>
        </p:nvSpPr>
        <p:spPr>
          <a:xfrm>
            <a:off x="777240" y="4846320"/>
            <a:ext cx="3657600" cy="274320"/>
          </a:xfrm>
          <a:prstGeom prst="rect">
            <a:avLst/>
          </a:prstGeom>
          <a:noFill/>
          <a:ln/>
        </p:spPr>
        <p:txBody>
          <a:bodyPr wrap="square" lIns="0" tIns="0" rIns="0" bIns="0" rtlCol="0" anchor="t"/>
          <a:lstStyle/>
          <a:p>
            <a:pPr indent="0" marL="0">
              <a:buNone/>
            </a:pPr>
            <a:r>
              <a:rPr lang="en-US" sz="1300" b="1" dirty="0">
                <a:solidFill>
                  <a:schemeClr val="tx1"/>
                </a:solidFill>
              </a:rPr>
              <a:t>C  Compact Row</a:t>
            </a:r>
            <a:endParaRPr lang="en-US" sz="1300" dirty="0"/>
          </a:p>
        </p:txBody>
      </p:sp>
      <p:pic>
        <p:nvPicPr>
          <p:cNvPr id="9" name="img B_PointerScale.png" descr="B_PointerScale.png">    </p:cNvPr>
          <p:cNvPicPr>
            <a:picLocks noChangeAspect="1"/>
          </p:cNvPicPr>
          <p:nvPr/>
        </p:nvPicPr>
        <p:blipFill>
          <a:blip r:embed="rId3"/>
          <a:stretch>
            <a:fillRect/>
          </a:stretch>
        </p:blipFill>
        <p:spPr>
          <a:xfrm>
            <a:off x="4754880" y="1645920"/>
            <a:ext cx="1525108" cy="3931920"/>
          </a:xfrm>
          <a:prstGeom prst="rect">
            <a:avLst/>
          </a:prstGeom>
        </p:spPr>
      </p:pic>
      <p:sp>
        <p:nvSpPr>
          <p:cNvPr id="10" name="Text 5"/>
          <p:cNvSpPr txBox="1"/>
          <p:nvPr/>
        </p:nvSpPr>
        <p:spPr>
          <a:xfrm>
            <a:off x="4754880" y="5623560"/>
            <a:ext cx="365760" cy="274320"/>
          </a:xfrm>
          <a:prstGeom prst="rect">
            <a:avLst/>
          </a:prstGeom>
          <a:noFill/>
          <a:ln/>
        </p:spPr>
        <p:txBody>
          <a:bodyPr wrap="square" lIns="0" tIns="0" rIns="0" bIns="0" rtlCol="0" anchor="t"/>
          <a:lstStyle/>
          <a:p>
            <a:pPr indent="0" marL="0">
              <a:buNone/>
            </a:pPr>
            <a:r>
              <a:rPr lang="en-US" sz="1300" b="1" dirty="0">
                <a:solidFill>
                  <a:schemeClr val="tx1"/>
                </a:solidFill>
              </a:rPr>
              <a:t>B</a:t>
            </a:r>
            <a:endParaRPr lang="en-US" sz="1300" dirty="0"/>
          </a:p>
        </p:txBody>
      </p:sp>
      <p:pic>
        <p:nvPicPr>
          <p:cNvPr id="11" name="img D_MiniColumn.png" descr="D_MiniColumn.png">    </p:cNvPr>
          <p:cNvPicPr>
            <a:picLocks noChangeAspect="1"/>
          </p:cNvPicPr>
          <p:nvPr/>
        </p:nvPicPr>
        <p:blipFill>
          <a:blip r:embed="rId4"/>
          <a:stretch>
            <a:fillRect/>
          </a:stretch>
        </p:blipFill>
        <p:spPr>
          <a:xfrm>
            <a:off x="6629400" y="1645920"/>
            <a:ext cx="994867" cy="3108960"/>
          </a:xfrm>
          <a:prstGeom prst="rect">
            <a:avLst/>
          </a:prstGeom>
        </p:spPr>
      </p:pic>
      <p:sp>
        <p:nvSpPr>
          <p:cNvPr id="12" name="Text 6"/>
          <p:cNvSpPr txBox="1"/>
          <p:nvPr/>
        </p:nvSpPr>
        <p:spPr>
          <a:xfrm>
            <a:off x="6629400" y="4846320"/>
            <a:ext cx="365760" cy="274320"/>
          </a:xfrm>
          <a:prstGeom prst="rect">
            <a:avLst/>
          </a:prstGeom>
          <a:noFill/>
          <a:ln/>
        </p:spPr>
        <p:txBody>
          <a:bodyPr wrap="square" lIns="0" tIns="0" rIns="0" bIns="0" rtlCol="0" anchor="t"/>
          <a:lstStyle/>
          <a:p>
            <a:pPr indent="0" marL="0">
              <a:buNone/>
            </a:pPr>
            <a:r>
              <a:rPr lang="en-US" sz="1300" b="1" dirty="0">
                <a:solidFill>
                  <a:schemeClr val="tx1"/>
                </a:solidFill>
              </a:rPr>
              <a:t>D</a:t>
            </a:r>
            <a:endParaRPr lang="en-US" sz="1300" dirty="0"/>
          </a:p>
        </p:txBody>
      </p:sp>
      <p:sp>
        <p:nvSpPr>
          <p:cNvPr id="13" name="Text 7"/>
          <p:cNvSpPr txBox="1"/>
          <p:nvPr/>
        </p:nvSpPr>
        <p:spPr>
          <a:xfrm>
            <a:off x="8229600" y="1463040"/>
            <a:ext cx="3383280" cy="365760"/>
          </a:xfrm>
          <a:prstGeom prst="rect">
            <a:avLst/>
          </a:prstGeom>
          <a:noFill/>
          <a:ln/>
        </p:spPr>
        <p:txBody>
          <a:bodyPr wrap="square" lIns="0" tIns="0" rIns="0" bIns="0" rtlCol="0" anchor="t"/>
          <a:lstStyle/>
          <a:p>
            <a:pPr indent="0" marL="0">
              <a:buNone/>
            </a:pPr>
            <a:r>
              <a:rPr lang="en-US" sz="1600" b="1" dirty="0">
                <a:solidFill>
                  <a:schemeClr val="tx1"/>
                </a:solidFill>
              </a:rPr>
              <a:t>Zones</a:t>
            </a:r>
            <a:endParaRPr lang="en-US" sz="1600" dirty="0"/>
          </a:p>
        </p:txBody>
      </p:sp>
      <p:sp>
        <p:nvSpPr>
          <p:cNvPr id="14" name="swatch LL / HH"/>
          <p:cNvSpPr/>
          <p:nvPr/>
        </p:nvSpPr>
        <p:spPr>
          <a:xfrm>
            <a:off x="8229600" y="1920240"/>
            <a:ext cx="411480" cy="411480"/>
          </a:xfrm>
          <a:prstGeom prst="rect">
            <a:avLst/>
          </a:prstGeom>
          <a:solidFill>
            <a:srgbClr val="7F7F7F"/>
          </a:solidFill>
          <a:ln w="9525">
            <a:solidFill>
              <a:srgbClr val="7F7F7F"/>
            </a:solidFill>
            <a:prstDash val="solid"/>
          </a:ln>
        </p:spPr>
      </p:sp>
      <p:sp>
        <p:nvSpPr>
          <p:cNvPr id="15" name="Text 9"/>
          <p:cNvSpPr txBox="1"/>
          <p:nvPr/>
        </p:nvSpPr>
        <p:spPr>
          <a:xfrm>
            <a:off x="8750808" y="1901952"/>
            <a:ext cx="1737360" cy="502920"/>
          </a:xfrm>
          <a:prstGeom prst="rect">
            <a:avLst/>
          </a:prstGeom>
          <a:noFill/>
          <a:ln/>
        </p:spPr>
        <p:txBody>
          <a:bodyPr wrap="square" lIns="0" tIns="0" rIns="0" bIns="0" rtlCol="0" anchor="t"/>
          <a:lstStyle/>
          <a:p>
            <a:pPr indent="0" marL="0">
              <a:buNone/>
            </a:pPr>
            <a:r>
              <a:rPr lang="en-US" sz="1300" b="1" dirty="0">
                <a:solidFill>
                  <a:schemeClr val="tx1"/>
                </a:solidFill>
              </a:rPr>
              <a:t>LL / HH</a:t>
            </a:r>
            <a:endParaRPr lang="en-US" sz="1300" dirty="0"/>
          </a:p>
          <a:p>
            <a:pPr indent="0" marL="0">
              <a:buNone/>
            </a:pPr>
            <a:r>
              <a:rPr lang="en-US" sz="1100" dirty="0">
                <a:solidFill>
                  <a:srgbClr val="4D4D4D"/>
                </a:solidFill>
              </a:rPr>
              <a:t>#7F7F7F</a:t>
            </a:r>
            <a:endParaRPr lang="en-US" sz="1300" dirty="0"/>
          </a:p>
        </p:txBody>
      </p:sp>
      <p:sp>
        <p:nvSpPr>
          <p:cNvPr id="16" name="swatch L / H"/>
          <p:cNvSpPr/>
          <p:nvPr/>
        </p:nvSpPr>
        <p:spPr>
          <a:xfrm>
            <a:off x="8229600" y="2560320"/>
            <a:ext cx="411480" cy="411480"/>
          </a:xfrm>
          <a:prstGeom prst="rect">
            <a:avLst/>
          </a:prstGeom>
          <a:solidFill>
            <a:srgbClr val="C4C4C4"/>
          </a:solidFill>
          <a:ln w="9525">
            <a:solidFill>
              <a:srgbClr val="7F7F7F"/>
            </a:solidFill>
            <a:prstDash val="solid"/>
          </a:ln>
        </p:spPr>
      </p:sp>
      <p:sp>
        <p:nvSpPr>
          <p:cNvPr id="17" name="Text 11"/>
          <p:cNvSpPr txBox="1"/>
          <p:nvPr/>
        </p:nvSpPr>
        <p:spPr>
          <a:xfrm>
            <a:off x="8750808" y="2542032"/>
            <a:ext cx="1737360" cy="502920"/>
          </a:xfrm>
          <a:prstGeom prst="rect">
            <a:avLst/>
          </a:prstGeom>
          <a:noFill/>
          <a:ln/>
        </p:spPr>
        <p:txBody>
          <a:bodyPr wrap="square" lIns="0" tIns="0" rIns="0" bIns="0" rtlCol="0" anchor="t"/>
          <a:lstStyle/>
          <a:p>
            <a:pPr indent="0" marL="0">
              <a:buNone/>
            </a:pPr>
            <a:r>
              <a:rPr lang="en-US" sz="1300" b="1" dirty="0">
                <a:solidFill>
                  <a:schemeClr val="tx1"/>
                </a:solidFill>
              </a:rPr>
              <a:t>L / H</a:t>
            </a:r>
            <a:endParaRPr lang="en-US" sz="1300" dirty="0"/>
          </a:p>
          <a:p>
            <a:pPr indent="0" marL="0">
              <a:buNone/>
            </a:pPr>
            <a:r>
              <a:rPr lang="en-US" sz="1100" dirty="0">
                <a:solidFill>
                  <a:srgbClr val="4D4D4D"/>
                </a:solidFill>
              </a:rPr>
              <a:t>#C4C4C4</a:t>
            </a:r>
            <a:endParaRPr lang="en-US" sz="1300" dirty="0"/>
          </a:p>
        </p:txBody>
      </p:sp>
      <p:sp>
        <p:nvSpPr>
          <p:cNvPr id="18" name="swatch Normal, off-ideal"/>
          <p:cNvSpPr/>
          <p:nvPr/>
        </p:nvSpPr>
        <p:spPr>
          <a:xfrm>
            <a:off x="8229600" y="3200400"/>
            <a:ext cx="411480" cy="411480"/>
          </a:xfrm>
          <a:prstGeom prst="rect">
            <a:avLst/>
          </a:prstGeom>
          <a:solidFill>
            <a:srgbClr val="FFFFFF"/>
          </a:solidFill>
          <a:ln w="9525">
            <a:solidFill>
              <a:srgbClr val="7F7F7F"/>
            </a:solidFill>
            <a:prstDash val="solid"/>
          </a:ln>
        </p:spPr>
      </p:sp>
      <p:sp>
        <p:nvSpPr>
          <p:cNvPr id="19" name="Text 13"/>
          <p:cNvSpPr txBox="1"/>
          <p:nvPr/>
        </p:nvSpPr>
        <p:spPr>
          <a:xfrm>
            <a:off x="8750808" y="3182112"/>
            <a:ext cx="1737360" cy="502920"/>
          </a:xfrm>
          <a:prstGeom prst="rect">
            <a:avLst/>
          </a:prstGeom>
          <a:noFill/>
          <a:ln/>
        </p:spPr>
        <p:txBody>
          <a:bodyPr wrap="square" lIns="0" tIns="0" rIns="0" bIns="0" rtlCol="0" anchor="t"/>
          <a:lstStyle/>
          <a:p>
            <a:pPr indent="0" marL="0">
              <a:buNone/>
            </a:pPr>
            <a:r>
              <a:rPr lang="en-US" sz="1300" b="1" dirty="0">
                <a:solidFill>
                  <a:schemeClr val="tx1"/>
                </a:solidFill>
              </a:rPr>
              <a:t>Normal, off-ideal</a:t>
            </a:r>
            <a:endParaRPr lang="en-US" sz="1300" dirty="0"/>
          </a:p>
          <a:p>
            <a:pPr indent="0" marL="0">
              <a:buNone/>
            </a:pPr>
            <a:r>
              <a:rPr lang="en-US" sz="1100" dirty="0">
                <a:solidFill>
                  <a:srgbClr val="4D4D4D"/>
                </a:solidFill>
              </a:rPr>
              <a:t>#FFFFFF</a:t>
            </a:r>
            <a:endParaRPr lang="en-US" sz="1300" dirty="0"/>
          </a:p>
        </p:txBody>
      </p:sp>
      <p:sp>
        <p:nvSpPr>
          <p:cNvPr id="20" name="swatch Ideal range"/>
          <p:cNvSpPr/>
          <p:nvPr/>
        </p:nvSpPr>
        <p:spPr>
          <a:xfrm>
            <a:off x="8229600" y="3840480"/>
            <a:ext cx="411480" cy="411480"/>
          </a:xfrm>
          <a:prstGeom prst="rect">
            <a:avLst/>
          </a:prstGeom>
          <a:solidFill>
            <a:srgbClr val="9DB4D0"/>
          </a:solidFill>
          <a:ln w="9525">
            <a:solidFill>
              <a:srgbClr val="7F7F7F"/>
            </a:solidFill>
            <a:prstDash val="solid"/>
          </a:ln>
        </p:spPr>
      </p:sp>
      <p:sp>
        <p:nvSpPr>
          <p:cNvPr id="21" name="Text 15"/>
          <p:cNvSpPr txBox="1"/>
          <p:nvPr/>
        </p:nvSpPr>
        <p:spPr>
          <a:xfrm>
            <a:off x="8750808" y="3822192"/>
            <a:ext cx="1737360" cy="502920"/>
          </a:xfrm>
          <a:prstGeom prst="rect">
            <a:avLst/>
          </a:prstGeom>
          <a:noFill/>
          <a:ln/>
        </p:spPr>
        <p:txBody>
          <a:bodyPr wrap="square" lIns="0" tIns="0" rIns="0" bIns="0" rtlCol="0" anchor="t"/>
          <a:lstStyle/>
          <a:p>
            <a:pPr indent="0" marL="0">
              <a:buNone/>
            </a:pPr>
            <a:r>
              <a:rPr lang="en-US" sz="1300" b="1" dirty="0">
                <a:solidFill>
                  <a:schemeClr val="tx1"/>
                </a:solidFill>
              </a:rPr>
              <a:t>Ideal range</a:t>
            </a:r>
            <a:endParaRPr lang="en-US" sz="1300" dirty="0"/>
          </a:p>
          <a:p>
            <a:pPr indent="0" marL="0">
              <a:buNone/>
            </a:pPr>
            <a:r>
              <a:rPr lang="en-US" sz="1100" dirty="0">
                <a:solidFill>
                  <a:srgbClr val="4D4D4D"/>
                </a:solidFill>
              </a:rPr>
              <a:t>#9DB4D0</a:t>
            </a:r>
            <a:endParaRPr lang="en-US" sz="1300" dirty="0"/>
          </a:p>
        </p:txBody>
      </p:sp>
      <p:sp>
        <p:nvSpPr>
          <p:cNvPr id="22" name="Text 16"/>
          <p:cNvSpPr txBox="1"/>
          <p:nvPr/>
        </p:nvSpPr>
        <p:spPr>
          <a:xfrm>
            <a:off x="8229600" y="4572000"/>
            <a:ext cx="3383280" cy="1371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Pointer takes the alarm's priority color while in alarm</a:t>
            </a:r>
            <a:endParaRPr lang="en-US" sz="1300" dirty="0"/>
          </a:p>
          <a:p>
            <a:pPr marL="177800" indent="-177800">
              <a:spcAft>
                <a:spcPts val="600"/>
              </a:spcAft>
              <a:buSzPct val="100000"/>
              <a:buChar char="•"/>
            </a:pPr>
            <a:r>
              <a:rPr lang="en-US" sz="1300" dirty="0">
                <a:solidFill>
                  <a:schemeClr val="tx1"/>
                </a:solidFill>
              </a:rPr>
              <a:t>Ideal blue is muted so it never competes with alarm colors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PID loop cards B1 to B4 (T_PID)</a:t>
            </a:r>
            <a:endParaRPr lang="en-US" sz="3200" dirty="0"/>
          </a:p>
        </p:txBody>
      </p:sp>
      <p:sp>
        <p:nvSpPr>
          <p:cNvPr id="3" name="section tag"/>
          <p:cNvSpPr txBox="1"/>
          <p:nvPr/>
        </p:nvSpPr>
        <p:spPr>
          <a:xfrm>
            <a:off x="548640" y="164592"/>
            <a:ext cx="932688"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VALUES</a:t>
            </a:r>
            <a:endParaRPr lang="en-US" sz="1000" dirty="0"/>
          </a:p>
        </p:txBody>
      </p:sp>
      <p:sp>
        <p:nvSpPr>
          <p:cNvPr id="4" name="loops stage"/>
          <p:cNvSpPr/>
          <p:nvPr/>
        </p:nvSpPr>
        <p:spPr>
          <a:xfrm>
            <a:off x="548640" y="1463040"/>
            <a:ext cx="6949440" cy="3017520"/>
          </a:xfrm>
          <a:prstGeom prst="rect">
            <a:avLst/>
          </a:prstGeom>
          <a:solidFill>
            <a:srgbClr val="DCDFE3"/>
          </a:solidFill>
          <a:ln w="9525">
            <a:solidFill>
              <a:srgbClr val="DCDFE3"/>
            </a:solidFill>
            <a:prstDash val="solid"/>
          </a:ln>
        </p:spPr>
      </p:sp>
      <p:pic>
        <p:nvPicPr>
          <p:cNvPr id="5" name="img loops.png" descr="loops.png">    </p:cNvPr>
          <p:cNvPicPr>
            <a:picLocks noChangeAspect="1"/>
          </p:cNvPicPr>
          <p:nvPr/>
        </p:nvPicPr>
        <p:blipFill>
          <a:blip r:embed="rId1"/>
          <a:stretch>
            <a:fillRect/>
          </a:stretch>
        </p:blipFill>
        <p:spPr>
          <a:xfrm>
            <a:off x="685800" y="1613491"/>
            <a:ext cx="6675120" cy="2716619"/>
          </a:xfrm>
          <a:prstGeom prst="rect">
            <a:avLst/>
          </a:prstGeom>
        </p:spPr>
      </p:pic>
      <p:sp>
        <p:nvSpPr>
          <p:cNvPr id="6" name="chip B1"/>
          <p:cNvSpPr txBox="1"/>
          <p:nvPr/>
        </p:nvSpPr>
        <p:spPr>
          <a:xfrm>
            <a:off x="7863840" y="1508760"/>
            <a:ext cx="548640" cy="36576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B1</a:t>
            </a:r>
            <a:endParaRPr lang="en-US" sz="1100" dirty="0"/>
          </a:p>
        </p:txBody>
      </p:sp>
      <p:sp>
        <p:nvSpPr>
          <p:cNvPr id="7" name="Text 4"/>
          <p:cNvSpPr txBox="1"/>
          <p:nvPr/>
        </p:nvSpPr>
        <p:spPr>
          <a:xfrm>
            <a:off x="8549640" y="1463040"/>
            <a:ext cx="3063240" cy="713232"/>
          </a:xfrm>
          <a:prstGeom prst="rect">
            <a:avLst/>
          </a:prstGeom>
          <a:noFill/>
          <a:ln/>
        </p:spPr>
        <p:txBody>
          <a:bodyPr wrap="square" lIns="0" tIns="0" rIns="0" bIns="0" rtlCol="0" anchor="t"/>
          <a:lstStyle/>
          <a:p>
            <a:pPr indent="0" marL="0">
              <a:buNone/>
            </a:pPr>
            <a:r>
              <a:rPr lang="en-US" sz="1500" b="1" dirty="0">
                <a:solidFill>
                  <a:schemeClr val="tx1"/>
                </a:solidFill>
              </a:rPr>
              <a:t>Bar</a:t>
            </a:r>
            <a:endParaRPr lang="en-US" sz="1500" dirty="0"/>
          </a:p>
          <a:p>
            <a:pPr indent="0" marL="0">
              <a:buNone/>
            </a:pPr>
            <a:r>
              <a:rPr lang="en-US" sz="1300" dirty="0">
                <a:solidFill>
                  <a:srgbClr val="4D4D4D"/>
                </a:solidFill>
              </a:rPr>
              <a:t>Vertical PV bar, SP pointer, alarm ticks</a:t>
            </a:r>
            <a:endParaRPr lang="en-US" sz="1500" dirty="0"/>
          </a:p>
        </p:txBody>
      </p:sp>
      <p:sp>
        <p:nvSpPr>
          <p:cNvPr id="8" name="chip B2"/>
          <p:cNvSpPr txBox="1"/>
          <p:nvPr/>
        </p:nvSpPr>
        <p:spPr>
          <a:xfrm>
            <a:off x="7863840" y="2258568"/>
            <a:ext cx="548640" cy="36576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B2</a:t>
            </a:r>
            <a:endParaRPr lang="en-US" sz="1100" dirty="0"/>
          </a:p>
        </p:txBody>
      </p:sp>
      <p:sp>
        <p:nvSpPr>
          <p:cNvPr id="9" name="Text 6"/>
          <p:cNvSpPr txBox="1"/>
          <p:nvPr/>
        </p:nvSpPr>
        <p:spPr>
          <a:xfrm>
            <a:off x="8549640" y="2212848"/>
            <a:ext cx="3063240" cy="713232"/>
          </a:xfrm>
          <a:prstGeom prst="rect">
            <a:avLst/>
          </a:prstGeom>
          <a:noFill/>
          <a:ln/>
        </p:spPr>
        <p:txBody>
          <a:bodyPr wrap="square" lIns="0" tIns="0" rIns="0" bIns="0" rtlCol="0" anchor="t"/>
          <a:lstStyle/>
          <a:p>
            <a:pPr indent="0" marL="0">
              <a:buNone/>
            </a:pPr>
            <a:r>
              <a:rPr lang="en-US" sz="1500" b="1" dirty="0">
                <a:solidFill>
                  <a:schemeClr val="tx1"/>
                </a:solidFill>
              </a:rPr>
              <a:t>Horizontal</a:t>
            </a:r>
            <a:endParaRPr lang="en-US" sz="1500" dirty="0"/>
          </a:p>
          <a:p>
            <a:pPr indent="0" marL="0">
              <a:buNone/>
            </a:pPr>
            <a:r>
              <a:rPr lang="en-US" sz="1300" dirty="0">
                <a:solidFill>
                  <a:srgbClr val="4D4D4D"/>
                </a:solidFill>
              </a:rPr>
              <a:t>Normal band between AlmLo and AlmHi</a:t>
            </a:r>
            <a:endParaRPr lang="en-US" sz="1500" dirty="0"/>
          </a:p>
        </p:txBody>
      </p:sp>
      <p:sp>
        <p:nvSpPr>
          <p:cNvPr id="10" name="chip B3"/>
          <p:cNvSpPr txBox="1"/>
          <p:nvPr/>
        </p:nvSpPr>
        <p:spPr>
          <a:xfrm>
            <a:off x="7863840" y="3008376"/>
            <a:ext cx="548640" cy="36576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B3</a:t>
            </a:r>
            <a:endParaRPr lang="en-US" sz="1100" dirty="0"/>
          </a:p>
        </p:txBody>
      </p:sp>
      <p:sp>
        <p:nvSpPr>
          <p:cNvPr id="11" name="Text 8"/>
          <p:cNvSpPr txBox="1"/>
          <p:nvPr/>
        </p:nvSpPr>
        <p:spPr>
          <a:xfrm>
            <a:off x="8549640" y="2962656"/>
            <a:ext cx="3063240" cy="713232"/>
          </a:xfrm>
          <a:prstGeom prst="rect">
            <a:avLst/>
          </a:prstGeom>
          <a:noFill/>
          <a:ln/>
        </p:spPr>
        <p:txBody>
          <a:bodyPr wrap="square" lIns="0" tIns="0" rIns="0" bIns="0" rtlCol="0" anchor="t"/>
          <a:lstStyle/>
          <a:p>
            <a:pPr indent="0" marL="0">
              <a:buNone/>
            </a:pPr>
            <a:r>
              <a:rPr lang="en-US" sz="1500" b="1" dirty="0">
                <a:solidFill>
                  <a:schemeClr val="tx1"/>
                </a:solidFill>
              </a:rPr>
              <a:t>Sparkline</a:t>
            </a:r>
            <a:endParaRPr lang="en-US" sz="1500" dirty="0"/>
          </a:p>
          <a:p>
            <a:pPr indent="0" marL="0">
              <a:buNone/>
            </a:pPr>
            <a:r>
              <a:rPr lang="en-US" sz="1300" dirty="0">
                <a:solidFill>
                  <a:srgbClr val="4D4D4D"/>
                </a:solidFill>
              </a:rPr>
              <a:t>B1 + 1 minute PV/SP trend + deviation chip</a:t>
            </a:r>
            <a:endParaRPr lang="en-US" sz="1500" dirty="0"/>
          </a:p>
        </p:txBody>
      </p:sp>
      <p:sp>
        <p:nvSpPr>
          <p:cNvPr id="12" name="chip B4"/>
          <p:cNvSpPr txBox="1"/>
          <p:nvPr/>
        </p:nvSpPr>
        <p:spPr>
          <a:xfrm>
            <a:off x="7863840" y="3758184"/>
            <a:ext cx="548640" cy="36576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B4</a:t>
            </a:r>
            <a:endParaRPr lang="en-US" sz="1100" dirty="0"/>
          </a:p>
        </p:txBody>
      </p:sp>
      <p:sp>
        <p:nvSpPr>
          <p:cNvPr id="13" name="Text 10"/>
          <p:cNvSpPr txBox="1"/>
          <p:nvPr/>
        </p:nvSpPr>
        <p:spPr>
          <a:xfrm>
            <a:off x="8549640" y="3712464"/>
            <a:ext cx="3063240" cy="713232"/>
          </a:xfrm>
          <a:prstGeom prst="rect">
            <a:avLst/>
          </a:prstGeom>
          <a:noFill/>
          <a:ln/>
        </p:spPr>
        <p:txBody>
          <a:bodyPr wrap="square" lIns="0" tIns="0" rIns="0" bIns="0" rtlCol="0" anchor="t"/>
          <a:lstStyle/>
          <a:p>
            <a:pPr indent="0" marL="0">
              <a:buNone/>
            </a:pPr>
            <a:r>
              <a:rPr lang="en-US" sz="1500" b="1" dirty="0">
                <a:solidFill>
                  <a:schemeClr val="tx1"/>
                </a:solidFill>
              </a:rPr>
              <a:t>Column</a:t>
            </a:r>
            <a:endParaRPr lang="en-US" sz="1500" dirty="0"/>
          </a:p>
          <a:p>
            <a:pPr indent="0" marL="0">
              <a:buNone/>
            </a:pPr>
            <a:r>
              <a:rPr lang="en-US" sz="1300" dirty="0">
                <a:solidFill>
                  <a:srgbClr val="4D4D4D"/>
                </a:solidFill>
              </a:rPr>
              <a:t>Twin bars: PV and output</a:t>
            </a:r>
            <a:endParaRPr lang="en-US" sz="1500" dirty="0"/>
          </a:p>
        </p:txBody>
      </p:sp>
      <p:sp>
        <p:nvSpPr>
          <p:cNvPr id="14" name="Text 11"/>
          <p:cNvSpPr txBox="1"/>
          <p:nvPr/>
        </p:nvSpPr>
        <p:spPr>
          <a:xfrm>
            <a:off x="548640" y="4709160"/>
            <a:ext cx="11064240" cy="1371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Setpoint is blue: blue always means "an operator can change this"</a:t>
            </a:r>
            <a:endParaRPr lang="en-US" sz="1400" dirty="0"/>
          </a:p>
          <a:p>
            <a:pPr marL="177800" indent="-177800">
              <a:spcAft>
                <a:spcPts val="600"/>
              </a:spcAft>
              <a:buSzPct val="100000"/>
              <a:buChar char="•"/>
            </a:pPr>
            <a:r>
              <a:rPr lang="en-US" sz="1400" dirty="0">
                <a:solidFill>
                  <a:schemeClr val="tx1"/>
                </a:solidFill>
              </a:rPr>
              <a:t>The whole card opens dw_Loop; the old LoopConfig popup is retired (decision 15)</a:t>
            </a:r>
            <a:endParaRPr lang="en-US" sz="1400" dirty="0"/>
          </a:p>
          <a:p>
            <a:pPr marL="177800" indent="-177800">
              <a:spcAft>
                <a:spcPts val="600"/>
              </a:spcAft>
              <a:buSzPct val="100000"/>
              <a:buChar char="•"/>
            </a:pPr>
            <a:r>
              <a:rPr lang="en-US" sz="1400" dirty="0">
                <a:solidFill>
                  <a:schemeClr val="tx1"/>
                </a:solidFill>
              </a:rPr>
              <a:t>Mode chip, right of the tag: AUTO light gray, MAN dark (abnormal), CAS light blue. Orange diamond and outline = deviation alarm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screen shell and the dynamic-window region</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pic>
        <p:nvPicPr>
          <p:cNvPr id="4" name="img Screen_Layout_normal.png" descr="1920x1080 screen shell with a P-101 dynamic window open on the right">    </p:cNvPr>
          <p:cNvPicPr>
            <a:picLocks noChangeAspect="1"/>
          </p:cNvPicPr>
          <p:nvPr/>
        </p:nvPicPr>
        <p:blipFill>
          <a:blip r:embed="rId1"/>
          <a:stretch>
            <a:fillRect/>
          </a:stretch>
        </p:blipFill>
        <p:spPr>
          <a:xfrm>
            <a:off x="548640" y="1463040"/>
            <a:ext cx="8138160" cy="4217432"/>
          </a:xfrm>
          <a:prstGeom prst="rect">
            <a:avLst/>
          </a:prstGeom>
        </p:spPr>
      </p:pic>
      <p:sp>
        <p:nvSpPr>
          <p:cNvPr id="5" name="shell frame"/>
          <p:cNvSpPr/>
          <p:nvPr/>
        </p:nvSpPr>
        <p:spPr>
          <a:xfrm>
            <a:off x="548640" y="1463040"/>
            <a:ext cx="8138160" cy="4217432"/>
          </a:xfrm>
          <a:prstGeom prst="rect">
            <a:avLst/>
          </a:prstGeom>
          <a:ln w="9525">
            <a:solidFill>
              <a:srgbClr val="A6A6A6"/>
            </a:solidFill>
            <a:prstDash val="solid"/>
          </a:ln>
        </p:spPr>
      </p:sp>
      <p:sp>
        <p:nvSpPr>
          <p:cNvPr id="6" name="Text 3"/>
          <p:cNvSpPr txBox="1"/>
          <p:nvPr/>
        </p:nvSpPr>
        <p:spPr>
          <a:xfrm>
            <a:off x="9006840" y="1463040"/>
            <a:ext cx="2651760" cy="365760"/>
          </a:xfrm>
          <a:prstGeom prst="rect">
            <a:avLst/>
          </a:prstGeom>
          <a:noFill/>
          <a:ln/>
        </p:spPr>
        <p:txBody>
          <a:bodyPr wrap="square" lIns="0" tIns="0" rIns="0" bIns="0" rtlCol="0" anchor="t"/>
          <a:lstStyle/>
          <a:p>
            <a:pPr indent="0" marL="0">
              <a:buNone/>
            </a:pPr>
            <a:r>
              <a:rPr lang="en-US" sz="1600" b="1" dirty="0">
                <a:solidFill>
                  <a:schemeClr val="tx1"/>
                </a:solidFill>
              </a:rPr>
              <a:t>Regions at 1920 x 1080</a:t>
            </a:r>
            <a:endParaRPr lang="en-US" sz="1600" dirty="0"/>
          </a:p>
        </p:txBody>
      </p:sp>
      <p:sp>
        <p:nvSpPr>
          <p:cNvPr id="7" name="Text 4"/>
          <p:cNvSpPr txBox="1"/>
          <p:nvPr/>
        </p:nvSpPr>
        <p:spPr>
          <a:xfrm>
            <a:off x="9006840" y="1920240"/>
            <a:ext cx="2651760" cy="566928"/>
          </a:xfrm>
          <a:prstGeom prst="rect">
            <a:avLst/>
          </a:prstGeom>
          <a:noFill/>
          <a:ln/>
        </p:spPr>
        <p:txBody>
          <a:bodyPr wrap="square" lIns="0" tIns="0" rIns="0" bIns="0" rtlCol="0" anchor="t"/>
          <a:lstStyle/>
          <a:p>
            <a:pPr indent="0" marL="0">
              <a:buNone/>
            </a:pPr>
            <a:r>
              <a:rPr lang="en-US" sz="1400" b="1" dirty="0">
                <a:solidFill>
                  <a:schemeClr val="tx1"/>
                </a:solidFill>
              </a:rPr>
              <a:t>Header</a:t>
            </a:r>
            <a:endParaRPr lang="en-US" sz="1400" dirty="0"/>
          </a:p>
          <a:p>
            <a:pPr indent="0" marL="0">
              <a:buNone/>
            </a:pPr>
            <a:r>
              <a:rPr lang="en-US" sz="1400" dirty="0">
                <a:solidFill>
                  <a:srgbClr val="4D4D4D"/>
                </a:solidFill>
              </a:rPr>
              <a:t>1920 x 80 px</a:t>
            </a:r>
            <a:endParaRPr lang="en-US" sz="1400" dirty="0"/>
          </a:p>
        </p:txBody>
      </p:sp>
      <p:sp>
        <p:nvSpPr>
          <p:cNvPr id="8" name="Text 5"/>
          <p:cNvSpPr txBox="1"/>
          <p:nvPr/>
        </p:nvSpPr>
        <p:spPr>
          <a:xfrm>
            <a:off x="9006840" y="2542032"/>
            <a:ext cx="2651760" cy="566928"/>
          </a:xfrm>
          <a:prstGeom prst="rect">
            <a:avLst/>
          </a:prstGeom>
          <a:noFill/>
          <a:ln/>
        </p:spPr>
        <p:txBody>
          <a:bodyPr wrap="square" lIns="0" tIns="0" rIns="0" bIns="0" rtlCol="0" anchor="t"/>
          <a:lstStyle/>
          <a:p>
            <a:pPr indent="0" marL="0">
              <a:buNone/>
            </a:pPr>
            <a:r>
              <a:rPr lang="en-US" sz="1400" b="1" dirty="0">
                <a:solidFill>
                  <a:schemeClr val="tx1"/>
                </a:solidFill>
              </a:rPr>
              <a:t>Left menu</a:t>
            </a:r>
            <a:endParaRPr lang="en-US" sz="1400" dirty="0"/>
          </a:p>
          <a:p>
            <a:pPr indent="0" marL="0">
              <a:buNone/>
            </a:pPr>
            <a:r>
              <a:rPr lang="en-US" sz="1400" dirty="0">
                <a:solidFill>
                  <a:srgbClr val="4D4D4D"/>
                </a:solidFill>
              </a:rPr>
              <a:t>120 x 860 px</a:t>
            </a:r>
            <a:endParaRPr lang="en-US" sz="1400" dirty="0"/>
          </a:p>
        </p:txBody>
      </p:sp>
      <p:sp>
        <p:nvSpPr>
          <p:cNvPr id="9" name="Text 6"/>
          <p:cNvSpPr txBox="1"/>
          <p:nvPr/>
        </p:nvSpPr>
        <p:spPr>
          <a:xfrm>
            <a:off x="9006840" y="3163824"/>
            <a:ext cx="2651760" cy="566928"/>
          </a:xfrm>
          <a:prstGeom prst="rect">
            <a:avLst/>
          </a:prstGeom>
          <a:noFill/>
          <a:ln/>
        </p:spPr>
        <p:txBody>
          <a:bodyPr wrap="square" lIns="0" tIns="0" rIns="0" bIns="0" rtlCol="0" anchor="t"/>
          <a:lstStyle/>
          <a:p>
            <a:pPr indent="0" marL="0">
              <a:buNone/>
            </a:pPr>
            <a:r>
              <a:rPr lang="en-US" sz="1400" b="1" dirty="0">
                <a:solidFill>
                  <a:schemeClr val="tx1"/>
                </a:solidFill>
              </a:rPr>
              <a:t>Process area</a:t>
            </a:r>
            <a:endParaRPr lang="en-US" sz="1400" dirty="0"/>
          </a:p>
          <a:p>
            <a:pPr indent="0" marL="0">
              <a:buNone/>
            </a:pPr>
            <a:r>
              <a:rPr lang="en-US" sz="1400" dirty="0">
                <a:solidFill>
                  <a:srgbClr val="4D4D4D"/>
                </a:solidFill>
              </a:rPr>
              <a:t>1400 x 860 px</a:t>
            </a:r>
            <a:endParaRPr lang="en-US" sz="1400" dirty="0"/>
          </a:p>
        </p:txBody>
      </p:sp>
      <p:sp>
        <p:nvSpPr>
          <p:cNvPr id="10" name="Text 7"/>
          <p:cNvSpPr txBox="1"/>
          <p:nvPr/>
        </p:nvSpPr>
        <p:spPr>
          <a:xfrm>
            <a:off x="9006840" y="3785616"/>
            <a:ext cx="2651760" cy="566928"/>
          </a:xfrm>
          <a:prstGeom prst="rect">
            <a:avLst/>
          </a:prstGeom>
          <a:noFill/>
          <a:ln/>
        </p:spPr>
        <p:txBody>
          <a:bodyPr wrap="square" lIns="0" tIns="0" rIns="0" bIns="0" rtlCol="0" anchor="t"/>
          <a:lstStyle/>
          <a:p>
            <a:pPr indent="0" marL="0">
              <a:buNone/>
            </a:pPr>
            <a:r>
              <a:rPr lang="en-US" sz="1400" b="1" dirty="0">
                <a:solidFill>
                  <a:schemeClr val="tx1"/>
                </a:solidFill>
              </a:rPr>
              <a:t>Dynamic window</a:t>
            </a:r>
            <a:endParaRPr lang="en-US" sz="1400" dirty="0"/>
          </a:p>
          <a:p>
            <a:pPr indent="0" marL="0">
              <a:buNone/>
            </a:pPr>
            <a:r>
              <a:rPr lang="en-US" sz="1400" dirty="0">
                <a:solidFill>
                  <a:srgbClr val="4D4D4D"/>
                </a:solidFill>
              </a:rPr>
              <a:t>400 x 860 px</a:t>
            </a:r>
            <a:endParaRPr lang="en-US" sz="1400" dirty="0"/>
          </a:p>
        </p:txBody>
      </p:sp>
      <p:sp>
        <p:nvSpPr>
          <p:cNvPr id="11" name="Text 8"/>
          <p:cNvSpPr txBox="1"/>
          <p:nvPr/>
        </p:nvSpPr>
        <p:spPr>
          <a:xfrm>
            <a:off x="9006840" y="4407408"/>
            <a:ext cx="2651760" cy="566928"/>
          </a:xfrm>
          <a:prstGeom prst="rect">
            <a:avLst/>
          </a:prstGeom>
          <a:noFill/>
          <a:ln/>
        </p:spPr>
        <p:txBody>
          <a:bodyPr wrap="square" lIns="0" tIns="0" rIns="0" bIns="0" rtlCol="0" anchor="t"/>
          <a:lstStyle/>
          <a:p>
            <a:pPr indent="0" marL="0">
              <a:buNone/>
            </a:pPr>
            <a:r>
              <a:rPr lang="en-US" sz="1400" b="1" dirty="0">
                <a:solidFill>
                  <a:schemeClr val="tx1"/>
                </a:solidFill>
              </a:rPr>
              <a:t>Alarm bar</a:t>
            </a:r>
            <a:endParaRPr lang="en-US" sz="1400" dirty="0"/>
          </a:p>
          <a:p>
            <a:pPr indent="0" marL="0">
              <a:buNone/>
            </a:pPr>
            <a:r>
              <a:rPr lang="en-US" sz="1400" dirty="0">
                <a:solidFill>
                  <a:srgbClr val="4D4D4D"/>
                </a:solidFill>
              </a:rPr>
              <a:t>1920 x 140 px</a:t>
            </a:r>
            <a:endParaRPr lang="en-US" sz="1400" dirty="0"/>
          </a:p>
        </p:txBody>
      </p:sp>
      <p:sp>
        <p:nvSpPr>
          <p:cNvPr id="12" name="Text 9"/>
          <p:cNvSpPr txBox="1"/>
          <p:nvPr/>
        </p:nvSpPr>
        <p:spPr>
          <a:xfrm>
            <a:off x="9006840" y="5120640"/>
            <a:ext cx="2651760" cy="914400"/>
          </a:xfrm>
          <a:prstGeom prst="rect">
            <a:avLst/>
          </a:prstGeom>
          <a:noFill/>
          <a:ln/>
        </p:spPr>
        <p:txBody>
          <a:bodyPr wrap="square" lIns="0" tIns="0" rIns="0" bIns="0" rtlCol="0" anchor="t"/>
          <a:lstStyle/>
          <a:p>
            <a:pPr indent="0" marL="0">
              <a:buNone/>
            </a:pPr>
            <a:r>
              <a:rPr lang="en-US" sz="1300" i="1" dirty="0">
                <a:solidFill>
                  <a:srgbClr val="4D4D4D"/>
                </a:solidFill>
              </a:rPr>
              <a:t>Everything doubles at 3840 x 2160. The window is 37.04 vh x 79.63 vh.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How a dynamic window opens and closes</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sp>
        <p:nvSpPr>
          <p:cNvPr id="4" name="step Click symbol"/>
          <p:cNvSpPr/>
          <p:nvPr/>
        </p:nvSpPr>
        <p:spPr>
          <a:xfrm>
            <a:off x="548640" y="1508760"/>
            <a:ext cx="2377440" cy="1234440"/>
          </a:xfrm>
          <a:prstGeom prst="rect">
            <a:avLst/>
          </a:prstGeom>
          <a:solidFill>
            <a:srgbClr val="F0F0F0"/>
          </a:solidFill>
          <a:ln w="9525">
            <a:solidFill>
              <a:srgbClr val="D0D0D0"/>
            </a:solidFill>
            <a:prstDash val="solid"/>
          </a:ln>
        </p:spPr>
      </p:sp>
      <p:sp>
        <p:nvSpPr>
          <p:cNvPr id="5" name="Text 3"/>
          <p:cNvSpPr txBox="1"/>
          <p:nvPr/>
        </p:nvSpPr>
        <p:spPr>
          <a:xfrm>
            <a:off x="685800" y="1627632"/>
            <a:ext cx="2103120" cy="1051560"/>
          </a:xfrm>
          <a:prstGeom prst="rect">
            <a:avLst/>
          </a:prstGeom>
          <a:noFill/>
          <a:ln/>
        </p:spPr>
        <p:txBody>
          <a:bodyPr wrap="square" lIns="0" tIns="0" rIns="0" bIns="0" rtlCol="0" anchor="t"/>
          <a:lstStyle/>
          <a:p>
            <a:pPr indent="0" marL="0">
              <a:buNone/>
            </a:pPr>
            <a:r>
              <a:rPr lang="en-US" sz="1500" b="1" dirty="0">
                <a:solidFill>
                  <a:srgbClr val="1F1F1F"/>
                </a:solidFill>
              </a:rPr>
              <a:t>Click symbol</a:t>
            </a:r>
            <a:endParaRPr lang="en-US" sz="1500" dirty="0"/>
          </a:p>
          <a:p>
            <a:pPr indent="0" marL="0">
              <a:buNone/>
            </a:pPr>
            <a:r>
              <a:rPr lang="en-US" sz="1200" dirty="0">
                <a:solidFill>
                  <a:srgbClr val="4D4D4D"/>
                </a:solidFill>
              </a:rPr>
              <a:t>operator clicks a template</a:t>
            </a:r>
            <a:endParaRPr lang="en-US" sz="1500" dirty="0"/>
          </a:p>
        </p:txBody>
      </p:sp>
      <p:sp>
        <p:nvSpPr>
          <p:cNvPr id="6" name="arrow 0"/>
          <p:cNvSpPr/>
          <p:nvPr/>
        </p:nvSpPr>
        <p:spPr>
          <a:xfrm>
            <a:off x="2971800" y="1984248"/>
            <a:ext cx="365760" cy="292608"/>
          </a:xfrm>
          <a:prstGeom prst="rightArrow">
            <a:avLst/>
          </a:prstGeom>
          <a:solidFill>
            <a:srgbClr val="7F7F7F"/>
          </a:solidFill>
          <a:ln w="12700">
            <a:solidFill>
              <a:srgbClr val="7F7F7F"/>
            </a:solidFill>
            <a:prstDash val="solid"/>
          </a:ln>
        </p:spPr>
      </p:sp>
      <p:sp>
        <p:nvSpPr>
          <p:cNvPr id="7" name="step efc.ui.openDynamic"/>
          <p:cNvSpPr/>
          <p:nvPr/>
        </p:nvSpPr>
        <p:spPr>
          <a:xfrm>
            <a:off x="3383280" y="1508760"/>
            <a:ext cx="2377440" cy="1234440"/>
          </a:xfrm>
          <a:prstGeom prst="rect">
            <a:avLst/>
          </a:prstGeom>
          <a:solidFill>
            <a:srgbClr val="F0F0F0"/>
          </a:solidFill>
          <a:ln w="9525">
            <a:solidFill>
              <a:srgbClr val="D0D0D0"/>
            </a:solidFill>
            <a:prstDash val="solid"/>
          </a:ln>
        </p:spPr>
      </p:sp>
      <p:sp>
        <p:nvSpPr>
          <p:cNvPr id="8" name="Text 6"/>
          <p:cNvSpPr txBox="1"/>
          <p:nvPr/>
        </p:nvSpPr>
        <p:spPr>
          <a:xfrm>
            <a:off x="3520440" y="1627632"/>
            <a:ext cx="2103120" cy="1051560"/>
          </a:xfrm>
          <a:prstGeom prst="rect">
            <a:avLst/>
          </a:prstGeom>
          <a:noFill/>
          <a:ln/>
        </p:spPr>
        <p:txBody>
          <a:bodyPr wrap="square" lIns="0" tIns="0" rIns="0" bIns="0" rtlCol="0" anchor="t"/>
          <a:lstStyle/>
          <a:p>
            <a:pPr indent="0" marL="0">
              <a:buNone/>
            </a:pPr>
            <a:r>
              <a:rPr lang="en-US" sz="1500" b="1" dirty="0">
                <a:solidFill>
                  <a:srgbClr val="1F1F1F"/>
                </a:solidFill>
              </a:rPr>
              <a:t>efc.ui.openDynamic</a:t>
            </a:r>
            <a:endParaRPr lang="en-US" sz="1500" dirty="0"/>
          </a:p>
          <a:p>
            <a:pPr indent="0" marL="0">
              <a:buNone/>
            </a:pPr>
            <a:r>
              <a:rPr lang="en-US" sz="1200" dirty="0">
                <a:solidFill>
                  <a:srgbClr val="4D4D4D"/>
                </a:solidFill>
              </a:rPr>
              <a:t>picks the window from tType or dockId</a:t>
            </a:r>
            <a:endParaRPr lang="en-US" sz="1500" dirty="0"/>
          </a:p>
        </p:txBody>
      </p:sp>
      <p:sp>
        <p:nvSpPr>
          <p:cNvPr id="9" name="arrow 1"/>
          <p:cNvSpPr/>
          <p:nvPr/>
        </p:nvSpPr>
        <p:spPr>
          <a:xfrm>
            <a:off x="5806440" y="1984248"/>
            <a:ext cx="365760" cy="292608"/>
          </a:xfrm>
          <a:prstGeom prst="rightArrow">
            <a:avLst/>
          </a:prstGeom>
          <a:solidFill>
            <a:srgbClr val="7F7F7F"/>
          </a:solidFill>
          <a:ln w="12700">
            <a:solidFill>
              <a:srgbClr val="7F7F7F"/>
            </a:solidFill>
            <a:prstDash val="solid"/>
          </a:ln>
        </p:spPr>
      </p:sp>
      <p:sp>
        <p:nvSpPr>
          <p:cNvPr id="10" name="step Session value"/>
          <p:cNvSpPr/>
          <p:nvPr/>
        </p:nvSpPr>
        <p:spPr>
          <a:xfrm>
            <a:off x="6217920" y="1508760"/>
            <a:ext cx="2377440" cy="1234440"/>
          </a:xfrm>
          <a:prstGeom prst="rect">
            <a:avLst/>
          </a:prstGeom>
          <a:solidFill>
            <a:srgbClr val="F0F0F0"/>
          </a:solidFill>
          <a:ln w="9525">
            <a:solidFill>
              <a:srgbClr val="D0D0D0"/>
            </a:solidFill>
            <a:prstDash val="solid"/>
          </a:ln>
        </p:spPr>
      </p:sp>
      <p:sp>
        <p:nvSpPr>
          <p:cNvPr id="11" name="Text 9"/>
          <p:cNvSpPr txBox="1"/>
          <p:nvPr/>
        </p:nvSpPr>
        <p:spPr>
          <a:xfrm>
            <a:off x="6355080" y="1627632"/>
            <a:ext cx="2103120" cy="1051560"/>
          </a:xfrm>
          <a:prstGeom prst="rect">
            <a:avLst/>
          </a:prstGeom>
          <a:noFill/>
          <a:ln/>
        </p:spPr>
        <p:txBody>
          <a:bodyPr wrap="square" lIns="0" tIns="0" rIns="0" bIns="0" rtlCol="0" anchor="t"/>
          <a:lstStyle/>
          <a:p>
            <a:pPr indent="0" marL="0">
              <a:buNone/>
            </a:pPr>
            <a:r>
              <a:rPr lang="en-US" sz="1500" b="1" dirty="0">
                <a:solidFill>
                  <a:srgbClr val="1F1F1F"/>
                </a:solidFill>
              </a:rPr>
              <a:t>Session value</a:t>
            </a:r>
            <a:endParaRPr lang="en-US" sz="1500" dirty="0"/>
          </a:p>
          <a:p>
            <a:pPr indent="0" marL="0">
              <a:buNone/>
            </a:pPr>
            <a:r>
              <a:rPr lang="en-US" sz="1200" dirty="0">
                <a:solidFill>
                  <a:srgbClr val="4D4D4D"/>
                </a:solidFill>
              </a:rPr>
              <a:t>efcDw[pageId] = path + tagPath</a:t>
            </a:r>
            <a:endParaRPr lang="en-US" sz="1500" dirty="0"/>
          </a:p>
        </p:txBody>
      </p:sp>
      <p:sp>
        <p:nvSpPr>
          <p:cNvPr id="12" name="arrow 2"/>
          <p:cNvSpPr/>
          <p:nvPr/>
        </p:nvSpPr>
        <p:spPr>
          <a:xfrm>
            <a:off x="8641080" y="1984248"/>
            <a:ext cx="365760" cy="292608"/>
          </a:xfrm>
          <a:prstGeom prst="rightArrow">
            <a:avLst/>
          </a:prstGeom>
          <a:solidFill>
            <a:srgbClr val="7F7F7F"/>
          </a:solidFill>
          <a:ln w="12700">
            <a:solidFill>
              <a:srgbClr val="7F7F7F"/>
            </a:solidFill>
            <a:prstDash val="solid"/>
          </a:ln>
        </p:spPr>
      </p:sp>
      <p:sp>
        <p:nvSpPr>
          <p:cNvPr id="13" name="step Docks/Region"/>
          <p:cNvSpPr/>
          <p:nvPr/>
        </p:nvSpPr>
        <p:spPr>
          <a:xfrm>
            <a:off x="9052560" y="1508760"/>
            <a:ext cx="2377440" cy="1234440"/>
          </a:xfrm>
          <a:prstGeom prst="rect">
            <a:avLst/>
          </a:prstGeom>
          <a:solidFill>
            <a:srgbClr val="3A3A3A"/>
          </a:solidFill>
          <a:ln w="9525">
            <a:solidFill>
              <a:srgbClr val="3A3A3A"/>
            </a:solidFill>
            <a:prstDash val="solid"/>
          </a:ln>
        </p:spPr>
      </p:sp>
      <p:sp>
        <p:nvSpPr>
          <p:cNvPr id="14" name="Text 12"/>
          <p:cNvSpPr txBox="1"/>
          <p:nvPr/>
        </p:nvSpPr>
        <p:spPr>
          <a:xfrm>
            <a:off x="9189720" y="1627632"/>
            <a:ext cx="2103120" cy="1051560"/>
          </a:xfrm>
          <a:prstGeom prst="rect">
            <a:avLst/>
          </a:prstGeom>
          <a:noFill/>
          <a:ln/>
        </p:spPr>
        <p:txBody>
          <a:bodyPr wrap="square" lIns="0" tIns="0" rIns="0" bIns="0" rtlCol="0" anchor="t"/>
          <a:lstStyle/>
          <a:p>
            <a:pPr indent="0" marL="0">
              <a:buNone/>
            </a:pPr>
            <a:r>
              <a:rPr lang="en-US" sz="1500" b="1" dirty="0">
                <a:solidFill>
                  <a:srgbClr val="FFFFFF"/>
                </a:solidFill>
              </a:rPr>
              <a:t>Docks/Region</a:t>
            </a:r>
            <a:endParaRPr lang="en-US" sz="1500" dirty="0"/>
          </a:p>
          <a:p>
            <a:pPr indent="0" marL="0">
              <a:buNone/>
            </a:pPr>
            <a:r>
              <a:rPr lang="en-US" sz="1200" dirty="0">
                <a:solidFill>
                  <a:srgbClr val="E0E0E0"/>
                </a:solidFill>
              </a:rPr>
              <a:t>embedded view swaps to the window</a:t>
            </a:r>
            <a:endParaRPr lang="en-US" sz="1500" dirty="0"/>
          </a:p>
        </p:txBody>
      </p:sp>
      <p:sp>
        <p:nvSpPr>
          <p:cNvPr id="15" name="Text 13"/>
          <p:cNvSpPr txBox="1"/>
          <p:nvPr/>
        </p:nvSpPr>
        <p:spPr>
          <a:xfrm>
            <a:off x="548640" y="2926080"/>
            <a:ext cx="11064240" cy="548640"/>
          </a:xfrm>
          <a:prstGeom prst="rect">
            <a:avLst/>
          </a:prstGeom>
          <a:noFill/>
          <a:ln/>
        </p:spPr>
        <p:txBody>
          <a:bodyPr wrap="square" lIns="0" tIns="0" rIns="0" bIns="0" rtlCol="0" anchor="t"/>
          <a:lstStyle/>
          <a:p>
            <a:pPr indent="0" marL="0">
              <a:buNone/>
            </a:pPr>
            <a:r>
              <a:rPr lang="en-US" sz="1400" dirty="0">
                <a:solidFill>
                  <a:srgbClr val="4D4D4D"/>
                </a:solidFill>
              </a:rPr>
              <a:t>Close (X) calls efc.ui.closeDynamic and returns the region to the screen's defaultDock view. One window per page; a second click replaces it.</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3657600" cy="914400"/>
        </p:xfrm>
        <a:graphic>
          <a:graphicData uri="http://schemas.openxmlformats.org/drawingml/2006/table">
            <a:tbl>
              <a:tblPr/>
              <a:tblGrid>
                <a:gridCol w="1463040"/>
                <a:gridCol w="2194560"/>
              </a:tblGrid>
              <a:tr h="384048">
                <a:tc>
                  <a:txBody>
                    <a:bodyPr/>
                    <a:lstStyle/>
                    <a:p>
                      <a:pPr indent="0" marL="0">
                        <a:buNone/>
                      </a:pPr>
                      <a:r>
                        <a:rPr lang="en-US" sz="1200" b="1" dirty="0">
                          <a:solidFill>
                            <a:srgbClr val="FFFFFF"/>
                          </a:solidFill>
                        </a:rPr>
                        <a:t>Type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200" b="1" dirty="0">
                          <a:solidFill>
                            <a:srgbClr val="FFFFFF"/>
                          </a:solidFill>
                        </a:rPr>
                        <a:t>Window</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384048">
                <a:tc>
                  <a:txBody>
                    <a:bodyPr/>
                    <a:lstStyle/>
                    <a:p>
                      <a:pPr indent="0" marL="0">
                        <a:buNone/>
                      </a:pPr>
                      <a:r>
                        <a:rPr lang="en-US" sz="1200" b="1" dirty="0">
                          <a:solidFill>
                            <a:srgbClr val="1F1F1F"/>
                          </a:solidFill>
                        </a:rPr>
                        <a:t>T_DValve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dw_ValveDiscrete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384048">
                <a:tc>
                  <a:txBody>
                    <a:bodyPr/>
                    <a:lstStyle/>
                    <a:p>
                      <a:pPr indent="0" marL="0">
                        <a:buNone/>
                      </a:pPr>
                      <a:r>
                        <a:rPr lang="en-US" sz="1200" b="1" dirty="0">
                          <a:solidFill>
                            <a:srgbClr val="1F1F1F"/>
                          </a:solidFill>
                        </a:rPr>
                        <a:t>T_CValve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dw_ValveAnalog</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F1F"/>
                          </a:solidFill>
                        </a:rPr>
                        <a:t>T_Motor</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dw_Rotating</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384048">
                <a:tc>
                  <a:txBody>
                    <a:bodyPr/>
                    <a:lstStyle/>
                    <a:p>
                      <a:pPr indent="0" marL="0">
                        <a:buNone/>
                      </a:pPr>
                      <a:r>
                        <a:rPr lang="en-US" sz="1200" b="1" dirty="0">
                          <a:solidFill>
                            <a:srgbClr val="1F1F1F"/>
                          </a:solidFill>
                        </a:rPr>
                        <a:t>T_VFD</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dw_VFD</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F1F"/>
                          </a:solidFill>
                        </a:rPr>
                        <a:t>T_Heater</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dw_Heater</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434840" y="3657600"/>
          <a:ext cx="3657600" cy="914400"/>
        </p:xfrm>
        <a:graphic>
          <a:graphicData uri="http://schemas.openxmlformats.org/drawingml/2006/table">
            <a:tbl>
              <a:tblPr/>
              <a:tblGrid>
                <a:gridCol w="1463040"/>
                <a:gridCol w="2194560"/>
              </a:tblGrid>
              <a:tr h="384048">
                <a:tc>
                  <a:txBody>
                    <a:bodyPr/>
                    <a:lstStyle/>
                    <a:p>
                      <a:pPr indent="0" marL="0">
                        <a:buNone/>
                      </a:pPr>
                      <a:r>
                        <a:rPr lang="en-US" sz="1200" b="1" dirty="0">
                          <a:solidFill>
                            <a:srgbClr val="FFFFFF"/>
                          </a:solidFill>
                        </a:rPr>
                        <a:t>Type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200" b="1" dirty="0">
                          <a:solidFill>
                            <a:srgbClr val="FFFFFF"/>
                          </a:solidFill>
                        </a:rPr>
                        <a:t>Window</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384048">
                <a:tc>
                  <a:txBody>
                    <a:bodyPr/>
                    <a:lstStyle/>
                    <a:p>
                      <a:pPr indent="0" marL="0">
                        <a:buNone/>
                      </a:pPr>
                      <a:r>
                        <a:rPr lang="en-US" sz="1200" b="1" dirty="0">
                          <a:solidFill>
                            <a:srgbClr val="1F1F1F"/>
                          </a:solidFill>
                        </a:rPr>
                        <a:t>T_HeatEx</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dw_HeatTransfer</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384048">
                <a:tc>
                  <a:txBody>
                    <a:bodyPr/>
                    <a:lstStyle/>
                    <a:p>
                      <a:pPr indent="0" marL="0">
                        <a:buNone/>
                      </a:pPr>
                      <a:r>
                        <a:rPr lang="en-US" sz="1200" b="1" dirty="0">
                          <a:solidFill>
                            <a:srgbClr val="1F1F1F"/>
                          </a:solidFill>
                        </a:rPr>
                        <a:t>T_AI, T_KPI</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dw_ProcessValue</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F1F"/>
                          </a:solidFill>
                        </a:rPr>
                        <a:t>T_PID</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dw_Loop</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384048">
                <a:tc>
                  <a:txBody>
                    <a:bodyPr/>
                    <a:lstStyle/>
                    <a:p>
                      <a:pPr indent="0" marL="0">
                        <a:buNone/>
                      </a:pPr>
                      <a:r>
                        <a:rPr lang="en-US" sz="1200" b="1" dirty="0">
                          <a:solidFill>
                            <a:srgbClr val="1F1F1F"/>
                          </a:solidFill>
                        </a:rPr>
                        <a:t>T_Station</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dw_Station</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F1F"/>
                          </a:solidFill>
                        </a:rPr>
                        <a:t>x80 card DDT</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200" dirty="0">
                          <a:solidFill>
                            <a:srgbClr val="1F1F1F"/>
                          </a:solidFill>
                        </a:rPr>
                        <a:t>dw_IOCard</a:t>
                      </a:r>
                      <a:endParaRPr lang="en-US" sz="12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bl>
          </a:graphicData>
        </a:graphic>
      </p:graphicFrame>
      <p:sp>
        <p:nvSpPr>
          <p:cNvPr id="18" name="why embedded"/>
          <p:cNvSpPr/>
          <p:nvPr/>
        </p:nvSpPr>
        <p:spPr>
          <a:xfrm>
            <a:off x="8366760" y="3657600"/>
            <a:ext cx="3246120" cy="2331720"/>
          </a:xfrm>
          <a:prstGeom prst="rect">
            <a:avLst/>
          </a:prstGeom>
          <a:solidFill>
            <a:srgbClr val="F0F0F0"/>
          </a:solidFill>
          <a:ln w="9525">
            <a:solidFill>
              <a:srgbClr val="D0D0D0"/>
            </a:solidFill>
            <a:prstDash val="solid"/>
          </a:ln>
        </p:spPr>
      </p:sp>
      <p:sp>
        <p:nvSpPr>
          <p:cNvPr id="19" name="Text 15"/>
          <p:cNvSpPr txBox="1"/>
          <p:nvPr/>
        </p:nvSpPr>
        <p:spPr>
          <a:xfrm>
            <a:off x="8549640" y="3767328"/>
            <a:ext cx="2926080" cy="2148840"/>
          </a:xfrm>
          <a:prstGeom prst="rect">
            <a:avLst/>
          </a:prstGeom>
          <a:noFill/>
          <a:ln/>
        </p:spPr>
        <p:txBody>
          <a:bodyPr wrap="square" lIns="0" tIns="0" rIns="0" bIns="0" rtlCol="0" anchor="t"/>
          <a:lstStyle/>
          <a:p>
            <a:pPr indent="0" marL="0">
              <a:buNone/>
            </a:pPr>
            <a:r>
              <a:rPr lang="en-US" sz="1400" b="1" dirty="0">
                <a:solidFill>
                  <a:schemeClr val="tx1"/>
                </a:solidFill>
              </a:rPr>
              <a:t>Why an embedded view, not Perspective docks?</a:t>
            </a:r>
            <a:endParaRPr lang="en-US" sz="1400" dirty="0"/>
          </a:p>
          <a:p>
            <a:pPr indent="0" marL="0">
              <a:buNone/>
            </a:pPr>
            <a:r>
              <a:rPr lang="en-US" sz="1300" dirty="0">
                <a:solidFill>
                  <a:srgbClr val="4D4D4D"/>
                </a:solidFill>
              </a:rPr>
              <a:t>The region is a fixed part of the shell, so the process area never shifts or gets covered, and it matches the Controls Standard screen appendix (decision 24).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Anatomy of a dynamic window: dw_ValveDiscrete</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pic>
        <p:nvPicPr>
          <p:cNvPr id="4" name="img Docks_ValveDiscrete.png" descr="dw_ValveDiscrete dynamic window for XV-101">    </p:cNvPr>
          <p:cNvPicPr>
            <a:picLocks noChangeAspect="1"/>
          </p:cNvPicPr>
          <p:nvPr/>
        </p:nvPicPr>
        <p:blipFill>
          <a:blip r:embed="rId1"/>
          <a:stretch>
            <a:fillRect/>
          </a:stretch>
        </p:blipFill>
        <p:spPr>
          <a:xfrm>
            <a:off x="548640" y="1371600"/>
            <a:ext cx="2533095" cy="4892040"/>
          </a:xfrm>
          <a:prstGeom prst="rect">
            <a:avLst/>
          </a:prstGeom>
        </p:spPr>
      </p:pic>
      <p:sp>
        <p:nvSpPr>
          <p:cNvPr id="5" name="callout 1"/>
          <p:cNvSpPr/>
          <p:nvPr/>
        </p:nvSpPr>
        <p:spPr>
          <a:xfrm>
            <a:off x="3657600" y="1426464"/>
            <a:ext cx="329184" cy="329184"/>
          </a:xfrm>
          <a:prstGeom prst="ellipse">
            <a:avLst/>
          </a:prstGeom>
          <a:solidFill>
            <a:srgbClr val="3A3A3A"/>
          </a:solidFill>
          <a:ln w="12700">
            <a:solidFill>
              <a:srgbClr val="3A3A3A"/>
            </a:solidFill>
            <a:prstDash val="solid"/>
          </a:ln>
        </p:spPr>
      </p:sp>
      <p:sp>
        <p:nvSpPr>
          <p:cNvPr id="6" name="Text 3"/>
          <p:cNvSpPr txBox="1"/>
          <p:nvPr/>
        </p:nvSpPr>
        <p:spPr>
          <a:xfrm>
            <a:off x="3657600" y="14264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4114800" y="1371600"/>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Header  </a:t>
            </a:r>
            <a:pPr indent="0" marL="0">
              <a:buNone/>
            </a:pPr>
            <a:r>
              <a:rPr lang="en-US" sz="1400" dirty="0">
                <a:solidFill>
                  <a:srgbClr val="4D4D4D"/>
                </a:solidFill>
              </a:rPr>
              <a:t>Tag, description, close</a:t>
            </a:r>
            <a:endParaRPr lang="en-US" sz="1400" dirty="0"/>
          </a:p>
        </p:txBody>
      </p:sp>
      <p:sp>
        <p:nvSpPr>
          <p:cNvPr id="8" name="callout 2"/>
          <p:cNvSpPr/>
          <p:nvPr/>
        </p:nvSpPr>
        <p:spPr>
          <a:xfrm>
            <a:off x="3657600" y="1920240"/>
            <a:ext cx="329184" cy="329184"/>
          </a:xfrm>
          <a:prstGeom prst="ellipse">
            <a:avLst/>
          </a:prstGeom>
          <a:solidFill>
            <a:srgbClr val="3A3A3A"/>
          </a:solidFill>
          <a:ln w="12700">
            <a:solidFill>
              <a:srgbClr val="3A3A3A"/>
            </a:solidFill>
            <a:prstDash val="solid"/>
          </a:ln>
        </p:spPr>
      </p:sp>
      <p:sp>
        <p:nvSpPr>
          <p:cNvPr id="9" name="Text 6"/>
          <p:cNvSpPr txBox="1"/>
          <p:nvPr/>
        </p:nvSpPr>
        <p:spPr>
          <a:xfrm>
            <a:off x="3657600" y="19202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7"/>
          <p:cNvSpPr txBox="1"/>
          <p:nvPr/>
        </p:nvSpPr>
        <p:spPr>
          <a:xfrm>
            <a:off x="4114800" y="1865376"/>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State banner + chips  </a:t>
            </a:r>
            <a:pPr indent="0" marL="0">
              <a:buNone/>
            </a:pPr>
            <a:r>
              <a:rPr lang="en-US" sz="1400" dirty="0">
                <a:solidFill>
                  <a:srgbClr val="4D4D4D"/>
                </a:solidFill>
              </a:rPr>
              <a:t>CLOSED plus SIM, LOCAL, INTLK, NOT PERM chips</a:t>
            </a:r>
            <a:endParaRPr lang="en-US" sz="1400" dirty="0"/>
          </a:p>
        </p:txBody>
      </p:sp>
      <p:sp>
        <p:nvSpPr>
          <p:cNvPr id="11" name="callout 3"/>
          <p:cNvSpPr/>
          <p:nvPr/>
        </p:nvSpPr>
        <p:spPr>
          <a:xfrm>
            <a:off x="3657600" y="2414016"/>
            <a:ext cx="329184" cy="329184"/>
          </a:xfrm>
          <a:prstGeom prst="ellipse">
            <a:avLst/>
          </a:prstGeom>
          <a:solidFill>
            <a:srgbClr val="3A3A3A"/>
          </a:solidFill>
          <a:ln w="12700">
            <a:solidFill>
              <a:srgbClr val="3A3A3A"/>
            </a:solidFill>
            <a:prstDash val="solid"/>
          </a:ln>
        </p:spPr>
      </p:sp>
      <p:sp>
        <p:nvSpPr>
          <p:cNvPr id="12" name="Text 9"/>
          <p:cNvSpPr txBox="1"/>
          <p:nvPr/>
        </p:nvSpPr>
        <p:spPr>
          <a:xfrm>
            <a:off x="365760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0"/>
          <p:cNvSpPr txBox="1"/>
          <p:nvPr/>
        </p:nvSpPr>
        <p:spPr>
          <a:xfrm>
            <a:off x="4114800" y="2359152"/>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Mode row  </a:t>
            </a:r>
            <a:pPr indent="0" marL="0">
              <a:buNone/>
            </a:pPr>
            <a:r>
              <a:rPr lang="en-US" sz="1400" dirty="0">
                <a:solidFill>
                  <a:srgbClr val="4D4D4D"/>
                </a:solidFill>
              </a:rPr>
              <a:t>AUTO / MAN / MAINT / OOS; current mode highlighted</a:t>
            </a:r>
            <a:endParaRPr lang="en-US" sz="1400" dirty="0"/>
          </a:p>
        </p:txBody>
      </p:sp>
      <p:sp>
        <p:nvSpPr>
          <p:cNvPr id="14" name="callout 4"/>
          <p:cNvSpPr/>
          <p:nvPr/>
        </p:nvSpPr>
        <p:spPr>
          <a:xfrm>
            <a:off x="3657600" y="2907792"/>
            <a:ext cx="329184" cy="329184"/>
          </a:xfrm>
          <a:prstGeom prst="ellipse">
            <a:avLst/>
          </a:prstGeom>
          <a:solidFill>
            <a:srgbClr val="3A3A3A"/>
          </a:solidFill>
          <a:ln w="12700">
            <a:solidFill>
              <a:srgbClr val="3A3A3A"/>
            </a:solidFill>
            <a:prstDash val="solid"/>
          </a:ln>
        </p:spPr>
      </p:sp>
      <p:sp>
        <p:nvSpPr>
          <p:cNvPr id="15" name="Text 12"/>
          <p:cNvSpPr txBox="1"/>
          <p:nvPr/>
        </p:nvSpPr>
        <p:spPr>
          <a:xfrm>
            <a:off x="3657600" y="29077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3"/>
          <p:cNvSpPr txBox="1"/>
          <p:nvPr/>
        </p:nvSpPr>
        <p:spPr>
          <a:xfrm>
            <a:off x="4114800" y="2852928"/>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Command row  </a:t>
            </a:r>
            <a:pPr indent="0" marL="0">
              <a:buNone/>
            </a:pPr>
            <a:r>
              <a:rPr lang="en-US" sz="1400" dirty="0">
                <a:solidFill>
                  <a:srgbClr val="4D4D4D"/>
                </a:solidFill>
              </a:rPr>
              <a:t>OPEN / CLOSE / RESET, with the enable reason underneath</a:t>
            </a:r>
            <a:endParaRPr lang="en-US" sz="1400" dirty="0"/>
          </a:p>
        </p:txBody>
      </p:sp>
      <p:sp>
        <p:nvSpPr>
          <p:cNvPr id="17" name="callout 5"/>
          <p:cNvSpPr/>
          <p:nvPr/>
        </p:nvSpPr>
        <p:spPr>
          <a:xfrm>
            <a:off x="3657600" y="3401568"/>
            <a:ext cx="329184" cy="329184"/>
          </a:xfrm>
          <a:prstGeom prst="ellipse">
            <a:avLst/>
          </a:prstGeom>
          <a:solidFill>
            <a:srgbClr val="3A3A3A"/>
          </a:solidFill>
          <a:ln w="12700">
            <a:solidFill>
              <a:srgbClr val="3A3A3A"/>
            </a:solidFill>
            <a:prstDash val="solid"/>
          </a:ln>
        </p:spPr>
      </p:sp>
      <p:sp>
        <p:nvSpPr>
          <p:cNvPr id="18" name="Text 15"/>
          <p:cNvSpPr txBox="1"/>
          <p:nvPr/>
        </p:nvSpPr>
        <p:spPr>
          <a:xfrm>
            <a:off x="3657600" y="3401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9" name="Text 16"/>
          <p:cNvSpPr txBox="1"/>
          <p:nvPr/>
        </p:nvSpPr>
        <p:spPr>
          <a:xfrm>
            <a:off x="4114800" y="3346704"/>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Permissives (P)  </a:t>
            </a:r>
            <a:pPr indent="0" marL="0">
              <a:buNone/>
            </a:pPr>
            <a:r>
              <a:rPr lang="en-US" sz="1400" dirty="0">
                <a:solidFill>
                  <a:srgbClr val="4D4D4D"/>
                </a:solidFill>
              </a:rPr>
              <a:t>Each named condition, OK / NOT OK, BYPASS</a:t>
            </a:r>
            <a:endParaRPr lang="en-US" sz="1400" dirty="0"/>
          </a:p>
        </p:txBody>
      </p:sp>
      <p:sp>
        <p:nvSpPr>
          <p:cNvPr id="20" name="callout 6"/>
          <p:cNvSpPr/>
          <p:nvPr/>
        </p:nvSpPr>
        <p:spPr>
          <a:xfrm>
            <a:off x="3657600" y="3895344"/>
            <a:ext cx="329184" cy="329184"/>
          </a:xfrm>
          <a:prstGeom prst="ellipse">
            <a:avLst/>
          </a:prstGeom>
          <a:solidFill>
            <a:srgbClr val="3A3A3A"/>
          </a:solidFill>
          <a:ln w="12700">
            <a:solidFill>
              <a:srgbClr val="3A3A3A"/>
            </a:solidFill>
            <a:prstDash val="solid"/>
          </a:ln>
        </p:spPr>
      </p:sp>
      <p:sp>
        <p:nvSpPr>
          <p:cNvPr id="21" name="Text 18"/>
          <p:cNvSpPr txBox="1"/>
          <p:nvPr/>
        </p:nvSpPr>
        <p:spPr>
          <a:xfrm>
            <a:off x="3657600" y="38953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2" name="Text 19"/>
          <p:cNvSpPr txBox="1"/>
          <p:nvPr/>
        </p:nvSpPr>
        <p:spPr>
          <a:xfrm>
            <a:off x="4114800" y="3840480"/>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Interlocks (I)  </a:t>
            </a:r>
            <a:pPr indent="0" marL="0">
              <a:buNone/>
            </a:pPr>
            <a:r>
              <a:rPr lang="en-US" sz="1400" dirty="0">
                <a:solidFill>
                  <a:srgbClr val="4D4D4D"/>
                </a:solidFill>
              </a:rPr>
              <a:t>First-out, LATCHED, BYPASSED + time left + who and why</a:t>
            </a:r>
            <a:endParaRPr lang="en-US" sz="1400" dirty="0"/>
          </a:p>
        </p:txBody>
      </p:sp>
      <p:sp>
        <p:nvSpPr>
          <p:cNvPr id="23" name="callout 7"/>
          <p:cNvSpPr/>
          <p:nvPr/>
        </p:nvSpPr>
        <p:spPr>
          <a:xfrm>
            <a:off x="3657600" y="4389120"/>
            <a:ext cx="329184" cy="329184"/>
          </a:xfrm>
          <a:prstGeom prst="ellipse">
            <a:avLst/>
          </a:prstGeom>
          <a:solidFill>
            <a:srgbClr val="3A3A3A"/>
          </a:solidFill>
          <a:ln w="12700">
            <a:solidFill>
              <a:srgbClr val="3A3A3A"/>
            </a:solidFill>
            <a:prstDash val="solid"/>
          </a:ln>
        </p:spPr>
      </p:sp>
      <p:sp>
        <p:nvSpPr>
          <p:cNvPr id="24" name="Text 21"/>
          <p:cNvSpPr txBox="1"/>
          <p:nvPr/>
        </p:nvSpPr>
        <p:spPr>
          <a:xfrm>
            <a:off x="3657600" y="43891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25" name="Text 22"/>
          <p:cNvSpPr txBox="1"/>
          <p:nvPr/>
        </p:nvSpPr>
        <p:spPr>
          <a:xfrm>
            <a:off x="4114800" y="4334256"/>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Alarms  </a:t>
            </a:r>
            <a:pPr indent="0" marL="0">
              <a:buNone/>
            </a:pPr>
            <a:r>
              <a:rPr lang="en-US" sz="1400" dirty="0">
                <a:solidFill>
                  <a:srgbClr val="4D4D4D"/>
                </a:solidFill>
              </a:rPr>
              <a:t>Priority dot, state, ACK</a:t>
            </a:r>
            <a:endParaRPr lang="en-US" sz="1400" dirty="0"/>
          </a:p>
        </p:txBody>
      </p:sp>
      <p:sp>
        <p:nvSpPr>
          <p:cNvPr id="26" name="callout 8"/>
          <p:cNvSpPr/>
          <p:nvPr/>
        </p:nvSpPr>
        <p:spPr>
          <a:xfrm>
            <a:off x="3657600" y="4882896"/>
            <a:ext cx="329184" cy="329184"/>
          </a:xfrm>
          <a:prstGeom prst="ellipse">
            <a:avLst/>
          </a:prstGeom>
          <a:solidFill>
            <a:srgbClr val="3A3A3A"/>
          </a:solidFill>
          <a:ln w="12700">
            <a:solidFill>
              <a:srgbClr val="3A3A3A"/>
            </a:solidFill>
            <a:prstDash val="solid"/>
          </a:ln>
        </p:spPr>
      </p:sp>
      <p:sp>
        <p:nvSpPr>
          <p:cNvPr id="27" name="Text 24"/>
          <p:cNvSpPr txBox="1"/>
          <p:nvPr/>
        </p:nvSpPr>
        <p:spPr>
          <a:xfrm>
            <a:off x="3657600" y="4882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28" name="Text 25"/>
          <p:cNvSpPr txBox="1"/>
          <p:nvPr/>
        </p:nvSpPr>
        <p:spPr>
          <a:xfrm>
            <a:off x="4114800" y="4828032"/>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History  </a:t>
            </a:r>
            <a:pPr indent="0" marL="0">
              <a:buNone/>
            </a:pPr>
            <a:r>
              <a:rPr lang="en-US" sz="1400" dirty="0">
                <a:solidFill>
                  <a:srgbClr val="4D4D4D"/>
                </a:solidFill>
              </a:rPr>
              <a:t>30 min trend with expand</a:t>
            </a:r>
            <a:endParaRPr lang="en-US" sz="1400" dirty="0"/>
          </a:p>
        </p:txBody>
      </p:sp>
      <p:sp>
        <p:nvSpPr>
          <p:cNvPr id="29" name="callout 9"/>
          <p:cNvSpPr/>
          <p:nvPr/>
        </p:nvSpPr>
        <p:spPr>
          <a:xfrm>
            <a:off x="3657600" y="5376672"/>
            <a:ext cx="329184" cy="329184"/>
          </a:xfrm>
          <a:prstGeom prst="ellipse">
            <a:avLst/>
          </a:prstGeom>
          <a:solidFill>
            <a:srgbClr val="3A3A3A"/>
          </a:solidFill>
          <a:ln w="12700">
            <a:solidFill>
              <a:srgbClr val="3A3A3A"/>
            </a:solidFill>
            <a:prstDash val="solid"/>
          </a:ln>
        </p:spPr>
      </p:sp>
      <p:sp>
        <p:nvSpPr>
          <p:cNvPr id="30" name="Text 27"/>
          <p:cNvSpPr txBox="1"/>
          <p:nvPr/>
        </p:nvSpPr>
        <p:spPr>
          <a:xfrm>
            <a:off x="3657600" y="53766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31" name="Text 28"/>
          <p:cNvSpPr txBox="1"/>
          <p:nvPr/>
        </p:nvSpPr>
        <p:spPr>
          <a:xfrm>
            <a:off x="4114800" y="5321808"/>
            <a:ext cx="7498080" cy="457200"/>
          </a:xfrm>
          <a:prstGeom prst="rect">
            <a:avLst/>
          </a:prstGeom>
          <a:noFill/>
          <a:ln/>
        </p:spPr>
        <p:txBody>
          <a:bodyPr wrap="square" lIns="0" tIns="0" rIns="0" bIns="0" rtlCol="0" anchor="ctr"/>
          <a:lstStyle/>
          <a:p>
            <a:pPr indent="0" marL="0">
              <a:buNone/>
            </a:pPr>
            <a:r>
              <a:rPr lang="en-US" sz="1400" b="1" dirty="0">
                <a:solidFill>
                  <a:schemeClr val="tx1"/>
                </a:solidFill>
              </a:rPr>
              <a:t>Maintenance / Configuration  </a:t>
            </a:r>
            <a:pPr indent="0" marL="0">
              <a:buNone/>
            </a:pPr>
            <a:r>
              <a:rPr lang="en-US" sz="1400" dirty="0">
                <a:solidFill>
                  <a:srgbClr val="4D4D4D"/>
                </a:solidFill>
              </a:rPr>
              <a:t>Collapsible, role-gated sections</a:t>
            </a:r>
            <a:endParaRPr lang="en-US" sz="1400" dirty="0"/>
          </a:p>
        </p:txBody>
      </p:sp>
      <p:sp>
        <p:nvSpPr>
          <p:cNvPr id="32" name="Text 29"/>
          <p:cNvSpPr txBox="1"/>
          <p:nvPr/>
        </p:nvSpPr>
        <p:spPr>
          <a:xfrm>
            <a:off x="4114800" y="5943600"/>
            <a:ext cx="7498080" cy="320040"/>
          </a:xfrm>
          <a:prstGeom prst="rect">
            <a:avLst/>
          </a:prstGeom>
          <a:noFill/>
          <a:ln/>
        </p:spPr>
        <p:txBody>
          <a:bodyPr wrap="square" lIns="0" tIns="0" rIns="0" bIns="0" rtlCol="0" anchor="t"/>
          <a:lstStyle/>
          <a:p>
            <a:pPr indent="0" marL="0">
              <a:buNone/>
            </a:pPr>
            <a:r>
              <a:rPr lang="en-US" sz="1200" i="1" dirty="0">
                <a:solidFill>
                  <a:srgbClr val="4D4D4D"/>
                </a:solidFill>
              </a:rPr>
              <a:t>Approved rev 2 mockup (decision 8). Dashed purple = role-gated; the built view differs in detail (see notes).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Role gating: hidden, not greyed out</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sp>
        <p:nvSpPr>
          <p:cNvPr id="4" name="step Guest"/>
          <p:cNvSpPr/>
          <p:nvPr/>
        </p:nvSpPr>
        <p:spPr>
          <a:xfrm>
            <a:off x="548640" y="4114800"/>
            <a:ext cx="1097280" cy="822960"/>
          </a:xfrm>
          <a:prstGeom prst="rect">
            <a:avLst/>
          </a:prstGeom>
          <a:solidFill>
            <a:srgbClr val="9E9E9E"/>
          </a:solidFill>
          <a:ln w="12700">
            <a:solidFill>
              <a:srgbClr val="FFFFFF"/>
            </a:solidFill>
            <a:prstDash val="solid"/>
          </a:ln>
        </p:spPr>
      </p:sp>
      <p:sp>
        <p:nvSpPr>
          <p:cNvPr id="5" name="Text 3"/>
          <p:cNvSpPr txBox="1"/>
          <p:nvPr/>
        </p:nvSpPr>
        <p:spPr>
          <a:xfrm>
            <a:off x="548640" y="420624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0</a:t>
            </a:r>
            <a:endParaRPr lang="en-US" sz="2200" dirty="0"/>
          </a:p>
        </p:txBody>
      </p:sp>
      <p:sp>
        <p:nvSpPr>
          <p:cNvPr id="6" name="Text 4"/>
          <p:cNvSpPr txBox="1"/>
          <p:nvPr/>
        </p:nvSpPr>
        <p:spPr>
          <a:xfrm>
            <a:off x="50292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Guest</a:t>
            </a:r>
            <a:endParaRPr lang="en-US" sz="1200" dirty="0"/>
          </a:p>
        </p:txBody>
      </p:sp>
      <p:sp>
        <p:nvSpPr>
          <p:cNvPr id="7" name="Text 5"/>
          <p:cNvSpPr txBox="1"/>
          <p:nvPr/>
        </p:nvSpPr>
        <p:spPr>
          <a:xfrm>
            <a:off x="53035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View only</a:t>
            </a:r>
            <a:endParaRPr lang="en-US" sz="1000" dirty="0"/>
          </a:p>
        </p:txBody>
      </p:sp>
      <p:sp>
        <p:nvSpPr>
          <p:cNvPr id="8" name="step Operator"/>
          <p:cNvSpPr/>
          <p:nvPr/>
        </p:nvSpPr>
        <p:spPr>
          <a:xfrm>
            <a:off x="1737360" y="3566160"/>
            <a:ext cx="1097280" cy="1371600"/>
          </a:xfrm>
          <a:prstGeom prst="rect">
            <a:avLst/>
          </a:prstGeom>
          <a:solidFill>
            <a:srgbClr val="7F7F7F"/>
          </a:solidFill>
          <a:ln w="12700">
            <a:solidFill>
              <a:srgbClr val="FFFFFF"/>
            </a:solidFill>
            <a:prstDash val="solid"/>
          </a:ln>
        </p:spPr>
      </p:sp>
      <p:sp>
        <p:nvSpPr>
          <p:cNvPr id="9" name="Text 7"/>
          <p:cNvSpPr txBox="1"/>
          <p:nvPr/>
        </p:nvSpPr>
        <p:spPr>
          <a:xfrm>
            <a:off x="1737360" y="365760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1</a:t>
            </a:r>
            <a:endParaRPr lang="en-US" sz="2200" dirty="0"/>
          </a:p>
        </p:txBody>
      </p:sp>
      <p:sp>
        <p:nvSpPr>
          <p:cNvPr id="10" name="Text 8"/>
          <p:cNvSpPr txBox="1"/>
          <p:nvPr/>
        </p:nvSpPr>
        <p:spPr>
          <a:xfrm>
            <a:off x="169164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Operator</a:t>
            </a:r>
            <a:endParaRPr lang="en-US" sz="1200" dirty="0"/>
          </a:p>
        </p:txBody>
      </p:sp>
      <p:sp>
        <p:nvSpPr>
          <p:cNvPr id="11" name="Text 9"/>
          <p:cNvSpPr txBox="1"/>
          <p:nvPr/>
        </p:nvSpPr>
        <p:spPr>
          <a:xfrm>
            <a:off x="171907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Commands, mode AUTO/MAN, setpoints, ACK</a:t>
            </a:r>
            <a:endParaRPr lang="en-US" sz="1000" dirty="0"/>
          </a:p>
        </p:txBody>
      </p:sp>
      <p:sp>
        <p:nvSpPr>
          <p:cNvPr id="12" name="step Maintenance"/>
          <p:cNvSpPr/>
          <p:nvPr/>
        </p:nvSpPr>
        <p:spPr>
          <a:xfrm>
            <a:off x="2926080" y="3017520"/>
            <a:ext cx="1097280" cy="1920240"/>
          </a:xfrm>
          <a:prstGeom prst="rect">
            <a:avLst/>
          </a:prstGeom>
          <a:solidFill>
            <a:srgbClr val="7F7F7F"/>
          </a:solidFill>
          <a:ln w="12700">
            <a:solidFill>
              <a:srgbClr val="FFFFFF"/>
            </a:solidFill>
            <a:prstDash val="solid"/>
          </a:ln>
        </p:spPr>
      </p:sp>
      <p:sp>
        <p:nvSpPr>
          <p:cNvPr id="13" name="Text 11"/>
          <p:cNvSpPr txBox="1"/>
          <p:nvPr/>
        </p:nvSpPr>
        <p:spPr>
          <a:xfrm>
            <a:off x="2926080" y="310896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2</a:t>
            </a:r>
            <a:endParaRPr lang="en-US" sz="2200" dirty="0"/>
          </a:p>
        </p:txBody>
      </p:sp>
      <p:sp>
        <p:nvSpPr>
          <p:cNvPr id="14" name="Text 12"/>
          <p:cNvSpPr txBox="1"/>
          <p:nvPr/>
        </p:nvSpPr>
        <p:spPr>
          <a:xfrm>
            <a:off x="288036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Maintenance</a:t>
            </a:r>
            <a:endParaRPr lang="en-US" sz="1200" dirty="0"/>
          </a:p>
        </p:txBody>
      </p:sp>
      <p:sp>
        <p:nvSpPr>
          <p:cNvPr id="15" name="Text 13"/>
          <p:cNvSpPr txBox="1"/>
          <p:nvPr/>
        </p:nvSpPr>
        <p:spPr>
          <a:xfrm>
            <a:off x="290779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MAINT / OOS, JOG, simulate, maint reset</a:t>
            </a:r>
            <a:endParaRPr lang="en-US" sz="1000" dirty="0"/>
          </a:p>
        </p:txBody>
      </p:sp>
      <p:sp>
        <p:nvSpPr>
          <p:cNvPr id="16" name="step Supervisor"/>
          <p:cNvSpPr/>
          <p:nvPr/>
        </p:nvSpPr>
        <p:spPr>
          <a:xfrm>
            <a:off x="4114800" y="2468880"/>
            <a:ext cx="1097280" cy="2468880"/>
          </a:xfrm>
          <a:prstGeom prst="rect">
            <a:avLst/>
          </a:prstGeom>
          <a:solidFill>
            <a:srgbClr val="3A3A3A"/>
          </a:solidFill>
          <a:ln w="12700">
            <a:solidFill>
              <a:srgbClr val="FFFFFF"/>
            </a:solidFill>
            <a:prstDash val="solid"/>
          </a:ln>
        </p:spPr>
      </p:sp>
      <p:sp>
        <p:nvSpPr>
          <p:cNvPr id="17" name="Text 15"/>
          <p:cNvSpPr txBox="1"/>
          <p:nvPr/>
        </p:nvSpPr>
        <p:spPr>
          <a:xfrm>
            <a:off x="4114800" y="256032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3</a:t>
            </a:r>
            <a:endParaRPr lang="en-US" sz="2200" dirty="0"/>
          </a:p>
        </p:txBody>
      </p:sp>
      <p:sp>
        <p:nvSpPr>
          <p:cNvPr id="18" name="Text 16"/>
          <p:cNvSpPr txBox="1"/>
          <p:nvPr/>
        </p:nvSpPr>
        <p:spPr>
          <a:xfrm>
            <a:off x="406908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Supervisor</a:t>
            </a:r>
            <a:endParaRPr lang="en-US" sz="1200" dirty="0"/>
          </a:p>
        </p:txBody>
      </p:sp>
      <p:sp>
        <p:nvSpPr>
          <p:cNvPr id="19" name="Text 17"/>
          <p:cNvSpPr txBox="1"/>
          <p:nvPr/>
        </p:nvSpPr>
        <p:spPr>
          <a:xfrm>
            <a:off x="409651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Bypass with reason, alarm shelving</a:t>
            </a:r>
            <a:endParaRPr lang="en-US" sz="1000" dirty="0"/>
          </a:p>
        </p:txBody>
      </p:sp>
      <p:sp>
        <p:nvSpPr>
          <p:cNvPr id="20" name="step Engineer"/>
          <p:cNvSpPr/>
          <p:nvPr/>
        </p:nvSpPr>
        <p:spPr>
          <a:xfrm>
            <a:off x="5303520" y="1920240"/>
            <a:ext cx="1097280" cy="3017520"/>
          </a:xfrm>
          <a:prstGeom prst="rect">
            <a:avLst/>
          </a:prstGeom>
          <a:solidFill>
            <a:srgbClr val="3A3A3A"/>
          </a:solidFill>
          <a:ln w="12700">
            <a:solidFill>
              <a:srgbClr val="FFFFFF"/>
            </a:solidFill>
            <a:prstDash val="solid"/>
          </a:ln>
        </p:spPr>
      </p:sp>
      <p:sp>
        <p:nvSpPr>
          <p:cNvPr id="21" name="Text 19"/>
          <p:cNvSpPr txBox="1"/>
          <p:nvPr/>
        </p:nvSpPr>
        <p:spPr>
          <a:xfrm>
            <a:off x="5303520" y="201168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4</a:t>
            </a:r>
            <a:endParaRPr lang="en-US" sz="2200" dirty="0"/>
          </a:p>
        </p:txBody>
      </p:sp>
      <p:sp>
        <p:nvSpPr>
          <p:cNvPr id="22" name="Text 20"/>
          <p:cNvSpPr txBox="1"/>
          <p:nvPr/>
        </p:nvSpPr>
        <p:spPr>
          <a:xfrm>
            <a:off x="525780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Engineer</a:t>
            </a:r>
            <a:endParaRPr lang="en-US" sz="1200" dirty="0"/>
          </a:p>
        </p:txBody>
      </p:sp>
      <p:sp>
        <p:nvSpPr>
          <p:cNvPr id="23" name="Text 21"/>
          <p:cNvSpPr txBox="1"/>
          <p:nvPr/>
        </p:nvSpPr>
        <p:spPr>
          <a:xfrm>
            <a:off x="528523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Alarm limits, configuration, tuning</a:t>
            </a:r>
            <a:endParaRPr lang="en-US" sz="1000" dirty="0"/>
          </a:p>
        </p:txBody>
      </p:sp>
      <p:sp>
        <p:nvSpPr>
          <p:cNvPr id="24" name="step Admin"/>
          <p:cNvSpPr/>
          <p:nvPr/>
        </p:nvSpPr>
        <p:spPr>
          <a:xfrm>
            <a:off x="6492240" y="1371600"/>
            <a:ext cx="1097280" cy="3566160"/>
          </a:xfrm>
          <a:prstGeom prst="rect">
            <a:avLst/>
          </a:prstGeom>
          <a:solidFill>
            <a:srgbClr val="3A3A3A"/>
          </a:solidFill>
          <a:ln w="12700">
            <a:solidFill>
              <a:srgbClr val="FFFFFF"/>
            </a:solidFill>
            <a:prstDash val="solid"/>
          </a:ln>
        </p:spPr>
      </p:sp>
      <p:sp>
        <p:nvSpPr>
          <p:cNvPr id="25" name="Text 23"/>
          <p:cNvSpPr txBox="1"/>
          <p:nvPr/>
        </p:nvSpPr>
        <p:spPr>
          <a:xfrm>
            <a:off x="6492240" y="1463040"/>
            <a:ext cx="1097280" cy="411480"/>
          </a:xfrm>
          <a:prstGeom prst="rect">
            <a:avLst/>
          </a:prstGeom>
          <a:noFill/>
          <a:ln/>
        </p:spPr>
        <p:txBody>
          <a:bodyPr wrap="square" lIns="0" tIns="0" rIns="0" bIns="0" rtlCol="0" anchor="t"/>
          <a:lstStyle/>
          <a:p>
            <a:pPr algn="ctr" indent="0" marL="0">
              <a:buNone/>
            </a:pPr>
            <a:r>
              <a:rPr lang="en-US" sz="2200" b="1" dirty="0">
                <a:solidFill>
                  <a:srgbClr val="FFFFFF"/>
                </a:solidFill>
              </a:rPr>
              <a:t>5</a:t>
            </a:r>
            <a:endParaRPr lang="en-US" sz="2200" dirty="0"/>
          </a:p>
        </p:txBody>
      </p:sp>
      <p:sp>
        <p:nvSpPr>
          <p:cNvPr id="26" name="Text 24"/>
          <p:cNvSpPr txBox="1"/>
          <p:nvPr/>
        </p:nvSpPr>
        <p:spPr>
          <a:xfrm>
            <a:off x="6446520" y="5029200"/>
            <a:ext cx="1188720" cy="320040"/>
          </a:xfrm>
          <a:prstGeom prst="rect">
            <a:avLst/>
          </a:prstGeom>
          <a:noFill/>
          <a:ln/>
        </p:spPr>
        <p:txBody>
          <a:bodyPr wrap="square" lIns="0" tIns="0" rIns="0" bIns="0" rtlCol="0" anchor="t"/>
          <a:lstStyle/>
          <a:p>
            <a:pPr algn="ctr" indent="0" marL="0">
              <a:buNone/>
            </a:pPr>
            <a:r>
              <a:rPr lang="en-US" sz="1200" b="1" dirty="0">
                <a:solidFill>
                  <a:schemeClr val="tx1"/>
                </a:solidFill>
              </a:rPr>
              <a:t>Admin</a:t>
            </a:r>
            <a:endParaRPr lang="en-US" sz="1200" dirty="0"/>
          </a:p>
        </p:txBody>
      </p:sp>
      <p:sp>
        <p:nvSpPr>
          <p:cNvPr id="27" name="Text 25"/>
          <p:cNvSpPr txBox="1"/>
          <p:nvPr/>
        </p:nvSpPr>
        <p:spPr>
          <a:xfrm>
            <a:off x="6473952" y="5349240"/>
            <a:ext cx="1133856" cy="777240"/>
          </a:xfrm>
          <a:prstGeom prst="rect">
            <a:avLst/>
          </a:prstGeom>
          <a:noFill/>
          <a:ln/>
        </p:spPr>
        <p:txBody>
          <a:bodyPr wrap="square" lIns="0" tIns="0" rIns="0" bIns="0" rtlCol="0" anchor="t"/>
          <a:lstStyle/>
          <a:p>
            <a:pPr algn="ctr" indent="0" marL="0">
              <a:buNone/>
            </a:pPr>
            <a:r>
              <a:rPr lang="en-US" sz="1000" dirty="0">
                <a:solidFill>
                  <a:srgbClr val="4D4D4D"/>
                </a:solidFill>
              </a:rPr>
              <a:t>Everything</a:t>
            </a:r>
            <a:endParaRPr lang="en-US" sz="1000" dirty="0"/>
          </a:p>
        </p:txBody>
      </p:sp>
      <p:sp>
        <p:nvSpPr>
          <p:cNvPr id="28" name="role rules"/>
          <p:cNvSpPr/>
          <p:nvPr/>
        </p:nvSpPr>
        <p:spPr>
          <a:xfrm>
            <a:off x="7955280" y="1463040"/>
            <a:ext cx="3657600" cy="4572000"/>
          </a:xfrm>
          <a:prstGeom prst="rect">
            <a:avLst/>
          </a:prstGeom>
          <a:solidFill>
            <a:srgbClr val="FFFFFF"/>
          </a:solidFill>
          <a:ln w="9525">
            <a:solidFill>
              <a:srgbClr val="A6A6A6"/>
            </a:solidFill>
            <a:prstDash val="solid"/>
          </a:ln>
        </p:spPr>
      </p:sp>
      <p:sp>
        <p:nvSpPr>
          <p:cNvPr id="29" name="Text 27"/>
          <p:cNvSpPr txBox="1"/>
          <p:nvPr/>
        </p:nvSpPr>
        <p:spPr>
          <a:xfrm>
            <a:off x="8183880" y="1600200"/>
            <a:ext cx="3291840" cy="365760"/>
          </a:xfrm>
          <a:prstGeom prst="rect">
            <a:avLst/>
          </a:prstGeom>
          <a:noFill/>
          <a:ln/>
        </p:spPr>
        <p:txBody>
          <a:bodyPr wrap="square" lIns="0" tIns="0" rIns="0" bIns="0" rtlCol="0" anchor="t"/>
          <a:lstStyle/>
          <a:p>
            <a:pPr indent="0" marL="0">
              <a:buNone/>
            </a:pPr>
            <a:r>
              <a:rPr lang="en-US" sz="1600" b="1" dirty="0">
                <a:solidFill>
                  <a:schemeClr val="tx1"/>
                </a:solidFill>
              </a:rPr>
              <a:t>How it works</a:t>
            </a:r>
            <a:endParaRPr lang="en-US" sz="1600" dirty="0"/>
          </a:p>
        </p:txBody>
      </p:sp>
      <p:sp>
        <p:nvSpPr>
          <p:cNvPr id="30" name="Text 28"/>
          <p:cNvSpPr txBox="1"/>
          <p:nvPr/>
        </p:nvSpPr>
        <p:spPr>
          <a:xfrm>
            <a:off x="8183880" y="2057400"/>
            <a:ext cx="3291840" cy="3840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Level = highest role the user holds, read from session roles at login</a:t>
            </a:r>
            <a:endParaRPr lang="en-US" sz="1400" dirty="0"/>
          </a:p>
          <a:p>
            <a:pPr marL="177800" indent="-177800">
              <a:spcAft>
                <a:spcPts val="600"/>
              </a:spcAft>
              <a:buSzPct val="100000"/>
              <a:buChar char="•"/>
            </a:pPr>
            <a:r>
              <a:rPr lang="en-US" sz="1400" dirty="0">
                <a:solidFill>
                  <a:schemeClr val="tx1"/>
                </a:solidFill>
              </a:rPr>
              <a:t>Controls above your level are hidden, so operators only see what they can use</a:t>
            </a:r>
            <a:endParaRPr lang="en-US" sz="1400" dirty="0"/>
          </a:p>
          <a:p>
            <a:pPr marL="177800" indent="-177800">
              <a:spcAft>
                <a:spcPts val="600"/>
              </a:spcAft>
              <a:buSzPct val="100000"/>
              <a:buChar char="•"/>
            </a:pPr>
            <a:r>
              <a:rPr lang="en-US" sz="1400" dirty="0">
                <a:solidFill>
                  <a:schemeClr val="tx1"/>
                </a:solidFill>
              </a:rPr>
              <a:t>Every write goes through efc.ui.cmd, which re-checks the level on the gateway</a:t>
            </a:r>
            <a:endParaRPr lang="en-US" sz="1400" dirty="0"/>
          </a:p>
          <a:p>
            <a:pPr marL="177800" indent="-177800">
              <a:spcAft>
                <a:spcPts val="600"/>
              </a:spcAft>
              <a:buSzPct val="100000"/>
              <a:buChar char="•"/>
            </a:pPr>
            <a:r>
              <a:rPr lang="en-US" sz="1400" dirty="0">
                <a:solidFill>
                  <a:schemeClr val="tx1"/>
                </a:solidFill>
              </a:rPr>
              <a:t>MAINT and above: audited writes (old -&gt; new, user, time)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Permissives, interlocks and bypass</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sp>
        <p:nvSpPr>
          <p:cNvPr id="4" name="Text 2"/>
          <p:cNvSpPr txBox="1"/>
          <p:nvPr/>
        </p:nvSpPr>
        <p:spPr>
          <a:xfrm>
            <a:off x="548640" y="1463040"/>
            <a:ext cx="6035040" cy="3291840"/>
          </a:xfrm>
          <a:prstGeom prst="rect">
            <a:avLst/>
          </a:prstGeom>
          <a:noFill/>
          <a:ln/>
        </p:spPr>
        <p:txBody>
          <a:bodyPr wrap="square" lIns="0" tIns="0" rIns="0" bIns="0" rtlCol="0" anchor="t"/>
          <a:lstStyle/>
          <a:p>
            <a:pPr marL="177800" indent="-177800">
              <a:spcAft>
                <a:spcPts val="600"/>
              </a:spcAft>
              <a:buSzPct val="100000"/>
              <a:buChar char="•"/>
            </a:pPr>
            <a:r>
              <a:rPr lang="en-US" sz="1500" b="1" dirty="0">
                <a:solidFill>
                  <a:schemeClr val="tx1"/>
                </a:solidFill>
              </a:rPr>
              <a:t>Named groups in the PLC type: </a:t>
            </a:r>
            <a:pPr indent="0" marL="0">
              <a:buNone/>
            </a:pPr>
            <a:r>
              <a:rPr lang="en-US" sz="1500" dirty="0">
                <a:solidFill>
                  <a:schemeClr val="tx1"/>
                </a:solidFill>
              </a:rPr>
              <a:t>Perm and Intlk (T_Intlk) inside T_DValve, T_Motor, T_VFD, T_Heater; Prot in equipment modules. ANDed with the existing Inp_PermOK / Inp_IntlkOK</a:t>
            </a:r>
            <a:endParaRPr lang="en-US" sz="1500" dirty="0"/>
          </a:p>
          <a:p>
            <a:pPr marL="177800" indent="-177800">
              <a:spcAft>
                <a:spcPts val="600"/>
              </a:spcAft>
              <a:buSzPct val="100000"/>
              <a:buChar char="•"/>
            </a:pPr>
            <a:r>
              <a:rPr lang="en-US" sz="1500" b="1" dirty="0">
                <a:solidFill>
                  <a:schemeClr val="tx1"/>
                </a:solidFill>
              </a:rPr>
              <a:t>Up to 16 conditions per group, </a:t>
            </a:r>
            <a:pPr indent="0" marL="0">
              <a:buNone/>
            </a:pPr>
            <a:r>
              <a:rPr lang="en-US" sz="1500" dirty="0">
                <a:solidFill>
                  <a:schemeClr val="tx1"/>
                </a:solidFill>
              </a:rPr>
              <a:t>each with first-out, latched state and its own bypass time left (Sts_BypLeft)</a:t>
            </a:r>
            <a:endParaRPr lang="en-US" sz="1500" dirty="0"/>
          </a:p>
          <a:p>
            <a:pPr marL="177800" indent="-177800">
              <a:spcAft>
                <a:spcPts val="600"/>
              </a:spcAft>
              <a:buSzPct val="100000"/>
              <a:buChar char="•"/>
            </a:pPr>
            <a:r>
              <a:rPr lang="en-US" sz="1500" b="1" dirty="0">
                <a:solidFill>
                  <a:schemeClr val="tx1"/>
                </a:solidFill>
              </a:rPr>
              <a:t>BYPASS (Supervisor+): </a:t>
            </a:r>
            <a:pPr indent="0" marL="0">
              <a:buNone/>
            </a:pPr>
            <a:r>
              <a:rPr lang="en-US" sz="1500" dirty="0">
                <a:solidFill>
                  <a:schemeClr val="tx1"/>
                </a:solidFill>
              </a:rPr>
              <a:t>reason required, written to the audit log, times out at Cfg_BypassMax. Duration presets and the Inp_BypassPerm check are approved (decision 10) but not built yet</a:t>
            </a:r>
            <a:endParaRPr lang="en-US" sz="1500" dirty="0"/>
          </a:p>
          <a:p>
            <a:pPr marL="177800" indent="-177800">
              <a:spcAft>
                <a:spcPts val="600"/>
              </a:spcAft>
              <a:buSzPct val="100000"/>
              <a:buChar char="•"/>
            </a:pPr>
            <a:r>
              <a:rPr lang="en-US" sz="1500" b="1" dirty="0">
                <a:solidFill>
                  <a:schemeClr val="tx1"/>
                </a:solidFill>
              </a:rPr>
              <a:t>Each bypassed condition shows its own time left</a:t>
            </a:r>
            <a:endParaRPr lang="en-US" sz="1500" dirty="0"/>
          </a:p>
        </p:txBody>
      </p:sp>
      <p:pic>
        <p:nvPicPr>
          <p:cNvPr id="5" name="img Docks_Parts_BypassConfirm.png" descr="BypassConfirm dialog with duration presets and required reason">    </p:cNvPr>
          <p:cNvPicPr>
            <a:picLocks noChangeAspect="1"/>
          </p:cNvPicPr>
          <p:nvPr/>
        </p:nvPicPr>
        <p:blipFill>
          <a:blip r:embed="rId1"/>
          <a:stretch>
            <a:fillRect/>
          </a:stretch>
        </p:blipFill>
        <p:spPr>
          <a:xfrm>
            <a:off x="6949440" y="1463040"/>
            <a:ext cx="4663440" cy="2833040"/>
          </a:xfrm>
          <a:prstGeom prst="rect">
            <a:avLst/>
          </a:prstGeom>
        </p:spPr>
      </p:pic>
      <p:sp>
        <p:nvSpPr>
          <p:cNvPr id="6" name="Text 3"/>
          <p:cNvSpPr txBox="1"/>
          <p:nvPr/>
        </p:nvSpPr>
        <p:spPr>
          <a:xfrm>
            <a:off x="6949440" y="4389120"/>
            <a:ext cx="4663440" cy="274320"/>
          </a:xfrm>
          <a:prstGeom prst="rect">
            <a:avLst/>
          </a:prstGeom>
          <a:noFill/>
          <a:ln/>
        </p:spPr>
        <p:txBody>
          <a:bodyPr wrap="square" lIns="0" tIns="0" rIns="0" bIns="0" rtlCol="0" anchor="t"/>
          <a:lstStyle/>
          <a:p>
            <a:pPr indent="0" marL="0">
              <a:buNone/>
            </a:pPr>
            <a:r>
              <a:rPr lang="en-US" sz="1100" i="1" dirty="0">
                <a:solidFill>
                  <a:srgbClr val="4D4D4D"/>
                </a:solidFill>
              </a:rPr>
              <a:t>Approved BypassConfirm mockup (decision 10)</a:t>
            </a:r>
            <a:endParaRPr lang="en-US" sz="1100" dirty="0"/>
          </a:p>
        </p:txBody>
      </p:sp>
      <p:sp>
        <p:nvSpPr>
          <p:cNvPr id="7" name="safety callout"/>
          <p:cNvSpPr/>
          <p:nvPr/>
        </p:nvSpPr>
        <p:spPr>
          <a:xfrm>
            <a:off x="548640" y="4846320"/>
            <a:ext cx="11064240" cy="1188720"/>
          </a:xfrm>
          <a:prstGeom prst="rect">
            <a:avLst/>
          </a:prstGeom>
          <a:solidFill>
            <a:srgbClr val="3A3A3A"/>
          </a:solidFill>
          <a:ln w="12700">
            <a:solidFill>
              <a:srgbClr val="3A3A3A"/>
            </a:solidFill>
            <a:prstDash val="solid"/>
          </a:ln>
        </p:spPr>
      </p:sp>
      <p:sp>
        <p:nvSpPr>
          <p:cNvPr id="8" name="chip SAFETY"/>
          <p:cNvSpPr txBox="1"/>
          <p:nvPr/>
        </p:nvSpPr>
        <p:spPr>
          <a:xfrm>
            <a:off x="777240" y="5074920"/>
            <a:ext cx="1097280" cy="365760"/>
          </a:xfrm>
          <a:prstGeom prst="rect">
            <a:avLst/>
          </a:prstGeom>
          <a:solidFill>
            <a:srgbClr val="D50000"/>
          </a:solidFill>
          <a:ln w="12700">
            <a:solidFill>
              <a:srgbClr val="D50000"/>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SAFETY</a:t>
            </a:r>
            <a:endParaRPr lang="en-US" sz="1100" dirty="0"/>
          </a:p>
        </p:txBody>
      </p:sp>
      <p:sp>
        <p:nvSpPr>
          <p:cNvPr id="9" name="Text 6"/>
          <p:cNvSpPr txBox="1"/>
          <p:nvPr/>
        </p:nvSpPr>
        <p:spPr>
          <a:xfrm>
            <a:off x="2103120" y="4956048"/>
            <a:ext cx="9326880" cy="960120"/>
          </a:xfrm>
          <a:prstGeom prst="rect">
            <a:avLst/>
          </a:prstGeom>
          <a:noFill/>
          <a:ln/>
        </p:spPr>
        <p:txBody>
          <a:bodyPr wrap="square" lIns="0" tIns="0" rIns="0" bIns="0" rtlCol="0" anchor="ctr"/>
          <a:lstStyle/>
          <a:p>
            <a:pPr indent="0" marL="0">
              <a:buNone/>
            </a:pPr>
            <a:r>
              <a:rPr lang="en-US" sz="1500" dirty="0">
                <a:solidFill>
                  <a:srgbClr val="FFFFFF"/>
                </a:solidFill>
              </a:rPr>
              <a:t>Safety signals (SIS, E-stops, safety interlocks) can never be bypassed or forced in software. Only process conditions engineering marked Cfg_Bypassable under MOC can be bypassed from the HMI (decision 29).</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One window per device family, same layout everywhere</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pic>
        <p:nvPicPr>
          <p:cNvPr id="4" name="img Docks_ValveAnalog.png" descr="dw_ValveAnalog dynamic window">    </p:cNvPr>
          <p:cNvPicPr>
            <a:picLocks noChangeAspect="1"/>
          </p:cNvPicPr>
          <p:nvPr/>
        </p:nvPicPr>
        <p:blipFill>
          <a:blip r:embed="rId1"/>
          <a:stretch>
            <a:fillRect/>
          </a:stretch>
        </p:blipFill>
        <p:spPr>
          <a:xfrm>
            <a:off x="548640" y="1371600"/>
            <a:ext cx="2103120" cy="4061650"/>
          </a:xfrm>
          <a:prstGeom prst="rect">
            <a:avLst/>
          </a:prstGeom>
        </p:spPr>
      </p:pic>
      <p:sp>
        <p:nvSpPr>
          <p:cNvPr id="5" name="Text 2"/>
          <p:cNvSpPr txBox="1"/>
          <p:nvPr/>
        </p:nvSpPr>
        <p:spPr>
          <a:xfrm>
            <a:off x="548640" y="5486400"/>
            <a:ext cx="2103120" cy="640080"/>
          </a:xfrm>
          <a:prstGeom prst="rect">
            <a:avLst/>
          </a:prstGeom>
          <a:noFill/>
          <a:ln/>
        </p:spPr>
        <p:txBody>
          <a:bodyPr wrap="square" lIns="0" tIns="0" rIns="0" bIns="0" rtlCol="0" anchor="t"/>
          <a:lstStyle/>
          <a:p>
            <a:pPr indent="0" marL="0">
              <a:buNone/>
            </a:pPr>
            <a:r>
              <a:rPr lang="en-US" sz="1300" b="1" dirty="0">
                <a:solidFill>
                  <a:schemeClr val="tx1"/>
                </a:solidFill>
              </a:rPr>
              <a:t>dw_ValveAnalog</a:t>
            </a:r>
            <a:endParaRPr lang="en-US" sz="1300" dirty="0"/>
          </a:p>
          <a:p>
            <a:pPr indent="0" marL="0">
              <a:buNone/>
            </a:pPr>
            <a:r>
              <a:rPr lang="en-US" sz="1200" dirty="0">
                <a:solidFill>
                  <a:srgbClr val="4D4D4D"/>
                </a:solidFill>
              </a:rPr>
              <a:t>Presets 0/25/50/75/100 %</a:t>
            </a:r>
            <a:endParaRPr lang="en-US" sz="1300" dirty="0"/>
          </a:p>
        </p:txBody>
      </p:sp>
      <p:pic>
        <p:nvPicPr>
          <p:cNvPr id="6" name="img Docks_VFD.png" descr="dw_VFD dynamic window">    </p:cNvPr>
          <p:cNvPicPr>
            <a:picLocks noChangeAspect="1"/>
          </p:cNvPicPr>
          <p:nvPr/>
        </p:nvPicPr>
        <p:blipFill>
          <a:blip r:embed="rId2"/>
          <a:stretch>
            <a:fillRect/>
          </a:stretch>
        </p:blipFill>
        <p:spPr>
          <a:xfrm>
            <a:off x="2788920" y="1371600"/>
            <a:ext cx="2103120" cy="4061650"/>
          </a:xfrm>
          <a:prstGeom prst="rect">
            <a:avLst/>
          </a:prstGeom>
        </p:spPr>
      </p:pic>
      <p:sp>
        <p:nvSpPr>
          <p:cNvPr id="7" name="Text 3"/>
          <p:cNvSpPr txBox="1"/>
          <p:nvPr/>
        </p:nvSpPr>
        <p:spPr>
          <a:xfrm>
            <a:off x="2788920" y="5486400"/>
            <a:ext cx="2103120" cy="640080"/>
          </a:xfrm>
          <a:prstGeom prst="rect">
            <a:avLst/>
          </a:prstGeom>
          <a:noFill/>
          <a:ln/>
        </p:spPr>
        <p:txBody>
          <a:bodyPr wrap="square" lIns="0" tIns="0" rIns="0" bIns="0" rtlCol="0" anchor="t"/>
          <a:lstStyle/>
          <a:p>
            <a:pPr indent="0" marL="0">
              <a:buNone/>
            </a:pPr>
            <a:r>
              <a:rPr lang="en-US" sz="1300" b="1" dirty="0">
                <a:solidFill>
                  <a:schemeClr val="tx1"/>
                </a:solidFill>
              </a:rPr>
              <a:t>dw_VFD</a:t>
            </a:r>
            <a:endParaRPr lang="en-US" sz="1300" dirty="0"/>
          </a:p>
          <a:p>
            <a:pPr indent="0" marL="0">
              <a:buNone/>
            </a:pPr>
            <a:r>
              <a:rPr lang="en-US" sz="1200" dirty="0">
                <a:solidFill>
                  <a:srgbClr val="4D4D4D"/>
                </a:solidFill>
              </a:rPr>
              <a:t>Speed, FWD/REV, load</a:t>
            </a:r>
            <a:endParaRPr lang="en-US" sz="1300" dirty="0"/>
          </a:p>
        </p:txBody>
      </p:sp>
      <p:pic>
        <p:nvPicPr>
          <p:cNvPr id="8" name="img Docks_Loop.png" descr="dw_Loop dynamic window">    </p:cNvPr>
          <p:cNvPicPr>
            <a:picLocks noChangeAspect="1"/>
          </p:cNvPicPr>
          <p:nvPr/>
        </p:nvPicPr>
        <p:blipFill>
          <a:blip r:embed="rId3"/>
          <a:stretch>
            <a:fillRect/>
          </a:stretch>
        </p:blipFill>
        <p:spPr>
          <a:xfrm>
            <a:off x="5029200" y="1371600"/>
            <a:ext cx="2103120" cy="4061650"/>
          </a:xfrm>
          <a:prstGeom prst="rect">
            <a:avLst/>
          </a:prstGeom>
        </p:spPr>
      </p:pic>
      <p:sp>
        <p:nvSpPr>
          <p:cNvPr id="9" name="Text 4"/>
          <p:cNvSpPr txBox="1"/>
          <p:nvPr/>
        </p:nvSpPr>
        <p:spPr>
          <a:xfrm>
            <a:off x="5029200" y="5486400"/>
            <a:ext cx="2103120" cy="640080"/>
          </a:xfrm>
          <a:prstGeom prst="rect">
            <a:avLst/>
          </a:prstGeom>
          <a:noFill/>
          <a:ln/>
        </p:spPr>
        <p:txBody>
          <a:bodyPr wrap="square" lIns="0" tIns="0" rIns="0" bIns="0" rtlCol="0" anchor="t"/>
          <a:lstStyle/>
          <a:p>
            <a:pPr indent="0" marL="0">
              <a:buNone/>
            </a:pPr>
            <a:r>
              <a:rPr lang="en-US" sz="1300" b="1" dirty="0">
                <a:solidFill>
                  <a:schemeClr val="tx1"/>
                </a:solidFill>
              </a:rPr>
              <a:t>dw_Loop</a:t>
            </a:r>
            <a:endParaRPr lang="en-US" sz="1300" dirty="0"/>
          </a:p>
          <a:p>
            <a:pPr indent="0" marL="0">
              <a:buNone/>
            </a:pPr>
            <a:r>
              <a:rPr lang="en-US" sz="1200" dirty="0">
                <a:solidFill>
                  <a:srgbClr val="4D4D4D"/>
                </a:solidFill>
              </a:rPr>
              <a:t>PV / SP / CV, MAN AUTO CAS</a:t>
            </a:r>
            <a:endParaRPr lang="en-US" sz="1300" dirty="0"/>
          </a:p>
        </p:txBody>
      </p:sp>
      <p:pic>
        <p:nvPicPr>
          <p:cNvPr id="10" name="img Docks_ProcessValue.png" descr="dw_ProcessValue dynamic window">    </p:cNvPr>
          <p:cNvPicPr>
            <a:picLocks noChangeAspect="1"/>
          </p:cNvPicPr>
          <p:nvPr/>
        </p:nvPicPr>
        <p:blipFill>
          <a:blip r:embed="rId4"/>
          <a:stretch>
            <a:fillRect/>
          </a:stretch>
        </p:blipFill>
        <p:spPr>
          <a:xfrm>
            <a:off x="7269480" y="1371600"/>
            <a:ext cx="2103120" cy="4061650"/>
          </a:xfrm>
          <a:prstGeom prst="rect">
            <a:avLst/>
          </a:prstGeom>
        </p:spPr>
      </p:pic>
      <p:sp>
        <p:nvSpPr>
          <p:cNvPr id="11" name="Text 5"/>
          <p:cNvSpPr txBox="1"/>
          <p:nvPr/>
        </p:nvSpPr>
        <p:spPr>
          <a:xfrm>
            <a:off x="7269480" y="5486400"/>
            <a:ext cx="2103120" cy="640080"/>
          </a:xfrm>
          <a:prstGeom prst="rect">
            <a:avLst/>
          </a:prstGeom>
          <a:noFill/>
          <a:ln/>
        </p:spPr>
        <p:txBody>
          <a:bodyPr wrap="square" lIns="0" tIns="0" rIns="0" bIns="0" rtlCol="0" anchor="t"/>
          <a:lstStyle/>
          <a:p>
            <a:pPr indent="0" marL="0">
              <a:buNone/>
            </a:pPr>
            <a:r>
              <a:rPr lang="en-US" sz="1300" b="1" dirty="0">
                <a:solidFill>
                  <a:schemeClr val="tx1"/>
                </a:solidFill>
              </a:rPr>
              <a:t>dw_ProcessValue</a:t>
            </a:r>
            <a:endParaRPr lang="en-US" sz="1300" dirty="0"/>
          </a:p>
          <a:p>
            <a:pPr indent="0" marL="0">
              <a:buNone/>
            </a:pPr>
            <a:r>
              <a:rPr lang="en-US" sz="1200" dirty="0">
                <a:solidFill>
                  <a:srgbClr val="4D4D4D"/>
                </a:solidFill>
              </a:rPr>
              <a:t>Range, alarm limits, simulate</a:t>
            </a:r>
            <a:endParaRPr lang="en-US" sz="1300" dirty="0"/>
          </a:p>
        </p:txBody>
      </p:sp>
      <p:pic>
        <p:nvPicPr>
          <p:cNvPr id="12" name="img Docks_IOCard.png" descr="dw_IOCard dynamic window">    </p:cNvPr>
          <p:cNvPicPr>
            <a:picLocks noChangeAspect="1"/>
          </p:cNvPicPr>
          <p:nvPr/>
        </p:nvPicPr>
        <p:blipFill>
          <a:blip r:embed="rId5"/>
          <a:stretch>
            <a:fillRect/>
          </a:stretch>
        </p:blipFill>
        <p:spPr>
          <a:xfrm>
            <a:off x="9509760" y="1371600"/>
            <a:ext cx="2103120" cy="4061650"/>
          </a:xfrm>
          <a:prstGeom prst="rect">
            <a:avLst/>
          </a:prstGeom>
        </p:spPr>
      </p:pic>
      <p:sp>
        <p:nvSpPr>
          <p:cNvPr id="13" name="Text 6"/>
          <p:cNvSpPr txBox="1"/>
          <p:nvPr/>
        </p:nvSpPr>
        <p:spPr>
          <a:xfrm>
            <a:off x="9509760" y="5486400"/>
            <a:ext cx="2103120" cy="640080"/>
          </a:xfrm>
          <a:prstGeom prst="rect">
            <a:avLst/>
          </a:prstGeom>
          <a:noFill/>
          <a:ln/>
        </p:spPr>
        <p:txBody>
          <a:bodyPr wrap="square" lIns="0" tIns="0" rIns="0" bIns="0" rtlCol="0" anchor="t"/>
          <a:lstStyle/>
          <a:p>
            <a:pPr indent="0" marL="0">
              <a:buNone/>
            </a:pPr>
            <a:r>
              <a:rPr lang="en-US" sz="1300" b="1" dirty="0">
                <a:solidFill>
                  <a:schemeClr val="tx1"/>
                </a:solidFill>
              </a:rPr>
              <a:t>dw_IOCard</a:t>
            </a:r>
            <a:endParaRPr lang="en-US" sz="1300" dirty="0"/>
          </a:p>
          <a:p>
            <a:pPr indent="0" marL="0">
              <a:buNone/>
            </a:pPr>
            <a:r>
              <a:rPr lang="en-US" sz="1200" dirty="0">
                <a:solidFill>
                  <a:srgbClr val="4D4D4D"/>
                </a:solidFill>
              </a:rPr>
              <a:t>x80 channels and health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History and the expanded trend</a:t>
            </a:r>
            <a:endParaRPr lang="en-US" sz="3200" dirty="0"/>
          </a:p>
        </p:txBody>
      </p:sp>
      <p:sp>
        <p:nvSpPr>
          <p:cNvPr id="3" name="section tag"/>
          <p:cNvSpPr txBox="1"/>
          <p:nvPr/>
        </p:nvSpPr>
        <p:spPr>
          <a:xfrm>
            <a:off x="548640" y="164592"/>
            <a:ext cx="192024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DYNAMIC WINDOWS</a:t>
            </a:r>
            <a:endParaRPr lang="en-US" sz="1000" dirty="0"/>
          </a:p>
        </p:txBody>
      </p:sp>
      <p:pic>
        <p:nvPicPr>
          <p:cNvPr id="4" name="img Docks_Parts_TrendExpanded.png" descr="Expanded trend inside the dynamic window">    </p:cNvPr>
          <p:cNvPicPr>
            <a:picLocks noChangeAspect="1"/>
          </p:cNvPicPr>
          <p:nvPr/>
        </p:nvPicPr>
        <p:blipFill>
          <a:blip r:embed="rId1"/>
          <a:stretch>
            <a:fillRect/>
          </a:stretch>
        </p:blipFill>
        <p:spPr>
          <a:xfrm>
            <a:off x="548640" y="1371600"/>
            <a:ext cx="2533095" cy="4892040"/>
          </a:xfrm>
          <a:prstGeom prst="rect">
            <a:avLst/>
          </a:prstGeom>
        </p:spPr>
      </p:pic>
      <p:sp>
        <p:nvSpPr>
          <p:cNvPr id="5" name="Text 2"/>
          <p:cNvSpPr txBox="1"/>
          <p:nvPr/>
        </p:nvSpPr>
        <p:spPr>
          <a:xfrm>
            <a:off x="3840480" y="1463040"/>
            <a:ext cx="7772400" cy="27432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Every window carries a short history trend, 30 min by default</a:t>
            </a:r>
            <a:endParaRPr lang="en-US" sz="1600" dirty="0"/>
          </a:p>
          <a:p>
            <a:pPr marL="177800" indent="-177800">
              <a:spcAft>
                <a:spcPts val="600"/>
              </a:spcAft>
              <a:buSzPct val="100000"/>
              <a:buChar char="•"/>
            </a:pPr>
            <a:r>
              <a:rPr lang="en-US" sz="1600" dirty="0">
                <a:solidFill>
                  <a:schemeClr val="tx1"/>
                </a:solidFill>
              </a:rPr>
              <a:t>The expand button fills the window below its header, about 400 x 760 at 1080p</a:t>
            </a:r>
            <a:endParaRPr lang="en-US" sz="1600" dirty="0"/>
          </a:p>
          <a:p>
            <a:pPr marL="177800" indent="-177800">
              <a:spcAft>
                <a:spcPts val="600"/>
              </a:spcAft>
              <a:buSzPct val="100000"/>
              <a:buChar char="•"/>
            </a:pPr>
            <a:r>
              <a:rPr lang="en-US" sz="1600" dirty="0">
                <a:solidFill>
                  <a:schemeClr val="tx1"/>
                </a:solidFill>
              </a:rPr>
              <a:t>Range buttons 5 m / 30 m / 1 h / 8 h / 24 h and collapse; pause / live and a last-events list are approved but not built yet</a:t>
            </a:r>
            <a:endParaRPr lang="en-US" sz="1600" dirty="0"/>
          </a:p>
          <a:p>
            <a:pPr marL="177800" indent="-177800">
              <a:spcAft>
                <a:spcPts val="600"/>
              </a:spcAft>
              <a:buSzPct val="100000"/>
              <a:buChar char="•"/>
            </a:pPr>
            <a:r>
              <a:rPr lang="en-US" sz="1600" dirty="0">
                <a:solidFill>
                  <a:schemeClr val="tx1"/>
                </a:solidFill>
              </a:rPr>
              <a:t>The other sections hide while expanded and come back on collapse</a:t>
            </a:r>
            <a:endParaRPr lang="en-US" sz="1600" dirty="0"/>
          </a:p>
          <a:p>
            <a:pPr marL="177800" indent="-177800">
              <a:spcAft>
                <a:spcPts val="600"/>
              </a:spcAft>
              <a:buSzPct val="100000"/>
              <a:buChar char="•"/>
            </a:pPr>
            <a:r>
              <a:rPr lang="en-US" sz="1600" dirty="0">
                <a:solidFill>
                  <a:schemeClr val="tx1"/>
                </a:solidFill>
              </a:rPr>
              <a:t>The region never widens, so the process area is never covered (decision 26)</a:t>
            </a:r>
            <a:endParaRPr lang="en-US" sz="1600" dirty="0"/>
          </a:p>
          <a:p>
            <a:pPr marL="177800" indent="-177800">
              <a:spcAft>
                <a:spcPts val="600"/>
              </a:spcAft>
              <a:buSzPct val="100000"/>
              <a:buChar char="•"/>
            </a:pPr>
            <a:r>
              <a:rPr lang="en-US" sz="1600" dirty="0">
                <a:solidFill>
                  <a:schemeClr val="tx1"/>
                </a:solidFill>
              </a:rPr>
              <a:t>Expand state is local to the window, not a session value</a:t>
            </a:r>
            <a:endParaRPr lang="en-US" sz="1600" dirty="0"/>
          </a:p>
        </p:txBody>
      </p:sp>
      <p:sp>
        <p:nvSpPr>
          <p:cNvPr id="6" name="history prereq"/>
          <p:cNvSpPr/>
          <p:nvPr/>
        </p:nvSpPr>
        <p:spPr>
          <a:xfrm>
            <a:off x="3840480" y="4343400"/>
            <a:ext cx="7772400" cy="868680"/>
          </a:xfrm>
          <a:prstGeom prst="rect">
            <a:avLst/>
          </a:prstGeom>
          <a:solidFill>
            <a:srgbClr val="F0F0F0"/>
          </a:solidFill>
          <a:ln w="9525">
            <a:solidFill>
              <a:srgbClr val="D0D0D0"/>
            </a:solidFill>
            <a:prstDash val="solid"/>
          </a:ln>
        </p:spPr>
      </p:sp>
      <p:sp>
        <p:nvSpPr>
          <p:cNvPr id="7" name="Text 4"/>
          <p:cNvSpPr txBox="1"/>
          <p:nvPr/>
        </p:nvSpPr>
        <p:spPr>
          <a:xfrm>
            <a:off x="4069080" y="4434840"/>
            <a:ext cx="7406640" cy="685800"/>
          </a:xfrm>
          <a:prstGeom prst="rect">
            <a:avLst/>
          </a:prstGeom>
          <a:noFill/>
          <a:ln/>
        </p:spPr>
        <p:txBody>
          <a:bodyPr wrap="square" lIns="0" tIns="0" rIns="0" bIns="0" rtlCol="0" anchor="ctr"/>
          <a:lstStyle/>
          <a:p>
            <a:pPr indent="0" marL="0">
              <a:buNone/>
            </a:pPr>
            <a:r>
              <a:rPr lang="en-US" sz="1400" dirty="0">
                <a:solidFill>
                  <a:schemeClr val="tx1"/>
                </a:solidFill>
              </a:rPr>
              <a:t>Requires tag history on the pens the window trends (PV, SP, CV, position, current).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PLC types behind the graphics (EFCLib v1 / PCLib)</a:t>
            </a:r>
            <a:endParaRPr lang="en-US" sz="3200" dirty="0"/>
          </a:p>
        </p:txBody>
      </p:sp>
      <p:sp>
        <p:nvSpPr>
          <p:cNvPr id="3" name="section tag"/>
          <p:cNvSpPr txBox="1"/>
          <p:nvPr/>
        </p:nvSpPr>
        <p:spPr>
          <a:xfrm>
            <a:off x="548640" y="164592"/>
            <a:ext cx="822960"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TYPES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914400"/>
        </p:xfrm>
        <a:graphic>
          <a:graphicData uri="http://schemas.openxmlformats.org/drawingml/2006/table">
            <a:tbl>
              <a:tblPr/>
              <a:tblGrid>
                <a:gridCol w="1280160"/>
                <a:gridCol w="2926080"/>
                <a:gridCol w="1828800"/>
              </a:tblGrid>
              <a:tr h="457200">
                <a:tc>
                  <a:txBody>
                    <a:bodyPr/>
                    <a:lstStyle/>
                    <a:p>
                      <a:pPr indent="0" marL="0">
                        <a:buNone/>
                      </a:pPr>
                      <a:r>
                        <a:rPr lang="en-US" sz="1300" b="1" dirty="0">
                          <a:solidFill>
                            <a:srgbClr val="FFFFFF"/>
                          </a:solidFill>
                        </a:rPr>
                        <a:t>Prefix</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300" b="1" dirty="0">
                          <a:solidFill>
                            <a:srgbClr val="FFFFFF"/>
                          </a:solidFill>
                        </a:rPr>
                        <a:t>Meaning</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300" b="1" dirty="0">
                          <a:solidFill>
                            <a:srgbClr val="FFFFFF"/>
                          </a:solidFill>
                        </a:rPr>
                        <a:t>HMI may write?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457200">
                <a:tc>
                  <a:txBody>
                    <a:bodyPr/>
                    <a:lstStyle/>
                    <a:p>
                      <a:pPr indent="0" marL="0">
                        <a:buNone/>
                      </a:pPr>
                      <a:r>
                        <a:rPr lang="en-US" sz="1300" b="1" dirty="0">
                          <a:solidFill>
                            <a:srgbClr val="1F1F1F"/>
                          </a:solidFill>
                        </a:rPr>
                        <a:t>Sts_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Status from the PLC</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No, never</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Inp_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Field / logic inputs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No</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Cmd_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Operator commands (one-shot)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Yes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Cfg_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Configuration (limits, tag, bypassable)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Yes, Engineer+</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Sim_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Simulation</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Yes, Maintenance+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Prm_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Recipe parameters (batch)</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No (batch server)</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Prog_</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Commands from the owning phase / EM</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No (PLC owner)</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bl>
          </a:graphicData>
        </a:graphic>
      </p:graphicFrame>
      <p:sp>
        <p:nvSpPr>
          <p:cNvPr id="5" name="types card"/>
          <p:cNvSpPr/>
          <p:nvPr/>
        </p:nvSpPr>
        <p:spPr>
          <a:xfrm>
            <a:off x="6949440" y="1463040"/>
            <a:ext cx="4663440" cy="4572000"/>
          </a:xfrm>
          <a:prstGeom prst="rect">
            <a:avLst/>
          </a:prstGeom>
          <a:solidFill>
            <a:srgbClr val="F0F0F0"/>
          </a:solidFill>
          <a:ln w="9525">
            <a:solidFill>
              <a:srgbClr val="D0D0D0"/>
            </a:solidFill>
            <a:prstDash val="solid"/>
          </a:ln>
        </p:spPr>
      </p:sp>
      <p:sp>
        <p:nvSpPr>
          <p:cNvPr id="6" name="Text 3"/>
          <p:cNvSpPr txBox="1"/>
          <p:nvPr/>
        </p:nvSpPr>
        <p:spPr>
          <a:xfrm>
            <a:off x="7178040" y="1600200"/>
            <a:ext cx="4297680" cy="365760"/>
          </a:xfrm>
          <a:prstGeom prst="rect">
            <a:avLst/>
          </a:prstGeom>
          <a:noFill/>
          <a:ln/>
        </p:spPr>
        <p:txBody>
          <a:bodyPr wrap="square" lIns="0" tIns="0" rIns="0" bIns="0" rtlCol="0" anchor="t"/>
          <a:lstStyle/>
          <a:p>
            <a:pPr indent="0" marL="0">
              <a:buNone/>
            </a:pPr>
            <a:r>
              <a:rPr lang="en-US" sz="1600" b="1" dirty="0">
                <a:solidFill>
                  <a:schemeClr val="tx1"/>
                </a:solidFill>
              </a:rPr>
              <a:t>What the types give the HMI</a:t>
            </a:r>
            <a:endParaRPr lang="en-US" sz="1600" dirty="0"/>
          </a:p>
        </p:txBody>
      </p:sp>
      <p:sp>
        <p:nvSpPr>
          <p:cNvPr id="7" name="Text 4"/>
          <p:cNvSpPr txBox="1"/>
          <p:nvPr/>
        </p:nvSpPr>
        <p:spPr>
          <a:xfrm>
            <a:off x="7178040" y="2057400"/>
            <a:ext cx="4297680" cy="3840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Modes and states as integers, so graphics need no color logic in the PLC</a:t>
            </a:r>
            <a:endParaRPr lang="en-US" sz="1400" dirty="0"/>
          </a:p>
          <a:p>
            <a:pPr marL="177800" indent="-177800">
              <a:spcAft>
                <a:spcPts val="600"/>
              </a:spcAft>
              <a:buSzPct val="100000"/>
              <a:buChar char="•"/>
            </a:pPr>
            <a:r>
              <a:rPr lang="en-US" sz="1400" dirty="0">
                <a:solidFill>
                  <a:schemeClr val="tx1"/>
                </a:solidFill>
              </a:rPr>
              <a:t>NE107 status on every field device</a:t>
            </a:r>
            <a:endParaRPr lang="en-US" sz="1400" dirty="0"/>
          </a:p>
          <a:p>
            <a:pPr marL="177800" indent="-177800">
              <a:spcAft>
                <a:spcPts val="600"/>
              </a:spcAft>
              <a:buSzPct val="100000"/>
              <a:buChar char="•"/>
            </a:pPr>
            <a:r>
              <a:rPr lang="en-US" sz="1400" dirty="0">
                <a:solidFill>
                  <a:schemeClr val="tx1"/>
                </a:solidFill>
              </a:rPr>
              <a:t>Alarms from T_Alarm: priority 1-4; ACK in Ignition writes Cmd_Ack, so the PLC stays authoritative</a:t>
            </a:r>
            <a:endParaRPr lang="en-US" sz="1400" dirty="0"/>
          </a:p>
          <a:p>
            <a:pPr marL="177800" indent="-177800">
              <a:spcAft>
                <a:spcPts val="600"/>
              </a:spcAft>
              <a:buSzPct val="100000"/>
              <a:buChar char="•"/>
            </a:pPr>
            <a:r>
              <a:rPr lang="en-US" sz="1400" dirty="0">
                <a:solidFill>
                  <a:schemeClr val="tx1"/>
                </a:solidFill>
              </a:rPr>
              <a:t>ISA-88 ownership through T_Mode (acquire / release)</a:t>
            </a:r>
            <a:endParaRPr lang="en-US" sz="1400" dirty="0"/>
          </a:p>
          <a:p>
            <a:pPr marL="177800" indent="-177800">
              <a:spcAft>
                <a:spcPts val="600"/>
              </a:spcAft>
              <a:buSzPct val="100000"/>
              <a:buChar char="•"/>
            </a:pPr>
            <a:r>
              <a:rPr lang="en-US" sz="1400" dirty="0">
                <a:solidFill>
                  <a:schemeClr val="tx1"/>
                </a:solidFill>
              </a:rPr>
              <a:t>I/O faceplates bind the native Modicon x80 DDTs; no extra type</a:t>
            </a:r>
            <a:endParaRPr lang="en-US" sz="1400" dirty="0"/>
          </a:p>
        </p:txBody>
      </p:sp>
      <p:sp>
        <p:nvSpPr>
          <p:cNvPr id="8" name="Text 5"/>
          <p:cNvSpPr txBox="1"/>
          <p:nvPr/>
        </p:nvSpPr>
        <p:spPr>
          <a:xfrm>
            <a:off x="548640" y="5440680"/>
            <a:ext cx="6035040" cy="365760"/>
          </a:xfrm>
          <a:prstGeom prst="rect">
            <a:avLst/>
          </a:prstGeom>
          <a:noFill/>
          <a:ln/>
        </p:spPr>
        <p:txBody>
          <a:bodyPr wrap="square" lIns="0" tIns="0" rIns="0" bIns="0" rtlCol="0" anchor="t"/>
          <a:lstStyle/>
          <a:p>
            <a:pPr indent="0" marL="0">
              <a:buNone/>
            </a:pPr>
            <a:r>
              <a:rPr lang="en-US" sz="1400" i="1" dirty="0">
                <a:solidFill>
                  <a:srgbClr val="4D4D4D"/>
                </a:solidFill>
              </a:rPr>
              <a:t>ISA-101: the HMI never writes PLC status.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happens when...?</a:t>
            </a:r>
            <a:endParaRPr lang="en-US" sz="3200" dirty="0"/>
          </a:p>
        </p:txBody>
      </p:sp>
      <p:sp>
        <p:nvSpPr>
          <p:cNvPr id="3" name="section tag"/>
          <p:cNvSpPr txBox="1"/>
          <p:nvPr/>
        </p:nvSpPr>
        <p:spPr>
          <a:xfrm>
            <a:off x="548640" y="164592"/>
            <a:ext cx="1261872" cy="274320"/>
          </a:xfrm>
          <a:prstGeom prst="rect">
            <a:avLst/>
          </a:prstGeom>
          <a:solidFill>
            <a:srgbClr val="3A3A3A"/>
          </a:solidFill>
          <a:ln w="12700">
            <a:solidFill>
              <a:srgbClr val="3A3A3A"/>
            </a:solidFill>
            <a:prstDash val="solid"/>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BEHAVIOUR</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657600"/>
                <a:gridCol w="7406640"/>
              </a:tblGrid>
              <a:tr h="457200">
                <a:tc>
                  <a:txBody>
                    <a:bodyPr/>
                    <a:lstStyle/>
                    <a:p>
                      <a:pPr indent="0" marL="0">
                        <a:buNone/>
                      </a:pPr>
                      <a:r>
                        <a:rPr lang="en-US" sz="1300" b="1" dirty="0">
                          <a:solidFill>
                            <a:srgbClr val="FFFFFF"/>
                          </a:solidFill>
                        </a:rPr>
                        <a:t>Situation</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c>
                  <a:txBody>
                    <a:bodyPr/>
                    <a:lstStyle/>
                    <a:p>
                      <a:pPr indent="0" marL="0">
                        <a:buNone/>
                      </a:pPr>
                      <a:r>
                        <a:rPr lang="en-US" sz="1300" b="1" dirty="0">
                          <a:solidFill>
                            <a:srgbClr val="FFFFFF"/>
                          </a:solidFill>
                        </a:rPr>
                        <a:t>What the operator sees</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3A3A3A"/>
                    </a:solidFill>
                  </a:tcPr>
                </a:tc>
              </a:tr>
              <a:tr h="457200">
                <a:tc>
                  <a:txBody>
                    <a:bodyPr/>
                    <a:lstStyle/>
                    <a:p>
                      <a:pPr indent="0" marL="0">
                        <a:buNone/>
                      </a:pPr>
                      <a:r>
                        <a:rPr lang="en-US" sz="1300" b="1" dirty="0">
                          <a:solidFill>
                            <a:srgbClr val="1F1F1F"/>
                          </a:solidFill>
                        </a:rPr>
                        <a:t>Comms lost / tag quality bad</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Safe defaults via coalesce(); bad quality in magenta; outline does not go red from bad data</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UDT member missing (older PLC)</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Treated as "not missing / not active"; template keeps working</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No alarms configured on the instance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Alarm lookup returns no alarm instead of an error</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Interlock trips while running in Manual</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Red I badge; start/open blocked; stop/close allowed from the symbol button</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Both limit switches made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FAULT: dark fill, red border, FAULT text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Feedback disabled</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Symbol follows the command; no false travel</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User below the needed role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Control not shown at all; gateway re-checks any write</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r h="457200">
                <a:tc>
                  <a:txBody>
                    <a:bodyPr/>
                    <a:lstStyle/>
                    <a:p>
                      <a:pPr indent="0" marL="0">
                        <a:buNone/>
                      </a:pPr>
                      <a:r>
                        <a:rPr lang="en-US" sz="1300" b="1" dirty="0">
                          <a:solidFill>
                            <a:srgbClr val="1F1F1F"/>
                          </a:solidFill>
                        </a:rPr>
                        <a:t>Bypass time runs out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rPr>
                        <a:t>Condition returns to normal enforcement; time left was shown per condition</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1F1F"/>
                          </a:solidFill>
                        </a:rPr>
                        <a:t>Screen at 1440p or 4K</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c>
                  <a:txBody>
                    <a:bodyPr/>
                    <a:lstStyle/>
                    <a:p>
                      <a:pPr indent="0" marL="0">
                        <a:buNone/>
                      </a:pPr>
                      <a:r>
                        <a:rPr lang="en-US" sz="1300" dirty="0">
                          <a:solidFill>
                            <a:srgbClr val="1F1F1F"/>
                          </a:solidFill>
                        </a:rPr>
                        <a:t>All sizes in vh: 1.33x or 2x, same layout</a:t>
                      </a:r>
                      <a:endParaRPr lang="en-US" sz="1300" dirty="0"/>
                    </a:p>
                  </a:txBody>
                  <a:tcPr marL="76200" marR="76200" marT="38100" marB="381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0F0F0"/>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E9E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4400" b="1" dirty="0">
                <a:solidFill>
                  <a:schemeClr val="bg1"/>
                </a:solidFill>
              </a:rPr>
              <a:t>Open items and next steps</a:t>
            </a:r>
            <a:endParaRPr lang="en-US" sz="4400" dirty="0"/>
          </a:p>
        </p:txBody>
      </p:sp>
      <p:sp>
        <p:nvSpPr>
          <p:cNvPr id="3" name="Text 0"/>
          <p:cNvSpPr/>
          <p:nvPr>
            <p:ph idx="101" type="body" hasCustomPrompt="1"/>
          </p:nvPr>
        </p:nvSpPr>
        <p:spPr>
          <a:xfrm>
            <a:off x="731520" y="3840480"/>
            <a:ext cx="10698480" cy="1097280"/>
          </a:xfrm>
          <a:prstGeom prst="rect">
            <a:avLst/>
          </a:prstGeom>
          <a:noFill/>
          <a:ln/>
        </p:spPr>
        <p:txBody>
          <a:bodyPr wrap="square" lIns="0" tIns="0" rIns="0" bIns="0" rtlCol="0" anchor="t"/>
          <a:lstStyle/>
          <a:p>
            <a:pPr indent="0" marL="0">
              <a:buNone/>
            </a:pPr>
            <a:r>
              <a:rPr lang="en-US" sz="2000" dirty="0">
                <a:solidFill>
                  <a:schemeClr val="bg2"/>
                </a:solidFill>
              </a:rPr>
              <a:t>Decisions and build gaps before release</a:t>
            </a:r>
            <a:endParaRPr lang="en-US" sz="2000" dirty="0"/>
          </a:p>
        </p:txBody>
      </p:sp>
      <p:sp>
        <p:nvSpPr>
          <p:cNvPr id="4" name="chip SYMBOLS"/>
          <p:cNvSpPr txBox="1"/>
          <p:nvPr/>
        </p:nvSpPr>
        <p:spPr>
          <a:xfrm>
            <a:off x="731520" y="4526280"/>
            <a:ext cx="1463040" cy="292608"/>
          </a:xfrm>
          <a:prstGeom prst="rect">
            <a:avLst/>
          </a:prstGeom>
          <a:solidFill>
            <a:srgbClr val="3A3A3A"/>
          </a:solidFill>
          <a:ln w="12700">
            <a:solidFill>
              <a:srgbClr val="FFFFFF"/>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SYMBOLS</a:t>
            </a:r>
            <a:endParaRPr lang="en-US" sz="1100" dirty="0"/>
          </a:p>
        </p:txBody>
      </p:sp>
      <p:sp>
        <p:nvSpPr>
          <p:cNvPr id="5" name="Text 3"/>
          <p:cNvSpPr txBox="1"/>
          <p:nvPr/>
        </p:nvSpPr>
        <p:spPr>
          <a:xfrm>
            <a:off x="731520" y="4937760"/>
            <a:ext cx="2560320" cy="14630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E6E6E6"/>
                </a:solidFill>
              </a:rPr>
              <a:t>2 px alarm outline on small valves?</a:t>
            </a:r>
            <a:endParaRPr lang="en-US" sz="1300" dirty="0"/>
          </a:p>
          <a:p>
            <a:pPr marL="152400" indent="-152400">
              <a:spcAft>
                <a:spcPts val="400"/>
              </a:spcAft>
              <a:buSzPct val="100000"/>
              <a:buChar char="•"/>
            </a:pPr>
            <a:r>
              <a:rPr lang="en-US" sz="1300" dirty="0">
                <a:solidFill>
                  <a:srgbClr val="E6E6E6"/>
                </a:solidFill>
              </a:rPr>
              <a:t>OPENING / CLOSING width</a:t>
            </a:r>
            <a:endParaRPr lang="en-US" sz="1300" dirty="0"/>
          </a:p>
          <a:p>
            <a:pPr marL="152400" indent="-152400">
              <a:spcAft>
                <a:spcPts val="400"/>
              </a:spcAft>
              <a:buSzPct val="100000"/>
              <a:buChar char="•"/>
            </a:pPr>
            <a:r>
              <a:rPr lang="en-US" sz="1300" dirty="0">
                <a:solidFill>
                  <a:srgbClr val="E6E6E6"/>
                </a:solidFill>
              </a:rPr>
              <a:t>Center status chip, or M + status?</a:t>
            </a:r>
            <a:endParaRPr lang="en-US" sz="1300" dirty="0"/>
          </a:p>
        </p:txBody>
      </p:sp>
      <p:sp>
        <p:nvSpPr>
          <p:cNvPr id="6" name="chip VALUES"/>
          <p:cNvSpPr txBox="1"/>
          <p:nvPr/>
        </p:nvSpPr>
        <p:spPr>
          <a:xfrm>
            <a:off x="3474720" y="4526280"/>
            <a:ext cx="1463040" cy="292608"/>
          </a:xfrm>
          <a:prstGeom prst="rect">
            <a:avLst/>
          </a:prstGeom>
          <a:solidFill>
            <a:srgbClr val="3A3A3A"/>
          </a:solidFill>
          <a:ln w="12700">
            <a:solidFill>
              <a:srgbClr val="FFFFFF"/>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VALUES</a:t>
            </a:r>
            <a:endParaRPr lang="en-US" sz="1100" dirty="0"/>
          </a:p>
        </p:txBody>
      </p:sp>
      <p:sp>
        <p:nvSpPr>
          <p:cNvPr id="7" name="Text 5"/>
          <p:cNvSpPr txBox="1"/>
          <p:nvPr/>
        </p:nvSpPr>
        <p:spPr>
          <a:xfrm>
            <a:off x="3474720" y="4937760"/>
            <a:ext cx="2560320" cy="14630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E6E6E6"/>
                </a:solidFill>
              </a:rPr>
              <a:t>PV faded level 0.25 -&gt; 0.4</a:t>
            </a:r>
            <a:endParaRPr lang="en-US" sz="1300" dirty="0"/>
          </a:p>
          <a:p>
            <a:pPr marL="152400" indent="-152400">
              <a:spcAft>
                <a:spcPts val="400"/>
              </a:spcAft>
              <a:buSzPct val="100000"/>
              <a:buChar char="•"/>
            </a:pPr>
            <a:r>
              <a:rPr lang="en-US" sz="1300" dirty="0">
                <a:solidFill>
                  <a:srgbClr val="E6E6E6"/>
                </a:solidFill>
              </a:rPr>
              <a:t>PV diagnostic gray -&gt; #6E6E6E</a:t>
            </a:r>
            <a:endParaRPr lang="en-US" sz="1300" dirty="0"/>
          </a:p>
          <a:p>
            <a:pPr marL="152400" indent="-152400">
              <a:spcAft>
                <a:spcPts val="400"/>
              </a:spcAft>
              <a:buSzPct val="100000"/>
              <a:buChar char="•"/>
            </a:pPr>
            <a:r>
              <a:rPr lang="en-US" sz="1300" dirty="0">
                <a:solidFill>
                  <a:srgbClr val="E6E6E6"/>
                </a:solidFill>
              </a:rPr>
              <a:t>HW_Fault alarm in the UDT</a:t>
            </a:r>
            <a:endParaRPr lang="en-US" sz="1300" dirty="0"/>
          </a:p>
          <a:p>
            <a:pPr marL="152400" indent="-152400">
              <a:spcAft>
                <a:spcPts val="400"/>
              </a:spcAft>
              <a:buSzPct val="100000"/>
              <a:buChar char="•"/>
            </a:pPr>
            <a:r>
              <a:rPr lang="en-US" sz="1300" dirty="0">
                <a:solidFill>
                  <a:srgbClr val="E6E6E6"/>
                </a:solidFill>
              </a:rPr>
              <a:t>Finalize T_KPI + FB_KPI</a:t>
            </a:r>
            <a:endParaRPr lang="en-US" sz="1300" dirty="0"/>
          </a:p>
        </p:txBody>
      </p:sp>
      <p:sp>
        <p:nvSpPr>
          <p:cNvPr id="8" name="chip WINDOWS"/>
          <p:cNvSpPr txBox="1"/>
          <p:nvPr/>
        </p:nvSpPr>
        <p:spPr>
          <a:xfrm>
            <a:off x="6217920" y="4526280"/>
            <a:ext cx="1463040" cy="292608"/>
          </a:xfrm>
          <a:prstGeom prst="rect">
            <a:avLst/>
          </a:prstGeom>
          <a:solidFill>
            <a:srgbClr val="3A3A3A"/>
          </a:solidFill>
          <a:ln w="12700">
            <a:solidFill>
              <a:srgbClr val="FFFFFF"/>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WINDOWS</a:t>
            </a:r>
            <a:endParaRPr lang="en-US" sz="1100" dirty="0"/>
          </a:p>
        </p:txBody>
      </p:sp>
      <p:sp>
        <p:nvSpPr>
          <p:cNvPr id="9" name="Text 7"/>
          <p:cNvSpPr txBox="1"/>
          <p:nvPr/>
        </p:nvSpPr>
        <p:spPr>
          <a:xfrm>
            <a:off x="6217920" y="4937760"/>
            <a:ext cx="2560320" cy="14630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E6E6E6"/>
                </a:solidFill>
              </a:rPr>
              <a:t>Bypass presets + Inp_BypassPerm</a:t>
            </a:r>
            <a:endParaRPr lang="en-US" sz="1300" dirty="0"/>
          </a:p>
          <a:p>
            <a:pPr marL="152400" indent="-152400">
              <a:spcAft>
                <a:spcPts val="400"/>
              </a:spcAft>
              <a:buSzPct val="100000"/>
              <a:buChar char="•"/>
            </a:pPr>
            <a:r>
              <a:rPr lang="en-US" sz="1300" dirty="0">
                <a:solidFill>
                  <a:srgbClr val="E6E6E6"/>
                </a:solidFill>
              </a:rPr>
              <a:t>One close/stop rule when interlocked</a:t>
            </a:r>
            <a:endParaRPr lang="en-US" sz="1300" dirty="0"/>
          </a:p>
          <a:p>
            <a:pPr marL="152400" indent="-152400">
              <a:spcAft>
                <a:spcPts val="400"/>
              </a:spcAft>
              <a:buSzPct val="100000"/>
              <a:buChar char="•"/>
            </a:pPr>
            <a:r>
              <a:rPr lang="en-US" sz="1300" dirty="0">
                <a:solidFill>
                  <a:srgbClr val="E6E6E6"/>
                </a:solidFill>
              </a:rPr>
              <a:t>Pause / live + last events</a:t>
            </a:r>
            <a:endParaRPr lang="en-US" sz="1300" dirty="0"/>
          </a:p>
        </p:txBody>
      </p:sp>
      <p:sp>
        <p:nvSpPr>
          <p:cNvPr id="10" name="chip ROLLOUT"/>
          <p:cNvSpPr txBox="1"/>
          <p:nvPr/>
        </p:nvSpPr>
        <p:spPr>
          <a:xfrm>
            <a:off x="8961120" y="4526280"/>
            <a:ext cx="1463040" cy="292608"/>
          </a:xfrm>
          <a:prstGeom prst="rect">
            <a:avLst/>
          </a:prstGeom>
          <a:solidFill>
            <a:srgbClr val="3A3A3A"/>
          </a:solidFill>
          <a:ln w="12700">
            <a:solidFill>
              <a:srgbClr val="FFFFFF"/>
            </a:solidFill>
            <a:prstDash val="solid"/>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ROLLOUT</a:t>
            </a:r>
            <a:endParaRPr lang="en-US" sz="1100" dirty="0"/>
          </a:p>
        </p:txBody>
      </p:sp>
      <p:sp>
        <p:nvSpPr>
          <p:cNvPr id="11" name="Text 9"/>
          <p:cNvSpPr txBox="1"/>
          <p:nvPr/>
        </p:nvSpPr>
        <p:spPr>
          <a:xfrm>
            <a:off x="8961120" y="4937760"/>
            <a:ext cx="2560320" cy="14630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E6E6E6"/>
                </a:solidFill>
              </a:rPr>
              <a:t>Gateway-test PV and loop cards</a:t>
            </a:r>
            <a:endParaRPr lang="en-US" sz="1300" dirty="0"/>
          </a:p>
          <a:p>
            <a:pPr marL="152400" indent="-152400">
              <a:spcAft>
                <a:spcPts val="400"/>
              </a:spcAft>
              <a:buSzPct val="100000"/>
              <a:buChar char="•"/>
            </a:pPr>
            <a:r>
              <a:rPr lang="en-US" sz="1300" dirty="0">
                <a:solidFill>
                  <a:srgbClr val="E6E6E6"/>
                </a:solidFill>
              </a:rPr>
              <a:t>Controls Standard edits in one batch</a:t>
            </a:r>
            <a:endParaRPr lang="en-US" sz="1300" dirty="0"/>
          </a:p>
          <a:p>
            <a:pPr marL="152400" indent="-152400">
              <a:spcAft>
                <a:spcPts val="400"/>
              </a:spcAft>
              <a:buSzPct val="100000"/>
              <a:buChar char="•"/>
            </a:pPr>
            <a:r>
              <a:rPr lang="en-US" sz="1300" dirty="0">
                <a:solidFill>
                  <a:srgbClr val="E6E6E6"/>
                </a:solidFill>
              </a:rPr>
              <a:t>Re-point HMI projects to EFC_Library</a:t>
            </a:r>
            <a:endParaRPr lang="en-US" sz="1300" dirty="0"/>
          </a:p>
        </p:txBody>
      </p:sp>
    </p:spTree>
  </p:cSld>
  <p:clrMapOvr>
    <a:masterClrMapping/>
  </p:clrMapOvr>
</p:sld>
</file>

<file path=ppt/theme/theme1.xml><?xml version="1.0" encoding="utf-8"?>
<a:theme xmlns:a="http://schemas.openxmlformats.org/drawingml/2006/main" name="EFC ISA-101">
  <a:themeElements>
    <a:clrScheme name="EFC ISA-101">
      <a:dk1>
        <a:srgbClr val="1F1F1F"/>
      </a:dk1>
      <a:lt1>
        <a:srgbClr val="FFFFFF"/>
      </a:lt1>
      <a:dk2>
        <a:srgbClr val="3A3A3A"/>
      </a:dk2>
      <a:lt2>
        <a:srgbClr val="E6E6E6"/>
      </a:lt2>
      <a:accent1>
        <a:srgbClr val="1F4E99"/>
      </a:accent1>
      <a:accent2>
        <a:srgbClr val="F08000"/>
      </a:accent2>
      <a:accent3>
        <a:srgbClr val="C00000"/>
      </a:accent3>
      <a:accent4>
        <a:srgbClr val="00A3E0"/>
      </a:accent4>
      <a:accent5>
        <a:srgbClr val="FFD200"/>
      </a:accent5>
      <a:accent6>
        <a:srgbClr val="9E9E9E"/>
      </a:accent6>
      <a:hlink>
        <a:srgbClr val="1F4E99"/>
      </a:hlink>
      <a:folHlink>
        <a:srgbClr val="4D4D4D"/>
      </a:folHlink>
    </a:clrScheme>
    <a:fontScheme name="EFC ISA-101">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EFC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EFCLib v1: Styles, Symbols, Templates and Dynamic Windows</dc:title>
  <dc:subject>PptxGenJS Presentation</dc:subject>
  <dc:creator>Adam Zinman</dc:creator>
  <cp:lastModifiedBy>Adam Zinman</cp:lastModifiedBy>
  <cp:revision>1</cp:revision>
  <dcterms:created xsi:type="dcterms:W3CDTF">2026-10-21T18:22:27Z</dcterms:created>
  <dcterms:modified xsi:type="dcterms:W3CDTF">2026-10-21T18:22:27Z</dcterms:modified>
</cp:coreProperties>
</file>